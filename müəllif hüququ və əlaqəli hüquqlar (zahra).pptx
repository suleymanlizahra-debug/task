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62" r:id="rId7"/>
    <p:sldId id="263" r:id="rId8"/>
    <p:sldId id="264" r:id="rId9"/>
    <p:sldId id="266" r:id="rId10"/>
    <p:sldId id="267" r:id="rId11"/>
    <p:sldId id="268" r:id="rId12"/>
    <p:sldId id="269" r:id="rId13"/>
    <p:sldId id="270"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84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16573" y="2971680"/>
            <a:ext cx="6633149" cy="3170184"/>
          </a:xfrm>
        </p:spPr>
        <p:txBody>
          <a:bodyPr>
            <a:normAutofit fontScale="70000" lnSpcReduction="20000"/>
          </a:bodyPr>
          <a:lstStyle/>
          <a:p>
            <a:endParaRPr lang="en-US" dirty="0"/>
          </a:p>
          <a:p>
            <a:endParaRPr lang="en-US" dirty="0"/>
          </a:p>
          <a:p>
            <a:r>
              <a:rPr lang="az-Latn-AZ" b="1" dirty="0">
                <a:latin typeface="Arial" panose="020B0604020202020204" pitchFamily="34" charset="0"/>
                <a:cs typeface="Arial" panose="020B0604020202020204" pitchFamily="34" charset="0"/>
              </a:rPr>
              <a:t>Tələbə</a:t>
            </a:r>
            <a:r>
              <a:rPr lang="az-Latn-AZ" dirty="0">
                <a:latin typeface="Arial" panose="020B0604020202020204" pitchFamily="34" charset="0"/>
                <a:cs typeface="Arial" panose="020B0604020202020204" pitchFamily="34" charset="0"/>
              </a:rPr>
              <a:t>: Süleymanlı Zəhr</a:t>
            </a:r>
            <a:r>
              <a:rPr lang="en-US" dirty="0">
                <a:latin typeface="Arial" panose="020B0604020202020204" pitchFamily="34" charset="0"/>
                <a:cs typeface="Arial" panose="020B0604020202020204" pitchFamily="34" charset="0"/>
              </a:rPr>
              <a:t>a</a:t>
            </a:r>
          </a:p>
          <a:p>
            <a:r>
              <a:rPr lang="en-US" b="1" dirty="0">
                <a:latin typeface="Arial" panose="020B0604020202020204" pitchFamily="34" charset="0"/>
                <a:cs typeface="Arial" panose="020B0604020202020204" pitchFamily="34" charset="0"/>
              </a:rPr>
              <a:t>F</a:t>
            </a:r>
            <a:r>
              <a:rPr lang="az-Latn-AZ" b="1" dirty="0">
                <a:latin typeface="Arial" panose="020B0604020202020204" pitchFamily="34" charset="0"/>
                <a:cs typeface="Arial" panose="020B0604020202020204" pitchFamily="34" charset="0"/>
              </a:rPr>
              <a:t>akültə</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Mexanika</a:t>
            </a:r>
            <a:r>
              <a:rPr lang="en-US" dirty="0">
                <a:latin typeface="Arial" panose="020B0604020202020204" pitchFamily="34" charset="0"/>
                <a:cs typeface="Arial" panose="020B0604020202020204" pitchFamily="34" charset="0"/>
              </a:rPr>
              <a:t> v</a:t>
            </a:r>
            <a:r>
              <a:rPr lang="az-Latn-AZ" dirty="0">
                <a:latin typeface="Arial" panose="020B0604020202020204" pitchFamily="34" charset="0"/>
                <a:cs typeface="Arial" panose="020B0604020202020204" pitchFamily="34" charset="0"/>
              </a:rPr>
              <a:t>ə informasiya texnologiyaları (MİT)</a:t>
            </a:r>
          </a:p>
          <a:p>
            <a:r>
              <a:rPr lang="az-Latn-AZ" b="1" dirty="0">
                <a:latin typeface="Arial" panose="020B0604020202020204" pitchFamily="34" charset="0"/>
                <a:cs typeface="Arial" panose="020B0604020202020204" pitchFamily="34" charset="0"/>
              </a:rPr>
              <a:t>İxtisas</a:t>
            </a:r>
            <a:r>
              <a:rPr lang="en-US" dirty="0">
                <a:latin typeface="Arial" panose="020B0604020202020204" pitchFamily="34" charset="0"/>
                <a:cs typeface="Arial" panose="020B0604020202020204" pitchFamily="34" charset="0"/>
              </a:rPr>
              <a:t>:</a:t>
            </a:r>
            <a:r>
              <a:rPr lang="az-Latn-AZ" dirty="0">
                <a:latin typeface="Arial" panose="020B0604020202020204" pitchFamily="34" charset="0"/>
                <a:cs typeface="Arial" panose="020B0604020202020204" pitchFamily="34" charset="0"/>
              </a:rPr>
              <a:t> İnformasiya texnologiyaları</a:t>
            </a:r>
          </a:p>
          <a:p>
            <a:r>
              <a:rPr lang="az-Latn-AZ" b="1" dirty="0">
                <a:latin typeface="Arial" panose="020B0604020202020204" pitchFamily="34" charset="0"/>
                <a:cs typeface="Arial" panose="020B0604020202020204" pitchFamily="34" charset="0"/>
              </a:rPr>
              <a:t>Grup</a:t>
            </a:r>
            <a:r>
              <a:rPr lang="en-US" dirty="0">
                <a:latin typeface="Arial" panose="020B0604020202020204" pitchFamily="34" charset="0"/>
                <a:cs typeface="Arial" panose="020B0604020202020204" pitchFamily="34" charset="0"/>
              </a:rPr>
              <a:t>:</a:t>
            </a:r>
            <a:r>
              <a:rPr lang="az-Latn-AZ" dirty="0">
                <a:latin typeface="Arial" panose="020B0604020202020204" pitchFamily="34" charset="0"/>
                <a:cs typeface="Arial" panose="020B0604020202020204" pitchFamily="34" charset="0"/>
              </a:rPr>
              <a:t> 845a2</a:t>
            </a: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F</a:t>
            </a:r>
            <a:r>
              <a:rPr lang="az-Latn-AZ" b="1" dirty="0">
                <a:latin typeface="Arial" panose="020B0604020202020204" pitchFamily="34" charset="0"/>
                <a:cs typeface="Arial" panose="020B0604020202020204" pitchFamily="34" charset="0"/>
              </a:rPr>
              <a:t>ənn</a:t>
            </a:r>
            <a:r>
              <a:rPr lang="en-US" b="1" dirty="0">
                <a:latin typeface="Arial" panose="020B0604020202020204" pitchFamily="34" charset="0"/>
                <a:cs typeface="Arial" panose="020B0604020202020204" pitchFamily="34" charset="0"/>
              </a:rPr>
              <a:t>: </a:t>
            </a:r>
            <a:r>
              <a:rPr lang="az-Latn-AZ" dirty="0">
                <a:latin typeface="Arial" panose="020B0604020202020204" pitchFamily="34" charset="0"/>
                <a:cs typeface="Arial" panose="020B0604020202020204" pitchFamily="34" charset="0"/>
              </a:rPr>
              <a:t>Əqli mülkiyyətin əsasları</a:t>
            </a:r>
          </a:p>
          <a:p>
            <a:r>
              <a:rPr lang="az-Latn-AZ" b="1" dirty="0">
                <a:latin typeface="Arial" panose="020B0604020202020204" pitchFamily="34" charset="0"/>
                <a:cs typeface="Arial" panose="020B0604020202020204" pitchFamily="34" charset="0"/>
              </a:rPr>
              <a:t>İxtisas müəlliməsi</a:t>
            </a:r>
            <a:r>
              <a:rPr lang="az-Latn-AZ" dirty="0">
                <a:latin typeface="Arial" panose="020B0604020202020204" pitchFamily="34" charset="0"/>
                <a:cs typeface="Arial" panose="020B0604020202020204" pitchFamily="34" charset="0"/>
              </a:rPr>
              <a:t>: Qeribova İnci</a:t>
            </a:r>
            <a:endParaRPr dirty="0">
              <a:latin typeface="Arial" panose="020B0604020202020204" pitchFamily="34" charset="0"/>
              <a:cs typeface="Arial" panose="020B0604020202020204" pitchFamily="34" charset="0"/>
            </a:endParaRPr>
          </a:p>
        </p:txBody>
      </p:sp>
      <p:pic>
        <p:nvPicPr>
          <p:cNvPr id="2052" name="Picture 4" descr="Azərbaycan Memarlıq və İnşaat Universiteti | Baku">
            <a:extLst>
              <a:ext uri="{FF2B5EF4-FFF2-40B4-BE49-F238E27FC236}">
                <a16:creationId xmlns:a16="http://schemas.microsoft.com/office/drawing/2014/main" id="{94BD9A0F-ECB6-685B-F33C-548A8E978D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994" b="22581"/>
          <a:stretch>
            <a:fillRect/>
          </a:stretch>
        </p:blipFill>
        <p:spPr bwMode="auto">
          <a:xfrm>
            <a:off x="442443" y="103678"/>
            <a:ext cx="3410028" cy="317018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650A2347-ACC8-5C49-68F9-2A1BE508EEEA}"/>
              </a:ext>
            </a:extLst>
          </p:cNvPr>
          <p:cNvSpPr>
            <a:spLocks noGrp="1"/>
          </p:cNvSpPr>
          <p:nvPr>
            <p:ph type="ctrTitle"/>
          </p:nvPr>
        </p:nvSpPr>
        <p:spPr>
          <a:xfrm>
            <a:off x="3522688" y="551244"/>
            <a:ext cx="5268808" cy="2281897"/>
          </a:xfrm>
        </p:spPr>
        <p:txBody>
          <a:bodyPr>
            <a:normAutofit/>
          </a:bodyPr>
          <a:lstStyle/>
          <a:p>
            <a:r>
              <a:rPr lang="en-US" sz="3200" b="1" dirty="0">
                <a:latin typeface="Vladimir Script" panose="03050402040407070305" pitchFamily="66" charset="0"/>
              </a:rPr>
              <a:t>Title</a:t>
            </a:r>
            <a:r>
              <a:rPr lang="en-US" sz="3200" dirty="0">
                <a:latin typeface="Vladimir Script" panose="03050402040407070305" pitchFamily="66" charset="0"/>
              </a:rPr>
              <a:t>: </a:t>
            </a:r>
            <a:r>
              <a:rPr lang="en-US" sz="2800" dirty="0">
                <a:solidFill>
                  <a:schemeClr val="tx2">
                    <a:lumMod val="75000"/>
                  </a:schemeClr>
                </a:solidFill>
                <a:latin typeface="Bell MT" panose="02020503060305020303" pitchFamily="18" charset="0"/>
              </a:rPr>
              <a:t>M</a:t>
            </a:r>
            <a:r>
              <a:rPr lang="az-Latn-AZ" sz="2800" dirty="0">
                <a:solidFill>
                  <a:schemeClr val="tx2">
                    <a:lumMod val="75000"/>
                  </a:schemeClr>
                </a:solidFill>
                <a:latin typeface="Bell MT" panose="02020503060305020303" pitchFamily="18" charset="0"/>
              </a:rPr>
              <a:t>üəlliflik hüququ və əlaqəli hüquqların qarşılıqlı əlaqəsi</a:t>
            </a:r>
            <a:endParaRPr lang="en-US" sz="2800" dirty="0">
              <a:solidFill>
                <a:schemeClr val="tx2">
                  <a:lumMod val="75000"/>
                </a:schemeClr>
              </a:solidFill>
              <a:latin typeface="Bell MT" panose="020205030603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5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err="1">
                <a:latin typeface="Arial Black" panose="020B0A04020102020204" pitchFamily="34" charset="0"/>
              </a:rPr>
              <a:t>Giriş</a:t>
            </a:r>
            <a:endParaRPr b="1" dirty="0">
              <a:latin typeface="Arial Black" panose="020B0A04020102020204" pitchFamily="34" charset="0"/>
            </a:endParaRPr>
          </a:p>
        </p:txBody>
      </p:sp>
      <p:sp>
        <p:nvSpPr>
          <p:cNvPr id="3" name="Content Placeholder 2"/>
          <p:cNvSpPr>
            <a:spLocks noGrp="1"/>
          </p:cNvSpPr>
          <p:nvPr>
            <p:ph idx="1"/>
          </p:nvPr>
        </p:nvSpPr>
        <p:spPr>
          <a:xfrm>
            <a:off x="457200" y="1417638"/>
            <a:ext cx="8342026" cy="4933973"/>
          </a:xfrm>
        </p:spPr>
        <p:txBody>
          <a:bodyPr>
            <a:normAutofit/>
          </a:bodyPr>
          <a:lstStyle/>
          <a:p>
            <a:pPr>
              <a:defRPr sz="2000"/>
            </a:pPr>
            <a:r>
              <a:rPr sz="2000" dirty="0" err="1"/>
              <a:t>Müasir</a:t>
            </a:r>
            <a:r>
              <a:rPr sz="2000" dirty="0"/>
              <a:t> </a:t>
            </a:r>
            <a:r>
              <a:rPr sz="2000" dirty="0" err="1"/>
              <a:t>dövrdə</a:t>
            </a:r>
            <a:r>
              <a:rPr sz="2000" dirty="0"/>
              <a:t> </a:t>
            </a:r>
            <a:r>
              <a:rPr sz="2000" dirty="0" err="1"/>
              <a:t>informasiya</a:t>
            </a:r>
            <a:r>
              <a:rPr sz="2000" dirty="0"/>
              <a:t> </a:t>
            </a:r>
            <a:r>
              <a:rPr sz="2000" dirty="0" err="1"/>
              <a:t>cəmiyyətinin</a:t>
            </a:r>
            <a:r>
              <a:rPr sz="2000" dirty="0"/>
              <a:t> </a:t>
            </a:r>
            <a:r>
              <a:rPr sz="2000" dirty="0" err="1"/>
              <a:t>formalaşması</a:t>
            </a:r>
            <a:r>
              <a:rPr lang="az-Latn-AZ" sz="2000" dirty="0"/>
              <a:t> </a:t>
            </a:r>
            <a:r>
              <a:rPr sz="2000" dirty="0" err="1"/>
              <a:t>müəllif</a:t>
            </a:r>
            <a:r>
              <a:rPr sz="2000" dirty="0"/>
              <a:t> </a:t>
            </a:r>
            <a:r>
              <a:rPr sz="2000" dirty="0" err="1"/>
              <a:t>hüquqlarının</a:t>
            </a:r>
            <a:endParaRPr lang="az-Latn-AZ" sz="2000" dirty="0"/>
          </a:p>
          <a:p>
            <a:pPr marL="0" indent="0">
              <a:buNone/>
              <a:defRPr sz="2000"/>
            </a:pPr>
            <a:r>
              <a:rPr sz="2000" dirty="0" err="1"/>
              <a:t>və</a:t>
            </a:r>
            <a:r>
              <a:rPr sz="2000" dirty="0"/>
              <a:t> </a:t>
            </a:r>
            <a:r>
              <a:rPr sz="2000" dirty="0" err="1"/>
              <a:t>əlaqəli</a:t>
            </a:r>
            <a:r>
              <a:rPr sz="2000" dirty="0"/>
              <a:t> </a:t>
            </a:r>
            <a:r>
              <a:rPr sz="2000" dirty="0" err="1"/>
              <a:t>hüquqların</a:t>
            </a:r>
            <a:r>
              <a:rPr sz="2000" dirty="0"/>
              <a:t> </a:t>
            </a:r>
            <a:r>
              <a:rPr sz="2000" dirty="0" err="1"/>
              <a:t>əhəmiyyətini</a:t>
            </a:r>
            <a:r>
              <a:rPr lang="az-Latn-AZ" sz="2000" dirty="0"/>
              <a:t> </a:t>
            </a:r>
            <a:r>
              <a:rPr sz="2000" dirty="0" err="1"/>
              <a:t>artırmışdır</a:t>
            </a:r>
            <a:r>
              <a:rPr sz="2000" dirty="0"/>
              <a:t>. Bu </a:t>
            </a:r>
            <a:r>
              <a:rPr sz="2000" dirty="0" err="1"/>
              <a:t>hüquqlar</a:t>
            </a:r>
            <a:r>
              <a:rPr sz="2000" dirty="0"/>
              <a:t> </a:t>
            </a:r>
            <a:r>
              <a:rPr sz="2000" dirty="0" err="1"/>
              <a:t>yaradıcı</a:t>
            </a:r>
            <a:endParaRPr lang="az-Latn-AZ" sz="2000" dirty="0"/>
          </a:p>
          <a:p>
            <a:pPr marL="0" indent="0">
              <a:buNone/>
              <a:defRPr sz="2000"/>
            </a:pPr>
            <a:r>
              <a:rPr sz="2000" dirty="0" err="1"/>
              <a:t>fəaliyyətin</a:t>
            </a:r>
            <a:r>
              <a:rPr lang="az-Latn-AZ" sz="2000" dirty="0"/>
              <a:t> </a:t>
            </a:r>
            <a:r>
              <a:rPr sz="2000" dirty="0" err="1"/>
              <a:t>qorunmasını</a:t>
            </a:r>
            <a:r>
              <a:rPr lang="az-Latn-AZ" sz="2000" dirty="0"/>
              <a:t> </a:t>
            </a:r>
            <a:r>
              <a:rPr sz="2000" dirty="0" err="1"/>
              <a:t>təmin</a:t>
            </a:r>
            <a:r>
              <a:rPr sz="2000" dirty="0"/>
              <a:t> </a:t>
            </a:r>
            <a:r>
              <a:rPr sz="2000" dirty="0" err="1"/>
              <a:t>edir</a:t>
            </a:r>
            <a:r>
              <a:rPr sz="2000" dirty="0"/>
              <a:t>.</a:t>
            </a:r>
            <a:r>
              <a:rPr lang="az-Latn-AZ" sz="2000" dirty="0"/>
              <a:t> Bu Qanun Azərbaycan</a:t>
            </a:r>
          </a:p>
          <a:p>
            <a:pPr marL="0" indent="0">
              <a:buNone/>
              <a:defRPr sz="2000"/>
            </a:pPr>
            <a:r>
              <a:rPr lang="az-Latn-AZ" sz="2000" dirty="0"/>
              <a:t>Respublikası ərazisində elm, ədəbiyyat və incəsənət əsərlərinin </a:t>
            </a:r>
          </a:p>
          <a:p>
            <a:pPr marL="0" indent="0">
              <a:buNone/>
              <a:defRPr sz="2000"/>
            </a:pPr>
            <a:r>
              <a:rPr lang="az-Latn-AZ" sz="2000" dirty="0"/>
              <a:t>(müəlliflik hüququ),habelə ifaların, </a:t>
            </a:r>
          </a:p>
          <a:p>
            <a:pPr marL="0" indent="0">
              <a:buNone/>
              <a:defRPr sz="2000"/>
            </a:pPr>
            <a:r>
              <a:rPr lang="az-Latn-AZ" sz="2000" dirty="0"/>
              <a:t>fonoqramların,</a:t>
            </a:r>
          </a:p>
          <a:p>
            <a:pPr marL="0" indent="0">
              <a:buNone/>
              <a:defRPr sz="2000"/>
            </a:pPr>
            <a:r>
              <a:rPr lang="az-Latn-AZ" sz="2000" dirty="0"/>
              <a:t>efir və ya kabel yayımı </a:t>
            </a:r>
          </a:p>
          <a:p>
            <a:pPr marL="0" indent="0">
              <a:buNone/>
              <a:defRPr sz="2000"/>
            </a:pPr>
            <a:r>
              <a:rPr lang="az-Latn-AZ" sz="2000" dirty="0"/>
              <a:t>təşkilatlarının verilişlərinin</a:t>
            </a:r>
          </a:p>
          <a:p>
            <a:pPr marL="0" indent="0">
              <a:buNone/>
              <a:defRPr sz="2000"/>
            </a:pPr>
            <a:r>
              <a:rPr lang="az-Latn-AZ" sz="2000" dirty="0"/>
              <a:t>(əlaqəli hüquqlar) </a:t>
            </a:r>
          </a:p>
          <a:p>
            <a:pPr marL="0" indent="0">
              <a:buNone/>
              <a:defRPr sz="2000"/>
            </a:pPr>
            <a:r>
              <a:rPr lang="az-Latn-AZ" sz="2000" dirty="0"/>
              <a:t>yaradılması və istifadəsi ilə</a:t>
            </a:r>
          </a:p>
          <a:p>
            <a:pPr marL="0" indent="0">
              <a:buNone/>
              <a:defRPr sz="2000"/>
            </a:pPr>
            <a:r>
              <a:rPr lang="az-Latn-AZ" sz="2000" dirty="0"/>
              <a:t>əlaqədar yaranan </a:t>
            </a:r>
          </a:p>
          <a:p>
            <a:pPr marL="0" indent="0">
              <a:buNone/>
              <a:defRPr sz="2000"/>
            </a:pPr>
            <a:r>
              <a:rPr lang="az-Latn-AZ" sz="2000" dirty="0"/>
              <a:t>münasibətləri tənzimləyir.</a:t>
            </a:r>
            <a:endParaRPr sz="2000" dirty="0"/>
          </a:p>
        </p:txBody>
      </p:sp>
      <p:pic>
        <p:nvPicPr>
          <p:cNvPr id="3076" name="Picture 4" descr="Mualliflik huquqini himoya qilishga doir yangi qonun loyihasi muhokamaga  qo'yildi">
            <a:extLst>
              <a:ext uri="{FF2B5EF4-FFF2-40B4-BE49-F238E27FC236}">
                <a16:creationId xmlns:a16="http://schemas.microsoft.com/office/drawing/2014/main" id="{6DA470AA-8299-159D-B065-03588F012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8366" y="3084229"/>
            <a:ext cx="4367388" cy="27296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err="1"/>
              <a:t>Müəllif</a:t>
            </a:r>
            <a:r>
              <a:rPr sz="3600" b="1" dirty="0"/>
              <a:t> </a:t>
            </a:r>
            <a:r>
              <a:rPr sz="3600" b="1" dirty="0" err="1"/>
              <a:t>hüququnun</a:t>
            </a:r>
            <a:r>
              <a:rPr sz="3600" b="1" dirty="0"/>
              <a:t> </a:t>
            </a:r>
            <a:r>
              <a:rPr sz="3600" b="1" dirty="0" err="1"/>
              <a:t>məqsədi</a:t>
            </a:r>
            <a:r>
              <a:rPr sz="3600" b="1" dirty="0"/>
              <a:t> </a:t>
            </a:r>
            <a:r>
              <a:rPr sz="3600" b="1" dirty="0" err="1"/>
              <a:t>və</a:t>
            </a:r>
            <a:r>
              <a:rPr sz="3600" b="1" dirty="0"/>
              <a:t> </a:t>
            </a:r>
            <a:r>
              <a:rPr sz="3600" b="1" dirty="0" err="1"/>
              <a:t>prinsipləri</a:t>
            </a:r>
            <a:endParaRPr sz="3600" b="1" dirty="0"/>
          </a:p>
        </p:txBody>
      </p:sp>
      <p:sp>
        <p:nvSpPr>
          <p:cNvPr id="3" name="Content Placeholder 2"/>
          <p:cNvSpPr>
            <a:spLocks noGrp="1"/>
          </p:cNvSpPr>
          <p:nvPr>
            <p:ph idx="1"/>
          </p:nvPr>
        </p:nvSpPr>
        <p:spPr>
          <a:xfrm>
            <a:off x="457200" y="1417638"/>
            <a:ext cx="8229600" cy="5165724"/>
          </a:xfrm>
        </p:spPr>
        <p:txBody>
          <a:bodyPr>
            <a:normAutofit/>
          </a:bodyPr>
          <a:lstStyle/>
          <a:p>
            <a:pPr>
              <a:defRPr sz="2000"/>
            </a:pPr>
            <a:r>
              <a:rPr b="1" dirty="0" err="1">
                <a:solidFill>
                  <a:schemeClr val="accent2">
                    <a:lumMod val="75000"/>
                  </a:schemeClr>
                </a:solidFill>
              </a:rPr>
              <a:t>Əsas</a:t>
            </a:r>
            <a:r>
              <a:rPr b="1" dirty="0">
                <a:solidFill>
                  <a:schemeClr val="accent2">
                    <a:lumMod val="75000"/>
                  </a:schemeClr>
                </a:solidFill>
              </a:rPr>
              <a:t> </a:t>
            </a:r>
            <a:r>
              <a:rPr b="1" dirty="0" err="1">
                <a:solidFill>
                  <a:schemeClr val="accent2">
                    <a:lumMod val="75000"/>
                  </a:schemeClr>
                </a:solidFill>
              </a:rPr>
              <a:t>məqsəd</a:t>
            </a:r>
            <a:r>
              <a:rPr b="1" dirty="0">
                <a:solidFill>
                  <a:schemeClr val="accent2">
                    <a:lumMod val="75000"/>
                  </a:schemeClr>
                </a:solidFill>
              </a:rPr>
              <a:t> </a:t>
            </a:r>
            <a:r>
              <a:rPr dirty="0"/>
              <a:t>– </a:t>
            </a:r>
            <a:r>
              <a:rPr dirty="0" err="1"/>
              <a:t>müəlliflərin</a:t>
            </a:r>
            <a:r>
              <a:rPr dirty="0"/>
              <a:t> </a:t>
            </a:r>
            <a:r>
              <a:rPr dirty="0" err="1"/>
              <a:t>intellektual</a:t>
            </a:r>
            <a:r>
              <a:rPr dirty="0"/>
              <a:t> </a:t>
            </a:r>
            <a:r>
              <a:rPr dirty="0" err="1"/>
              <a:t>fəaliyyətinin</a:t>
            </a:r>
            <a:r>
              <a:rPr dirty="0"/>
              <a:t> </a:t>
            </a:r>
            <a:r>
              <a:rPr dirty="0" err="1"/>
              <a:t>nəticələrinin</a:t>
            </a:r>
            <a:r>
              <a:rPr dirty="0"/>
              <a:t> </a:t>
            </a:r>
            <a:r>
              <a:rPr dirty="0" err="1"/>
              <a:t>qorunması</a:t>
            </a:r>
            <a:r>
              <a:rPr dirty="0"/>
              <a:t>, </a:t>
            </a:r>
            <a:r>
              <a:rPr dirty="0" err="1"/>
              <a:t>yaradıcı</a:t>
            </a:r>
            <a:r>
              <a:rPr dirty="0"/>
              <a:t> </a:t>
            </a:r>
            <a:r>
              <a:rPr dirty="0" err="1"/>
              <a:t>təşəbbüsün</a:t>
            </a:r>
            <a:r>
              <a:rPr dirty="0"/>
              <a:t> </a:t>
            </a:r>
            <a:r>
              <a:rPr dirty="0" err="1"/>
              <a:t>stimullaşdırılması</a:t>
            </a:r>
            <a:r>
              <a:rPr dirty="0"/>
              <a:t> </a:t>
            </a:r>
            <a:r>
              <a:rPr dirty="0" err="1"/>
              <a:t>və</a:t>
            </a:r>
            <a:r>
              <a:rPr dirty="0"/>
              <a:t> </a:t>
            </a:r>
            <a:r>
              <a:rPr dirty="0" err="1"/>
              <a:t>mədəni</a:t>
            </a:r>
            <a:r>
              <a:rPr dirty="0"/>
              <a:t> </a:t>
            </a:r>
            <a:r>
              <a:rPr dirty="0" err="1"/>
              <a:t>inkişafın</a:t>
            </a:r>
            <a:r>
              <a:rPr dirty="0"/>
              <a:t> </a:t>
            </a:r>
            <a:r>
              <a:rPr dirty="0" err="1"/>
              <a:t>dəstəklənməsidir</a:t>
            </a:r>
            <a:r>
              <a:rPr dirty="0"/>
              <a:t>.</a:t>
            </a:r>
            <a:endParaRPr lang="az-Latn-AZ" dirty="0"/>
          </a:p>
          <a:p>
            <a:pPr>
              <a:defRPr sz="2000"/>
            </a:pPr>
            <a:r>
              <a:rPr lang="az-Latn-AZ" sz="2400" b="1" i="1" dirty="0">
                <a:solidFill>
                  <a:schemeClr val="bg1">
                    <a:lumMod val="50000"/>
                  </a:schemeClr>
                </a:solidFill>
              </a:rPr>
              <a:t>Bu qanunda istifadə olunan əsas anlayışlar bunlardır</a:t>
            </a:r>
            <a:r>
              <a:rPr lang="az-Latn-AZ" sz="2400" i="1" dirty="0">
                <a:solidFill>
                  <a:schemeClr val="bg1">
                    <a:lumMod val="50000"/>
                  </a:schemeClr>
                </a:solidFill>
              </a:rPr>
              <a:t>:</a:t>
            </a:r>
          </a:p>
          <a:p>
            <a:pPr marL="0" indent="0">
              <a:buNone/>
              <a:defRPr sz="2000"/>
            </a:pPr>
            <a:r>
              <a:rPr lang="az-Latn-AZ" sz="2000" dirty="0"/>
              <a:t>“</a:t>
            </a:r>
            <a:r>
              <a:rPr lang="az-Latn-AZ" sz="2000" b="1" dirty="0"/>
              <a:t>müəllif</a:t>
            </a:r>
            <a:r>
              <a:rPr lang="az-Latn-AZ" sz="2000" dirty="0"/>
              <a:t>” – əsərin yaradıcısı olan fiziki şəxs</a:t>
            </a:r>
          </a:p>
          <a:p>
            <a:pPr marL="0" indent="0">
              <a:buNone/>
              <a:defRPr sz="2000"/>
            </a:pPr>
            <a:r>
              <a:rPr lang="az-Latn-AZ" sz="2000" b="1" dirty="0"/>
              <a:t>“məlumat bazası</a:t>
            </a:r>
            <a:r>
              <a:rPr lang="az-Latn-AZ" sz="2000" dirty="0"/>
              <a:t>” – materialların seçilməsinə,düzümünə görə yaradıcı əməyin məhsulu olan və kompüterin (HEM-in) köməyi ilə tapıla, işlənə biləcək şəkildə sistemləşdirilmiş</a:t>
            </a:r>
          </a:p>
          <a:p>
            <a:pPr marL="0" indent="0">
              <a:buNone/>
              <a:defRPr sz="2000"/>
            </a:pPr>
            <a:r>
              <a:rPr lang="az-Latn-AZ" sz="2000" dirty="0"/>
              <a:t>məlumatların məcmusu</a:t>
            </a:r>
          </a:p>
          <a:p>
            <a:pPr marL="0" indent="0">
              <a:buNone/>
              <a:defRPr sz="2000"/>
            </a:pPr>
            <a:r>
              <a:rPr lang="en-US" sz="2000" b="1" dirty="0"/>
              <a:t>“</a:t>
            </a:r>
            <a:r>
              <a:rPr lang="en-US" sz="2000" b="1" dirty="0" err="1"/>
              <a:t>plagiat</a:t>
            </a:r>
            <a:r>
              <a:rPr lang="az-Latn-AZ" sz="2000" b="1" dirty="0"/>
              <a:t>çılıq</a:t>
            </a:r>
            <a:r>
              <a:rPr lang="en-US" sz="2000" b="1" dirty="0"/>
              <a:t>”</a:t>
            </a:r>
            <a:r>
              <a:rPr lang="az-Latn-AZ" sz="2000" b="1" dirty="0"/>
              <a:t>  </a:t>
            </a:r>
            <a:r>
              <a:rPr lang="az-Latn-AZ" sz="2000" dirty="0"/>
              <a:t>–  əsərin başqa şəxsin adı altında tam və ya qismən açıqlanması, yəni başqasını elmi, ədəbi, bədii əsərini öz adı ilə nəşr edilməsi, müəllifi və mənbəyi göstərilmədən əsəri və ya kiçik bir hissəsini köçürməklə yeradılması</a:t>
            </a:r>
          </a:p>
          <a:p>
            <a:pPr marL="0" indent="0">
              <a:buNone/>
              <a:defRPr sz="2000"/>
            </a:pPr>
            <a:r>
              <a:rPr lang="az-Latn-AZ" sz="2000" dirty="0"/>
              <a:t>“</a:t>
            </a:r>
            <a:r>
              <a:rPr lang="az-Latn-AZ" sz="2000" b="1" dirty="0"/>
              <a:t>fonoqram</a:t>
            </a:r>
            <a:r>
              <a:rPr lang="az-Latn-AZ" sz="2000" dirty="0"/>
              <a:t>” – ifaların və ya digər səslərin müstəsna olaraq səsli yazılması;</a:t>
            </a:r>
          </a:p>
          <a:p>
            <a:pPr marL="0" indent="0">
              <a:buNone/>
              <a:defRPr sz="2000"/>
            </a:pPr>
            <a:endParaRPr lang="az-Latn-AZ"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32301"/>
            <a:ext cx="8229600" cy="1143000"/>
          </a:xfrm>
        </p:spPr>
        <p:txBody>
          <a:bodyPr>
            <a:normAutofit/>
          </a:bodyPr>
          <a:lstStyle/>
          <a:p>
            <a:r>
              <a:rPr sz="3600" i="1" dirty="0" err="1">
                <a:latin typeface="Lucida Calligraphy" panose="03010101010101010101" pitchFamily="66" charset="0"/>
              </a:rPr>
              <a:t>Müəllif</a:t>
            </a:r>
            <a:r>
              <a:rPr sz="3600" i="1" dirty="0">
                <a:latin typeface="Lucida Calligraphy" panose="03010101010101010101" pitchFamily="66" charset="0"/>
              </a:rPr>
              <a:t> </a:t>
            </a:r>
            <a:r>
              <a:rPr sz="3600" i="1" dirty="0" err="1">
                <a:latin typeface="Lucida Calligraphy" panose="03010101010101010101" pitchFamily="66" charset="0"/>
              </a:rPr>
              <a:t>hüququnun</a:t>
            </a:r>
            <a:r>
              <a:rPr sz="3600" i="1" dirty="0">
                <a:latin typeface="Lucida Calligraphy" panose="03010101010101010101" pitchFamily="66" charset="0"/>
              </a:rPr>
              <a:t> </a:t>
            </a:r>
            <a:r>
              <a:rPr lang="az-Latn-AZ" sz="3600" i="1" dirty="0">
                <a:latin typeface="Lucida Calligraphy" panose="03010101010101010101" pitchFamily="66" charset="0"/>
              </a:rPr>
              <a:t>subyektləri </a:t>
            </a:r>
            <a:endParaRPr sz="3600" i="1" dirty="0">
              <a:latin typeface="Lucida Calligraphy" panose="03010101010101010101" pitchFamily="66" charset="0"/>
            </a:endParaRPr>
          </a:p>
        </p:txBody>
      </p:sp>
      <p:sp>
        <p:nvSpPr>
          <p:cNvPr id="3" name="Content Placeholder 2"/>
          <p:cNvSpPr>
            <a:spLocks noGrp="1"/>
          </p:cNvSpPr>
          <p:nvPr>
            <p:ph idx="1"/>
          </p:nvPr>
        </p:nvSpPr>
        <p:spPr>
          <a:xfrm>
            <a:off x="362309" y="1069674"/>
            <a:ext cx="8229600" cy="7884542"/>
          </a:xfrm>
        </p:spPr>
        <p:txBody>
          <a:bodyPr/>
          <a:lstStyle/>
          <a:p>
            <a:pPr>
              <a:defRPr sz="2000"/>
            </a:pPr>
            <a:r>
              <a:rPr dirty="0" err="1">
                <a:solidFill>
                  <a:schemeClr val="tx1">
                    <a:lumMod val="85000"/>
                    <a:lumOff val="15000"/>
                  </a:schemeClr>
                </a:solidFill>
              </a:rPr>
              <a:t>Əsərin</a:t>
            </a:r>
            <a:r>
              <a:rPr dirty="0">
                <a:solidFill>
                  <a:schemeClr val="tx1">
                    <a:lumMod val="85000"/>
                    <a:lumOff val="15000"/>
                  </a:schemeClr>
                </a:solidFill>
              </a:rPr>
              <a:t> </a:t>
            </a:r>
            <a:r>
              <a:rPr dirty="0" err="1">
                <a:solidFill>
                  <a:schemeClr val="tx1">
                    <a:lumMod val="85000"/>
                    <a:lumOff val="15000"/>
                  </a:schemeClr>
                </a:solidFill>
              </a:rPr>
              <a:t>müəllifi</a:t>
            </a:r>
            <a:r>
              <a:rPr dirty="0">
                <a:solidFill>
                  <a:schemeClr val="tx1">
                    <a:lumMod val="85000"/>
                    <a:lumOff val="15000"/>
                  </a:schemeClr>
                </a:solidFill>
              </a:rPr>
              <a:t>, </a:t>
            </a:r>
            <a:r>
              <a:rPr dirty="0" err="1">
                <a:solidFill>
                  <a:schemeClr val="tx1">
                    <a:lumMod val="85000"/>
                    <a:lumOff val="15000"/>
                  </a:schemeClr>
                </a:solidFill>
              </a:rPr>
              <a:t>onun</a:t>
            </a:r>
            <a:r>
              <a:rPr dirty="0">
                <a:solidFill>
                  <a:schemeClr val="tx1">
                    <a:lumMod val="85000"/>
                    <a:lumOff val="15000"/>
                  </a:schemeClr>
                </a:solidFill>
              </a:rPr>
              <a:t> </a:t>
            </a:r>
            <a:r>
              <a:rPr dirty="0" err="1">
                <a:solidFill>
                  <a:schemeClr val="tx1">
                    <a:lumMod val="85000"/>
                    <a:lumOff val="15000"/>
                  </a:schemeClr>
                </a:solidFill>
              </a:rPr>
              <a:t>varisləri</a:t>
            </a:r>
            <a:r>
              <a:rPr dirty="0">
                <a:solidFill>
                  <a:schemeClr val="tx1">
                    <a:lumMod val="85000"/>
                    <a:lumOff val="15000"/>
                  </a:schemeClr>
                </a:solidFill>
              </a:rPr>
              <a:t>, </a:t>
            </a:r>
            <a:r>
              <a:rPr dirty="0" err="1">
                <a:solidFill>
                  <a:schemeClr val="tx1">
                    <a:lumMod val="85000"/>
                    <a:lumOff val="15000"/>
                  </a:schemeClr>
                </a:solidFill>
              </a:rPr>
              <a:t>həmçinin</a:t>
            </a:r>
            <a:r>
              <a:rPr dirty="0">
                <a:solidFill>
                  <a:schemeClr val="tx1">
                    <a:lumMod val="85000"/>
                    <a:lumOff val="15000"/>
                  </a:schemeClr>
                </a:solidFill>
              </a:rPr>
              <a:t> </a:t>
            </a:r>
            <a:endParaRPr lang="az-Latn-AZ" dirty="0">
              <a:solidFill>
                <a:schemeClr val="tx1">
                  <a:lumMod val="85000"/>
                  <a:lumOff val="15000"/>
                </a:schemeClr>
              </a:solidFill>
            </a:endParaRPr>
          </a:p>
          <a:p>
            <a:pPr marL="0" indent="0">
              <a:buNone/>
              <a:defRPr sz="2000"/>
            </a:pPr>
            <a:r>
              <a:rPr lang="en-US" dirty="0" err="1">
                <a:solidFill>
                  <a:schemeClr val="tx1">
                    <a:lumMod val="85000"/>
                    <a:lumOff val="15000"/>
                  </a:schemeClr>
                </a:solidFill>
              </a:rPr>
              <a:t>M</a:t>
            </a:r>
            <a:r>
              <a:rPr dirty="0" err="1">
                <a:solidFill>
                  <a:schemeClr val="tx1">
                    <a:lumMod val="85000"/>
                    <a:lumOff val="15000"/>
                  </a:schemeClr>
                </a:solidFill>
              </a:rPr>
              <a:t>üəllif</a:t>
            </a:r>
            <a:r>
              <a:rPr lang="az-Latn-AZ" dirty="0">
                <a:solidFill>
                  <a:schemeClr val="tx1">
                    <a:lumMod val="85000"/>
                    <a:lumOff val="15000"/>
                  </a:schemeClr>
                </a:solidFill>
              </a:rPr>
              <a:t> </a:t>
            </a:r>
            <a:r>
              <a:rPr dirty="0" err="1">
                <a:solidFill>
                  <a:schemeClr val="tx1">
                    <a:lumMod val="85000"/>
                    <a:lumOff val="15000"/>
                  </a:schemeClr>
                </a:solidFill>
              </a:rPr>
              <a:t>hüquqlarının</a:t>
            </a:r>
            <a:r>
              <a:rPr dirty="0">
                <a:solidFill>
                  <a:schemeClr val="tx1">
                    <a:lumMod val="85000"/>
                    <a:lumOff val="15000"/>
                  </a:schemeClr>
                </a:solidFill>
              </a:rPr>
              <a:t> </a:t>
            </a:r>
            <a:r>
              <a:rPr dirty="0" err="1">
                <a:solidFill>
                  <a:schemeClr val="tx1">
                    <a:lumMod val="85000"/>
                    <a:lumOff val="15000"/>
                  </a:schemeClr>
                </a:solidFill>
              </a:rPr>
              <a:t>alıcısı</a:t>
            </a:r>
            <a:r>
              <a:rPr dirty="0">
                <a:solidFill>
                  <a:schemeClr val="tx1">
                    <a:lumMod val="85000"/>
                    <a:lumOff val="15000"/>
                  </a:schemeClr>
                </a:solidFill>
              </a:rPr>
              <a:t> </a:t>
            </a:r>
            <a:r>
              <a:rPr dirty="0" err="1">
                <a:solidFill>
                  <a:schemeClr val="tx1">
                    <a:lumMod val="85000"/>
                    <a:lumOff val="15000"/>
                  </a:schemeClr>
                </a:solidFill>
              </a:rPr>
              <a:t>və</a:t>
            </a:r>
            <a:r>
              <a:rPr dirty="0">
                <a:solidFill>
                  <a:schemeClr val="tx1">
                    <a:lumMod val="85000"/>
                    <a:lumOff val="15000"/>
                  </a:schemeClr>
                </a:solidFill>
              </a:rPr>
              <a:t> </a:t>
            </a:r>
            <a:r>
              <a:rPr dirty="0" err="1">
                <a:solidFill>
                  <a:schemeClr val="tx1">
                    <a:lumMod val="85000"/>
                    <a:lumOff val="15000"/>
                  </a:schemeClr>
                </a:solidFill>
              </a:rPr>
              <a:t>hüquqi</a:t>
            </a:r>
            <a:r>
              <a:rPr dirty="0">
                <a:solidFill>
                  <a:schemeClr val="tx1">
                    <a:lumMod val="85000"/>
                    <a:lumOff val="15000"/>
                  </a:schemeClr>
                </a:solidFill>
              </a:rPr>
              <a:t> </a:t>
            </a:r>
            <a:r>
              <a:rPr dirty="0" err="1">
                <a:solidFill>
                  <a:schemeClr val="tx1">
                    <a:lumMod val="85000"/>
                    <a:lumOff val="15000"/>
                  </a:schemeClr>
                </a:solidFill>
              </a:rPr>
              <a:t>varis</a:t>
            </a:r>
            <a:endParaRPr lang="az-Latn-AZ" dirty="0">
              <a:solidFill>
                <a:schemeClr val="tx1">
                  <a:lumMod val="85000"/>
                  <a:lumOff val="15000"/>
                </a:schemeClr>
              </a:solidFill>
            </a:endParaRPr>
          </a:p>
          <a:p>
            <a:pPr marL="0" indent="0">
              <a:buNone/>
              <a:defRPr sz="2000"/>
            </a:pPr>
            <a:r>
              <a:rPr dirty="0" err="1">
                <a:solidFill>
                  <a:schemeClr val="tx1">
                    <a:lumMod val="85000"/>
                    <a:lumOff val="15000"/>
                  </a:schemeClr>
                </a:solidFill>
              </a:rPr>
              <a:t>bu</a:t>
            </a:r>
            <a:r>
              <a:rPr dirty="0">
                <a:solidFill>
                  <a:schemeClr val="tx1">
                    <a:lumMod val="85000"/>
                    <a:lumOff val="15000"/>
                  </a:schemeClr>
                </a:solidFill>
              </a:rPr>
              <a:t> </a:t>
            </a:r>
            <a:r>
              <a:rPr dirty="0" err="1">
                <a:solidFill>
                  <a:schemeClr val="tx1">
                    <a:lumMod val="85000"/>
                    <a:lumOff val="15000"/>
                  </a:schemeClr>
                </a:solidFill>
              </a:rPr>
              <a:t>hüquqların</a:t>
            </a:r>
            <a:r>
              <a:rPr b="1" i="1" dirty="0">
                <a:solidFill>
                  <a:schemeClr val="tx1">
                    <a:lumMod val="85000"/>
                    <a:lumOff val="15000"/>
                  </a:schemeClr>
                </a:solidFill>
              </a:rPr>
              <a:t> </a:t>
            </a:r>
            <a:r>
              <a:rPr b="1" i="1" dirty="0" err="1">
                <a:solidFill>
                  <a:schemeClr val="tx1">
                    <a:lumMod val="85000"/>
                    <a:lumOff val="15000"/>
                  </a:schemeClr>
                </a:solidFill>
              </a:rPr>
              <a:t>subyektləri</a:t>
            </a:r>
            <a:r>
              <a:rPr b="1" i="1" dirty="0">
                <a:solidFill>
                  <a:schemeClr val="tx1">
                    <a:lumMod val="85000"/>
                    <a:lumOff val="15000"/>
                  </a:schemeClr>
                </a:solidFill>
              </a:rPr>
              <a:t> </a:t>
            </a:r>
            <a:r>
              <a:rPr dirty="0" err="1">
                <a:solidFill>
                  <a:schemeClr val="tx1">
                    <a:lumMod val="85000"/>
                    <a:lumOff val="15000"/>
                  </a:schemeClr>
                </a:solidFill>
              </a:rPr>
              <a:t>hesab</a:t>
            </a:r>
            <a:r>
              <a:rPr dirty="0">
                <a:solidFill>
                  <a:schemeClr val="tx1">
                    <a:lumMod val="85000"/>
                    <a:lumOff val="15000"/>
                  </a:schemeClr>
                </a:solidFill>
              </a:rPr>
              <a:t> </a:t>
            </a:r>
            <a:r>
              <a:rPr dirty="0" err="1">
                <a:solidFill>
                  <a:schemeClr val="tx1">
                    <a:lumMod val="85000"/>
                    <a:lumOff val="15000"/>
                  </a:schemeClr>
                </a:solidFill>
              </a:rPr>
              <a:t>olunur</a:t>
            </a:r>
            <a:r>
              <a:rPr dirty="0">
                <a:solidFill>
                  <a:schemeClr val="tx1">
                    <a:lumMod val="85000"/>
                    <a:lumOff val="15000"/>
                  </a:schemeClr>
                </a:solidFill>
              </a:rPr>
              <a:t>.</a:t>
            </a:r>
            <a:endParaRPr lang="az-Latn-AZ" dirty="0">
              <a:solidFill>
                <a:schemeClr val="tx1">
                  <a:lumMod val="85000"/>
                  <a:lumOff val="15000"/>
                </a:schemeClr>
              </a:solidFill>
            </a:endParaRPr>
          </a:p>
          <a:p>
            <a:pPr>
              <a:defRPr sz="2000"/>
            </a:pPr>
            <a:r>
              <a:rPr lang="en-US" dirty="0" err="1">
                <a:solidFill>
                  <a:schemeClr val="tx1">
                    <a:lumMod val="85000"/>
                    <a:lumOff val="15000"/>
                  </a:schemeClr>
                </a:solidFill>
              </a:rPr>
              <a:t>Müəlliflik</a:t>
            </a:r>
            <a:r>
              <a:rPr lang="en-US" dirty="0">
                <a:solidFill>
                  <a:schemeClr val="tx1">
                    <a:lumMod val="85000"/>
                    <a:lumOff val="15000"/>
                  </a:schemeClr>
                </a:solidFill>
              </a:rPr>
              <a:t> </a:t>
            </a:r>
            <a:r>
              <a:rPr lang="en-US" dirty="0" err="1">
                <a:solidFill>
                  <a:schemeClr val="tx1">
                    <a:lumMod val="85000"/>
                    <a:lumOff val="15000"/>
                  </a:schemeClr>
                </a:solidFill>
              </a:rPr>
              <a:t>hüququnun</a:t>
            </a:r>
            <a:r>
              <a:rPr lang="en-US" dirty="0">
                <a:solidFill>
                  <a:schemeClr val="tx1">
                    <a:lumMod val="85000"/>
                    <a:lumOff val="15000"/>
                  </a:schemeClr>
                </a:solidFill>
              </a:rPr>
              <a:t> </a:t>
            </a:r>
            <a:r>
              <a:rPr lang="en-US" dirty="0" err="1">
                <a:solidFill>
                  <a:schemeClr val="tx1">
                    <a:lumMod val="85000"/>
                    <a:lumOff val="15000"/>
                  </a:schemeClr>
                </a:solidFill>
              </a:rPr>
              <a:t>əsas</a:t>
            </a:r>
            <a:r>
              <a:rPr lang="en-US" dirty="0">
                <a:solidFill>
                  <a:schemeClr val="tx1">
                    <a:lumMod val="85000"/>
                    <a:lumOff val="15000"/>
                  </a:schemeClr>
                </a:solidFill>
              </a:rPr>
              <a:t> </a:t>
            </a:r>
            <a:r>
              <a:rPr lang="en-US" dirty="0" err="1">
                <a:solidFill>
                  <a:schemeClr val="tx1">
                    <a:lumMod val="85000"/>
                    <a:lumOff val="15000"/>
                  </a:schemeClr>
                </a:solidFill>
              </a:rPr>
              <a:t>subyekti</a:t>
            </a:r>
            <a:r>
              <a:rPr lang="en-US" dirty="0">
                <a:solidFill>
                  <a:schemeClr val="tx1">
                    <a:lumMod val="85000"/>
                    <a:lumOff val="15000"/>
                  </a:schemeClr>
                </a:solidFill>
              </a:rPr>
              <a:t> </a:t>
            </a:r>
            <a:r>
              <a:rPr lang="en-US" dirty="0" err="1">
                <a:solidFill>
                  <a:schemeClr val="tx1">
                    <a:lumMod val="85000"/>
                    <a:lumOff val="15000"/>
                  </a:schemeClr>
                </a:solidFill>
              </a:rPr>
              <a:t>əsəri</a:t>
            </a:r>
            <a:endParaRPr lang="az-Latn-AZ" dirty="0">
              <a:solidFill>
                <a:schemeClr val="tx1">
                  <a:lumMod val="85000"/>
                  <a:lumOff val="15000"/>
                </a:schemeClr>
              </a:solidFill>
            </a:endParaRPr>
          </a:p>
          <a:p>
            <a:pPr marL="0" indent="0">
              <a:buNone/>
              <a:defRPr sz="2000"/>
            </a:pPr>
            <a:r>
              <a:rPr lang="en-US" dirty="0">
                <a:solidFill>
                  <a:schemeClr val="tx1">
                    <a:lumMod val="85000"/>
                    <a:lumOff val="15000"/>
                  </a:schemeClr>
                </a:solidFill>
              </a:rPr>
              <a:t> </a:t>
            </a:r>
            <a:r>
              <a:rPr lang="en-US" dirty="0" err="1">
                <a:solidFill>
                  <a:schemeClr val="tx1">
                    <a:lumMod val="85000"/>
                    <a:lumOff val="15000"/>
                  </a:schemeClr>
                </a:solidFill>
              </a:rPr>
              <a:t>yaradan</a:t>
            </a:r>
            <a:r>
              <a:rPr lang="en-US" dirty="0">
                <a:solidFill>
                  <a:schemeClr val="tx1">
                    <a:lumMod val="85000"/>
                    <a:lumOff val="15000"/>
                  </a:schemeClr>
                </a:solidFill>
              </a:rPr>
              <a:t> </a:t>
            </a:r>
            <a:r>
              <a:rPr lang="en-US" b="1" dirty="0" err="1">
                <a:solidFill>
                  <a:schemeClr val="tx1">
                    <a:lumMod val="85000"/>
                    <a:lumOff val="15000"/>
                  </a:schemeClr>
                </a:solidFill>
              </a:rPr>
              <a:t>fiziki</a:t>
            </a:r>
            <a:r>
              <a:rPr lang="en-US" b="1" dirty="0">
                <a:solidFill>
                  <a:schemeClr val="tx1">
                    <a:lumMod val="85000"/>
                    <a:lumOff val="15000"/>
                  </a:schemeClr>
                </a:solidFill>
              </a:rPr>
              <a:t> </a:t>
            </a:r>
            <a:r>
              <a:rPr lang="en-US" b="1" dirty="0" err="1">
                <a:solidFill>
                  <a:schemeClr val="tx1">
                    <a:lumMod val="85000"/>
                    <a:lumOff val="15000"/>
                  </a:schemeClr>
                </a:solidFill>
              </a:rPr>
              <a:t>şəxs</a:t>
            </a:r>
            <a:r>
              <a:rPr lang="en-US" dirty="0">
                <a:solidFill>
                  <a:schemeClr val="tx1">
                    <a:lumMod val="85000"/>
                    <a:lumOff val="15000"/>
                  </a:schemeClr>
                </a:solidFill>
              </a:rPr>
              <a:t>, </a:t>
            </a:r>
            <a:r>
              <a:rPr lang="en-US" dirty="0" err="1">
                <a:solidFill>
                  <a:schemeClr val="tx1">
                    <a:lumMod val="85000"/>
                    <a:lumOff val="15000"/>
                  </a:schemeClr>
                </a:solidFill>
              </a:rPr>
              <a:t>yəni</a:t>
            </a:r>
            <a:r>
              <a:rPr lang="en-US" dirty="0">
                <a:solidFill>
                  <a:schemeClr val="tx1">
                    <a:lumMod val="85000"/>
                    <a:lumOff val="15000"/>
                  </a:schemeClr>
                </a:solidFill>
              </a:rPr>
              <a:t> </a:t>
            </a:r>
            <a:r>
              <a:rPr lang="en-US" b="1" dirty="0" err="1">
                <a:solidFill>
                  <a:schemeClr val="tx1">
                    <a:lumMod val="85000"/>
                    <a:lumOff val="15000"/>
                  </a:schemeClr>
                </a:solidFill>
              </a:rPr>
              <a:t>müəllifin</a:t>
            </a:r>
            <a:r>
              <a:rPr lang="en-US" b="1" dirty="0">
                <a:solidFill>
                  <a:schemeClr val="tx1">
                    <a:lumMod val="85000"/>
                    <a:lumOff val="15000"/>
                  </a:schemeClr>
                </a:solidFill>
              </a:rPr>
              <a:t> </a:t>
            </a:r>
            <a:r>
              <a:rPr lang="en-US" b="1" dirty="0" err="1">
                <a:solidFill>
                  <a:schemeClr val="tx1">
                    <a:lumMod val="85000"/>
                    <a:lumOff val="15000"/>
                  </a:schemeClr>
                </a:solidFill>
              </a:rPr>
              <a:t>özü</a:t>
            </a:r>
            <a:r>
              <a:rPr lang="en-US" dirty="0">
                <a:solidFill>
                  <a:schemeClr val="tx1">
                    <a:lumMod val="85000"/>
                    <a:lumOff val="15000"/>
                  </a:schemeClr>
                </a:solidFill>
              </a:rPr>
              <a:t> </a:t>
            </a:r>
            <a:r>
              <a:rPr lang="en-US" dirty="0" err="1">
                <a:solidFill>
                  <a:schemeClr val="tx1">
                    <a:lumMod val="85000"/>
                    <a:lumOff val="15000"/>
                  </a:schemeClr>
                </a:solidFill>
              </a:rPr>
              <a:t>sayılır</a:t>
            </a:r>
            <a:r>
              <a:rPr lang="en-US" dirty="0">
                <a:solidFill>
                  <a:schemeClr val="tx1">
                    <a:lumMod val="85000"/>
                    <a:lumOff val="15000"/>
                  </a:schemeClr>
                </a:solidFill>
              </a:rPr>
              <a:t>.</a:t>
            </a:r>
            <a:endParaRPr lang="az-Latn-AZ" dirty="0">
              <a:solidFill>
                <a:schemeClr val="tx1">
                  <a:lumMod val="85000"/>
                  <a:lumOff val="15000"/>
                </a:schemeClr>
              </a:solidFill>
            </a:endParaRPr>
          </a:p>
          <a:p>
            <a:pPr>
              <a:defRPr sz="2000"/>
            </a:pPr>
            <a:r>
              <a:rPr lang="en-US" dirty="0" err="1">
                <a:solidFill>
                  <a:schemeClr val="tx1">
                    <a:lumMod val="85000"/>
                    <a:lumOff val="15000"/>
                  </a:schemeClr>
                </a:solidFill>
              </a:rPr>
              <a:t>Əgər</a:t>
            </a:r>
            <a:r>
              <a:rPr lang="en-US" dirty="0">
                <a:solidFill>
                  <a:schemeClr val="tx1">
                    <a:lumMod val="85000"/>
                    <a:lumOff val="15000"/>
                  </a:schemeClr>
                </a:solidFill>
              </a:rPr>
              <a:t> </a:t>
            </a:r>
            <a:r>
              <a:rPr lang="en-US" dirty="0" err="1">
                <a:solidFill>
                  <a:schemeClr val="tx1">
                    <a:lumMod val="85000"/>
                    <a:lumOff val="15000"/>
                  </a:schemeClr>
                </a:solidFill>
              </a:rPr>
              <a:t>bir</a:t>
            </a:r>
            <a:r>
              <a:rPr lang="en-US" dirty="0">
                <a:solidFill>
                  <a:schemeClr val="tx1">
                    <a:lumMod val="85000"/>
                    <a:lumOff val="15000"/>
                  </a:schemeClr>
                </a:solidFill>
              </a:rPr>
              <a:t> </a:t>
            </a:r>
            <a:r>
              <a:rPr lang="en-US" dirty="0" err="1">
                <a:solidFill>
                  <a:schemeClr val="tx1">
                    <a:lumMod val="85000"/>
                    <a:lumOff val="15000"/>
                  </a:schemeClr>
                </a:solidFill>
              </a:rPr>
              <a:t>əsər</a:t>
            </a:r>
            <a:r>
              <a:rPr lang="en-US" dirty="0">
                <a:solidFill>
                  <a:schemeClr val="tx1">
                    <a:lumMod val="85000"/>
                    <a:lumOff val="15000"/>
                  </a:schemeClr>
                </a:solidFill>
              </a:rPr>
              <a:t> </a:t>
            </a:r>
            <a:r>
              <a:rPr lang="en-US" dirty="0" err="1">
                <a:solidFill>
                  <a:schemeClr val="tx1">
                    <a:lumMod val="85000"/>
                    <a:lumOff val="15000"/>
                  </a:schemeClr>
                </a:solidFill>
              </a:rPr>
              <a:t>bir</a:t>
            </a:r>
            <a:r>
              <a:rPr lang="en-US" dirty="0">
                <a:solidFill>
                  <a:schemeClr val="tx1">
                    <a:lumMod val="85000"/>
                    <a:lumOff val="15000"/>
                  </a:schemeClr>
                </a:solidFill>
              </a:rPr>
              <a:t> </a:t>
            </a:r>
            <a:r>
              <a:rPr lang="en-US" dirty="0" err="1">
                <a:solidFill>
                  <a:schemeClr val="tx1">
                    <a:lumMod val="85000"/>
                    <a:lumOff val="15000"/>
                  </a:schemeClr>
                </a:solidFill>
              </a:rPr>
              <a:t>neçə</a:t>
            </a:r>
            <a:r>
              <a:rPr lang="en-US" dirty="0">
                <a:solidFill>
                  <a:schemeClr val="tx1">
                    <a:lumMod val="85000"/>
                    <a:lumOff val="15000"/>
                  </a:schemeClr>
                </a:solidFill>
              </a:rPr>
              <a:t> </a:t>
            </a:r>
            <a:r>
              <a:rPr lang="en-US" dirty="0" err="1">
                <a:solidFill>
                  <a:schemeClr val="tx1">
                    <a:lumMod val="85000"/>
                    <a:lumOff val="15000"/>
                  </a:schemeClr>
                </a:solidFill>
              </a:rPr>
              <a:t>şəxs</a:t>
            </a:r>
            <a:r>
              <a:rPr lang="en-US" dirty="0">
                <a:solidFill>
                  <a:schemeClr val="tx1">
                    <a:lumMod val="85000"/>
                    <a:lumOff val="15000"/>
                  </a:schemeClr>
                </a:solidFill>
              </a:rPr>
              <a:t> </a:t>
            </a:r>
            <a:r>
              <a:rPr lang="en-US" dirty="0" err="1">
                <a:solidFill>
                  <a:schemeClr val="tx1">
                    <a:lumMod val="85000"/>
                    <a:lumOff val="15000"/>
                  </a:schemeClr>
                </a:solidFill>
              </a:rPr>
              <a:t>tərəfindən</a:t>
            </a:r>
            <a:r>
              <a:rPr lang="en-US" dirty="0">
                <a:solidFill>
                  <a:schemeClr val="tx1">
                    <a:lumMod val="85000"/>
                    <a:lumOff val="15000"/>
                  </a:schemeClr>
                </a:solidFill>
              </a:rPr>
              <a:t> </a:t>
            </a:r>
            <a:endParaRPr lang="az-Latn-AZ" dirty="0">
              <a:solidFill>
                <a:schemeClr val="tx1">
                  <a:lumMod val="85000"/>
                  <a:lumOff val="15000"/>
                </a:schemeClr>
              </a:solidFill>
            </a:endParaRPr>
          </a:p>
          <a:p>
            <a:pPr marL="0" indent="0">
              <a:buNone/>
              <a:defRPr sz="2000"/>
            </a:pPr>
            <a:r>
              <a:rPr lang="en-US" dirty="0" err="1">
                <a:solidFill>
                  <a:schemeClr val="tx1">
                    <a:lumMod val="85000"/>
                    <a:lumOff val="15000"/>
                  </a:schemeClr>
                </a:solidFill>
              </a:rPr>
              <a:t>yaradılıbsa</a:t>
            </a:r>
            <a:r>
              <a:rPr lang="en-US" dirty="0">
                <a:solidFill>
                  <a:schemeClr val="tx1">
                    <a:lumMod val="85000"/>
                    <a:lumOff val="15000"/>
                  </a:schemeClr>
                </a:solidFill>
              </a:rPr>
              <a:t>, </a:t>
            </a:r>
            <a:r>
              <a:rPr lang="en-US" dirty="0" err="1">
                <a:solidFill>
                  <a:schemeClr val="tx1">
                    <a:lumMod val="85000"/>
                    <a:lumOff val="15000"/>
                  </a:schemeClr>
                </a:solidFill>
              </a:rPr>
              <a:t>bu</a:t>
            </a:r>
            <a:r>
              <a:rPr lang="en-US" dirty="0">
                <a:solidFill>
                  <a:schemeClr val="tx1">
                    <a:lumMod val="85000"/>
                    <a:lumOff val="15000"/>
                  </a:schemeClr>
                </a:solidFill>
              </a:rPr>
              <a:t> zaman </a:t>
            </a:r>
            <a:r>
              <a:rPr lang="en-US" dirty="0" err="1">
                <a:solidFill>
                  <a:schemeClr val="tx1">
                    <a:lumMod val="85000"/>
                    <a:lumOff val="15000"/>
                  </a:schemeClr>
                </a:solidFill>
              </a:rPr>
              <a:t>onlar</a:t>
            </a:r>
            <a:r>
              <a:rPr lang="en-US" dirty="0">
                <a:solidFill>
                  <a:schemeClr val="tx1">
                    <a:lumMod val="85000"/>
                    <a:lumOff val="15000"/>
                  </a:schemeClr>
                </a:solidFill>
              </a:rPr>
              <a:t> </a:t>
            </a:r>
            <a:r>
              <a:rPr lang="en-US" b="1" dirty="0" err="1">
                <a:solidFill>
                  <a:schemeClr val="tx1">
                    <a:lumMod val="85000"/>
                    <a:lumOff val="15000"/>
                  </a:schemeClr>
                </a:solidFill>
              </a:rPr>
              <a:t>birgə</a:t>
            </a:r>
            <a:r>
              <a:rPr lang="en-US" b="1" dirty="0">
                <a:solidFill>
                  <a:schemeClr val="tx1">
                    <a:lumMod val="85000"/>
                    <a:lumOff val="15000"/>
                  </a:schemeClr>
                </a:solidFill>
              </a:rPr>
              <a:t> </a:t>
            </a:r>
            <a:r>
              <a:rPr lang="en-US" b="1" dirty="0" err="1">
                <a:solidFill>
                  <a:schemeClr val="tx1">
                    <a:lumMod val="85000"/>
                    <a:lumOff val="15000"/>
                  </a:schemeClr>
                </a:solidFill>
              </a:rPr>
              <a:t>müəlliflər</a:t>
            </a:r>
            <a:r>
              <a:rPr lang="en-US" dirty="0">
                <a:solidFill>
                  <a:schemeClr val="tx1">
                    <a:lumMod val="85000"/>
                    <a:lumOff val="15000"/>
                  </a:schemeClr>
                </a:solidFill>
              </a:rPr>
              <a:t> </a:t>
            </a:r>
            <a:r>
              <a:rPr lang="en-US" dirty="0" err="1">
                <a:solidFill>
                  <a:schemeClr val="tx1">
                    <a:lumMod val="85000"/>
                    <a:lumOff val="15000"/>
                  </a:schemeClr>
                </a:solidFill>
              </a:rPr>
              <a:t>kimi</a:t>
            </a:r>
            <a:r>
              <a:rPr lang="en-US" dirty="0">
                <a:solidFill>
                  <a:schemeClr val="tx1">
                    <a:lumMod val="85000"/>
                    <a:lumOff val="15000"/>
                  </a:schemeClr>
                </a:solidFill>
              </a:rPr>
              <a:t> </a:t>
            </a:r>
            <a:endParaRPr lang="az-Latn-AZ" dirty="0">
              <a:solidFill>
                <a:schemeClr val="tx1">
                  <a:lumMod val="85000"/>
                  <a:lumOff val="15000"/>
                </a:schemeClr>
              </a:solidFill>
            </a:endParaRPr>
          </a:p>
          <a:p>
            <a:pPr marL="0" indent="0">
              <a:buNone/>
              <a:defRPr sz="2000"/>
            </a:pPr>
            <a:r>
              <a:rPr lang="en-US" dirty="0" err="1">
                <a:solidFill>
                  <a:schemeClr val="tx1">
                    <a:lumMod val="85000"/>
                    <a:lumOff val="15000"/>
                  </a:schemeClr>
                </a:solidFill>
              </a:rPr>
              <a:t>müəlliflik</a:t>
            </a:r>
            <a:r>
              <a:rPr lang="en-US" dirty="0">
                <a:solidFill>
                  <a:schemeClr val="tx1">
                    <a:lumMod val="85000"/>
                    <a:lumOff val="15000"/>
                  </a:schemeClr>
                </a:solidFill>
              </a:rPr>
              <a:t> </a:t>
            </a:r>
            <a:r>
              <a:rPr lang="en-US" dirty="0" err="1">
                <a:solidFill>
                  <a:schemeClr val="tx1">
                    <a:lumMod val="85000"/>
                    <a:lumOff val="15000"/>
                  </a:schemeClr>
                </a:solidFill>
              </a:rPr>
              <a:t>hüququna</a:t>
            </a:r>
            <a:r>
              <a:rPr lang="az-Latn-AZ" dirty="0">
                <a:solidFill>
                  <a:schemeClr val="tx1">
                    <a:lumMod val="85000"/>
                    <a:lumOff val="15000"/>
                  </a:schemeClr>
                </a:solidFill>
              </a:rPr>
              <a:t> </a:t>
            </a:r>
            <a:r>
              <a:rPr lang="en-US" dirty="0">
                <a:solidFill>
                  <a:schemeClr val="tx1">
                    <a:lumMod val="85000"/>
                    <a:lumOff val="15000"/>
                  </a:schemeClr>
                </a:solidFill>
              </a:rPr>
              <a:t>malik </a:t>
            </a:r>
            <a:r>
              <a:rPr lang="en-US" dirty="0" err="1">
                <a:solidFill>
                  <a:schemeClr val="tx1">
                    <a:lumMod val="85000"/>
                    <a:lumOff val="15000"/>
                  </a:schemeClr>
                </a:solidFill>
              </a:rPr>
              <a:t>olurlar</a:t>
            </a:r>
            <a:r>
              <a:rPr lang="en-US" dirty="0">
                <a:solidFill>
                  <a:schemeClr val="tx1">
                    <a:lumMod val="85000"/>
                    <a:lumOff val="15000"/>
                  </a:schemeClr>
                </a:solidFill>
              </a:rPr>
              <a:t>.</a:t>
            </a:r>
            <a:endParaRPr lang="az-Latn-AZ" dirty="0">
              <a:solidFill>
                <a:schemeClr val="tx1">
                  <a:lumMod val="85000"/>
                  <a:lumOff val="15000"/>
                </a:schemeClr>
              </a:solidFill>
            </a:endParaRPr>
          </a:p>
          <a:p>
            <a:pPr>
              <a:defRPr sz="2000"/>
            </a:pPr>
            <a:r>
              <a:rPr lang="en-US" dirty="0" err="1">
                <a:solidFill>
                  <a:schemeClr val="tx1">
                    <a:lumMod val="85000"/>
                    <a:lumOff val="15000"/>
                  </a:schemeClr>
                </a:solidFill>
              </a:rPr>
              <a:t>Müəllif</a:t>
            </a:r>
            <a:r>
              <a:rPr lang="en-US" dirty="0">
                <a:solidFill>
                  <a:schemeClr val="tx1">
                    <a:lumMod val="85000"/>
                    <a:lumOff val="15000"/>
                  </a:schemeClr>
                </a:solidFill>
              </a:rPr>
              <a:t> </a:t>
            </a:r>
            <a:r>
              <a:rPr lang="en-US" dirty="0" err="1">
                <a:solidFill>
                  <a:schemeClr val="tx1">
                    <a:lumMod val="85000"/>
                    <a:lumOff val="15000"/>
                  </a:schemeClr>
                </a:solidFill>
              </a:rPr>
              <a:t>vəfat</a:t>
            </a:r>
            <a:r>
              <a:rPr lang="en-US" dirty="0">
                <a:solidFill>
                  <a:schemeClr val="tx1">
                    <a:lumMod val="85000"/>
                    <a:lumOff val="15000"/>
                  </a:schemeClr>
                </a:solidFill>
              </a:rPr>
              <a:t> </a:t>
            </a:r>
            <a:r>
              <a:rPr lang="en-US" dirty="0" err="1">
                <a:solidFill>
                  <a:schemeClr val="tx1">
                    <a:lumMod val="85000"/>
                    <a:lumOff val="15000"/>
                  </a:schemeClr>
                </a:solidFill>
              </a:rPr>
              <a:t>etdikdən</a:t>
            </a:r>
            <a:r>
              <a:rPr lang="en-US" dirty="0">
                <a:solidFill>
                  <a:schemeClr val="tx1">
                    <a:lumMod val="85000"/>
                    <a:lumOff val="15000"/>
                  </a:schemeClr>
                </a:solidFill>
              </a:rPr>
              <a:t> </a:t>
            </a:r>
            <a:r>
              <a:rPr lang="en-US" dirty="0" err="1">
                <a:solidFill>
                  <a:schemeClr val="tx1">
                    <a:lumMod val="85000"/>
                    <a:lumOff val="15000"/>
                  </a:schemeClr>
                </a:solidFill>
              </a:rPr>
              <a:t>sonra</a:t>
            </a:r>
            <a:r>
              <a:rPr lang="en-US" dirty="0">
                <a:solidFill>
                  <a:schemeClr val="tx1">
                    <a:lumMod val="85000"/>
                    <a:lumOff val="15000"/>
                  </a:schemeClr>
                </a:solidFill>
              </a:rPr>
              <a:t> </a:t>
            </a:r>
            <a:r>
              <a:rPr lang="en-US" dirty="0" err="1">
                <a:solidFill>
                  <a:schemeClr val="tx1">
                    <a:lumMod val="85000"/>
                    <a:lumOff val="15000"/>
                  </a:schemeClr>
                </a:solidFill>
              </a:rPr>
              <a:t>onun</a:t>
            </a:r>
            <a:r>
              <a:rPr lang="en-US" dirty="0">
                <a:solidFill>
                  <a:schemeClr val="tx1">
                    <a:lumMod val="85000"/>
                    <a:lumOff val="15000"/>
                  </a:schemeClr>
                </a:solidFill>
              </a:rPr>
              <a:t> </a:t>
            </a:r>
            <a:r>
              <a:rPr lang="en-US" dirty="0" err="1">
                <a:solidFill>
                  <a:schemeClr val="tx1">
                    <a:lumMod val="85000"/>
                    <a:lumOff val="15000"/>
                  </a:schemeClr>
                </a:solidFill>
              </a:rPr>
              <a:t>hüquqları</a:t>
            </a:r>
            <a:r>
              <a:rPr lang="en-US" dirty="0">
                <a:solidFill>
                  <a:schemeClr val="tx1">
                    <a:lumMod val="85000"/>
                    <a:lumOff val="15000"/>
                  </a:schemeClr>
                </a:solidFill>
              </a:rPr>
              <a:t> </a:t>
            </a:r>
            <a:r>
              <a:rPr lang="en-US" b="1" dirty="0" err="1">
                <a:solidFill>
                  <a:schemeClr val="tx1">
                    <a:lumMod val="85000"/>
                    <a:lumOff val="15000"/>
                  </a:schemeClr>
                </a:solidFill>
              </a:rPr>
              <a:t>varislərə</a:t>
            </a:r>
            <a:r>
              <a:rPr lang="en-US" dirty="0">
                <a:solidFill>
                  <a:schemeClr val="tx1">
                    <a:lumMod val="85000"/>
                    <a:lumOff val="15000"/>
                  </a:schemeClr>
                </a:solidFill>
              </a:rPr>
              <a:t> </a:t>
            </a:r>
            <a:r>
              <a:rPr lang="en-US" dirty="0" err="1">
                <a:solidFill>
                  <a:schemeClr val="tx1">
                    <a:lumMod val="85000"/>
                    <a:lumOff val="15000"/>
                  </a:schemeClr>
                </a:solidFill>
              </a:rPr>
              <a:t>keçir</a:t>
            </a:r>
            <a:r>
              <a:rPr lang="en-US" dirty="0">
                <a:solidFill>
                  <a:schemeClr val="tx1">
                    <a:lumMod val="85000"/>
                    <a:lumOff val="15000"/>
                  </a:schemeClr>
                </a:solidFill>
              </a:rPr>
              <a:t> </a:t>
            </a:r>
            <a:r>
              <a:rPr lang="en-US" dirty="0" err="1">
                <a:solidFill>
                  <a:schemeClr val="tx1">
                    <a:lumMod val="85000"/>
                    <a:lumOff val="15000"/>
                  </a:schemeClr>
                </a:solidFill>
              </a:rPr>
              <a:t>və</a:t>
            </a:r>
            <a:r>
              <a:rPr lang="en-US" dirty="0">
                <a:solidFill>
                  <a:schemeClr val="tx1">
                    <a:lumMod val="85000"/>
                    <a:lumOff val="15000"/>
                  </a:schemeClr>
                </a:solidFill>
              </a:rPr>
              <a:t> </a:t>
            </a:r>
            <a:r>
              <a:rPr lang="en-US" dirty="0" err="1">
                <a:solidFill>
                  <a:schemeClr val="tx1">
                    <a:lumMod val="85000"/>
                    <a:lumOff val="15000"/>
                  </a:schemeClr>
                </a:solidFill>
              </a:rPr>
              <a:t>onlar</a:t>
            </a:r>
            <a:r>
              <a:rPr lang="en-US" dirty="0">
                <a:solidFill>
                  <a:schemeClr val="tx1">
                    <a:lumMod val="85000"/>
                    <a:lumOff val="15000"/>
                  </a:schemeClr>
                </a:solidFill>
              </a:rPr>
              <a:t> </a:t>
            </a:r>
            <a:r>
              <a:rPr lang="en-US" dirty="0" err="1">
                <a:solidFill>
                  <a:schemeClr val="tx1">
                    <a:lumMod val="85000"/>
                    <a:lumOff val="15000"/>
                  </a:schemeClr>
                </a:solidFill>
              </a:rPr>
              <a:t>bu</a:t>
            </a:r>
            <a:endParaRPr lang="az-Latn-AZ" dirty="0">
              <a:solidFill>
                <a:schemeClr val="tx1">
                  <a:lumMod val="85000"/>
                  <a:lumOff val="15000"/>
                </a:schemeClr>
              </a:solidFill>
            </a:endParaRPr>
          </a:p>
          <a:p>
            <a:pPr marL="0" indent="0">
              <a:buNone/>
              <a:defRPr sz="2000"/>
            </a:pPr>
            <a:r>
              <a:rPr lang="en-US" dirty="0" err="1">
                <a:solidFill>
                  <a:schemeClr val="tx1">
                    <a:lumMod val="85000"/>
                    <a:lumOff val="15000"/>
                  </a:schemeClr>
                </a:solidFill>
              </a:rPr>
              <a:t>hüquqlardan</a:t>
            </a:r>
            <a:r>
              <a:rPr lang="en-US" dirty="0">
                <a:solidFill>
                  <a:schemeClr val="tx1">
                    <a:lumMod val="85000"/>
                    <a:lumOff val="15000"/>
                  </a:schemeClr>
                </a:solidFill>
              </a:rPr>
              <a:t> </a:t>
            </a:r>
            <a:r>
              <a:rPr lang="en-US" dirty="0" err="1">
                <a:solidFill>
                  <a:schemeClr val="tx1">
                    <a:lumMod val="85000"/>
                    <a:lumOff val="15000"/>
                  </a:schemeClr>
                </a:solidFill>
              </a:rPr>
              <a:t>müəyyən</a:t>
            </a:r>
            <a:r>
              <a:rPr lang="en-US" dirty="0">
                <a:solidFill>
                  <a:schemeClr val="tx1">
                    <a:lumMod val="85000"/>
                    <a:lumOff val="15000"/>
                  </a:schemeClr>
                </a:solidFill>
              </a:rPr>
              <a:t> </a:t>
            </a:r>
            <a:r>
              <a:rPr lang="en-US" dirty="0" err="1">
                <a:solidFill>
                  <a:schemeClr val="tx1">
                    <a:lumMod val="85000"/>
                    <a:lumOff val="15000"/>
                  </a:schemeClr>
                </a:solidFill>
              </a:rPr>
              <a:t>müddət</a:t>
            </a:r>
            <a:r>
              <a:rPr lang="en-US" dirty="0">
                <a:solidFill>
                  <a:schemeClr val="tx1">
                    <a:lumMod val="85000"/>
                    <a:lumOff val="15000"/>
                  </a:schemeClr>
                </a:solidFill>
              </a:rPr>
              <a:t> </a:t>
            </a:r>
            <a:r>
              <a:rPr lang="en-US" dirty="0" err="1">
                <a:solidFill>
                  <a:schemeClr val="tx1">
                    <a:lumMod val="85000"/>
                    <a:lumOff val="15000"/>
                  </a:schemeClr>
                </a:solidFill>
              </a:rPr>
              <a:t>ərzində</a:t>
            </a:r>
            <a:r>
              <a:rPr lang="en-US" dirty="0">
                <a:solidFill>
                  <a:schemeClr val="tx1">
                    <a:lumMod val="85000"/>
                    <a:lumOff val="15000"/>
                  </a:schemeClr>
                </a:solidFill>
              </a:rPr>
              <a:t> </a:t>
            </a:r>
            <a:r>
              <a:rPr lang="en-US" dirty="0" err="1">
                <a:solidFill>
                  <a:schemeClr val="tx1">
                    <a:lumMod val="85000"/>
                    <a:lumOff val="15000"/>
                  </a:schemeClr>
                </a:solidFill>
              </a:rPr>
              <a:t>istifadə</a:t>
            </a:r>
            <a:r>
              <a:rPr lang="en-US" dirty="0">
                <a:solidFill>
                  <a:schemeClr val="tx1">
                    <a:lumMod val="85000"/>
                    <a:lumOff val="15000"/>
                  </a:schemeClr>
                </a:solidFill>
              </a:rPr>
              <a:t> </a:t>
            </a:r>
            <a:r>
              <a:rPr lang="en-US" dirty="0" err="1">
                <a:solidFill>
                  <a:schemeClr val="tx1">
                    <a:lumMod val="85000"/>
                    <a:lumOff val="15000"/>
                  </a:schemeClr>
                </a:solidFill>
              </a:rPr>
              <a:t>edə</a:t>
            </a:r>
            <a:r>
              <a:rPr lang="en-US" dirty="0">
                <a:solidFill>
                  <a:schemeClr val="tx1">
                    <a:lumMod val="85000"/>
                    <a:lumOff val="15000"/>
                  </a:schemeClr>
                </a:solidFill>
              </a:rPr>
              <a:t> </a:t>
            </a:r>
            <a:r>
              <a:rPr lang="en-US" dirty="0" err="1">
                <a:solidFill>
                  <a:schemeClr val="tx1">
                    <a:lumMod val="85000"/>
                    <a:lumOff val="15000"/>
                  </a:schemeClr>
                </a:solidFill>
              </a:rPr>
              <a:t>bilərlər</a:t>
            </a:r>
            <a:endParaRPr lang="az-Latn-AZ" dirty="0">
              <a:solidFill>
                <a:schemeClr val="tx1">
                  <a:lumMod val="85000"/>
                  <a:lumOff val="15000"/>
                </a:schemeClr>
              </a:solidFill>
            </a:endParaRPr>
          </a:p>
          <a:p>
            <a:pPr>
              <a:defRPr sz="2000"/>
            </a:pPr>
            <a:r>
              <a:rPr lang="en-US" dirty="0" err="1">
                <a:solidFill>
                  <a:schemeClr val="tx1">
                    <a:lumMod val="85000"/>
                    <a:lumOff val="15000"/>
                  </a:schemeClr>
                </a:solidFill>
              </a:rPr>
              <a:t>Müəllif</a:t>
            </a:r>
            <a:r>
              <a:rPr lang="en-US" dirty="0">
                <a:solidFill>
                  <a:schemeClr val="tx1">
                    <a:lumMod val="85000"/>
                    <a:lumOff val="15000"/>
                  </a:schemeClr>
                </a:solidFill>
              </a:rPr>
              <a:t> </a:t>
            </a:r>
            <a:r>
              <a:rPr lang="en-US" dirty="0" err="1">
                <a:solidFill>
                  <a:schemeClr val="tx1">
                    <a:lumMod val="85000"/>
                    <a:lumOff val="15000"/>
                  </a:schemeClr>
                </a:solidFill>
              </a:rPr>
              <a:t>öz</a:t>
            </a:r>
            <a:r>
              <a:rPr lang="en-US" dirty="0">
                <a:solidFill>
                  <a:schemeClr val="tx1">
                    <a:lumMod val="85000"/>
                    <a:lumOff val="15000"/>
                  </a:schemeClr>
                </a:solidFill>
              </a:rPr>
              <a:t> </a:t>
            </a:r>
            <a:r>
              <a:rPr lang="en-US" dirty="0" err="1">
                <a:solidFill>
                  <a:schemeClr val="tx1">
                    <a:lumMod val="85000"/>
                    <a:lumOff val="15000"/>
                  </a:schemeClr>
                </a:solidFill>
              </a:rPr>
              <a:t>müəlliflik</a:t>
            </a:r>
            <a:r>
              <a:rPr lang="en-US" dirty="0">
                <a:solidFill>
                  <a:schemeClr val="tx1">
                    <a:lumMod val="85000"/>
                    <a:lumOff val="15000"/>
                  </a:schemeClr>
                </a:solidFill>
              </a:rPr>
              <a:t> </a:t>
            </a:r>
            <a:r>
              <a:rPr lang="en-US" dirty="0" err="1">
                <a:solidFill>
                  <a:schemeClr val="tx1">
                    <a:lumMod val="85000"/>
                    <a:lumOff val="15000"/>
                  </a:schemeClr>
                </a:solidFill>
              </a:rPr>
              <a:t>hüquqlarını</a:t>
            </a:r>
            <a:r>
              <a:rPr lang="en-US" dirty="0">
                <a:solidFill>
                  <a:schemeClr val="tx1">
                    <a:lumMod val="85000"/>
                    <a:lumOff val="15000"/>
                  </a:schemeClr>
                </a:solidFill>
              </a:rPr>
              <a:t> </a:t>
            </a:r>
            <a:r>
              <a:rPr lang="en-US" dirty="0" err="1">
                <a:solidFill>
                  <a:schemeClr val="tx1">
                    <a:lumMod val="85000"/>
                    <a:lumOff val="15000"/>
                  </a:schemeClr>
                </a:solidFill>
              </a:rPr>
              <a:t>başqa</a:t>
            </a:r>
            <a:r>
              <a:rPr lang="en-US" dirty="0">
                <a:solidFill>
                  <a:schemeClr val="tx1">
                    <a:lumMod val="85000"/>
                    <a:lumOff val="15000"/>
                  </a:schemeClr>
                </a:solidFill>
              </a:rPr>
              <a:t> </a:t>
            </a:r>
            <a:r>
              <a:rPr lang="en-US" dirty="0" err="1">
                <a:solidFill>
                  <a:schemeClr val="tx1">
                    <a:lumMod val="85000"/>
                    <a:lumOff val="15000"/>
                  </a:schemeClr>
                </a:solidFill>
              </a:rPr>
              <a:t>bir</a:t>
            </a:r>
            <a:r>
              <a:rPr lang="en-US" dirty="0">
                <a:solidFill>
                  <a:schemeClr val="tx1">
                    <a:lumMod val="85000"/>
                    <a:lumOff val="15000"/>
                  </a:schemeClr>
                </a:solidFill>
              </a:rPr>
              <a:t> </a:t>
            </a:r>
            <a:r>
              <a:rPr lang="en-US" dirty="0" err="1">
                <a:solidFill>
                  <a:schemeClr val="tx1">
                    <a:lumMod val="85000"/>
                    <a:lumOff val="15000"/>
                  </a:schemeClr>
                </a:solidFill>
              </a:rPr>
              <a:t>şəxsə</a:t>
            </a:r>
            <a:r>
              <a:rPr lang="en-US" dirty="0">
                <a:solidFill>
                  <a:schemeClr val="tx1">
                    <a:lumMod val="85000"/>
                    <a:lumOff val="15000"/>
                  </a:schemeClr>
                </a:solidFill>
              </a:rPr>
              <a:t> </a:t>
            </a:r>
            <a:r>
              <a:rPr lang="en-US" dirty="0" err="1">
                <a:solidFill>
                  <a:schemeClr val="tx1">
                    <a:lumMod val="85000"/>
                    <a:lumOff val="15000"/>
                  </a:schemeClr>
                </a:solidFill>
              </a:rPr>
              <a:t>və</a:t>
            </a:r>
            <a:r>
              <a:rPr lang="en-US" dirty="0">
                <a:solidFill>
                  <a:schemeClr val="tx1">
                    <a:lumMod val="85000"/>
                    <a:lumOff val="15000"/>
                  </a:schemeClr>
                </a:solidFill>
              </a:rPr>
              <a:t> </a:t>
            </a:r>
            <a:r>
              <a:rPr lang="en-US" dirty="0" err="1">
                <a:solidFill>
                  <a:schemeClr val="tx1">
                    <a:lumMod val="85000"/>
                    <a:lumOff val="15000"/>
                  </a:schemeClr>
                </a:solidFill>
              </a:rPr>
              <a:t>ya</a:t>
            </a:r>
            <a:r>
              <a:rPr lang="en-US" dirty="0">
                <a:solidFill>
                  <a:schemeClr val="tx1">
                    <a:lumMod val="85000"/>
                    <a:lumOff val="15000"/>
                  </a:schemeClr>
                </a:solidFill>
              </a:rPr>
              <a:t> </a:t>
            </a:r>
            <a:r>
              <a:rPr lang="en-US" dirty="0" err="1">
                <a:solidFill>
                  <a:schemeClr val="tx1">
                    <a:lumMod val="85000"/>
                    <a:lumOff val="15000"/>
                  </a:schemeClr>
                </a:solidFill>
              </a:rPr>
              <a:t>təşkilata</a:t>
            </a:r>
            <a:r>
              <a:rPr lang="en-US" dirty="0">
                <a:solidFill>
                  <a:schemeClr val="tx1">
                    <a:lumMod val="85000"/>
                    <a:lumOff val="15000"/>
                  </a:schemeClr>
                </a:solidFill>
              </a:rPr>
              <a:t> </a:t>
            </a:r>
            <a:r>
              <a:rPr lang="en-US" dirty="0" err="1">
                <a:solidFill>
                  <a:schemeClr val="tx1">
                    <a:lumMod val="85000"/>
                    <a:lumOff val="15000"/>
                  </a:schemeClr>
                </a:solidFill>
              </a:rPr>
              <a:t>ötürdükdə</a:t>
            </a:r>
            <a:r>
              <a:rPr lang="en-US" dirty="0">
                <a:solidFill>
                  <a:schemeClr val="tx1">
                    <a:lumMod val="85000"/>
                    <a:lumOff val="15000"/>
                  </a:schemeClr>
                </a:solidFill>
              </a:rPr>
              <a:t>,</a:t>
            </a:r>
            <a:endParaRPr lang="az-Latn-AZ" dirty="0">
              <a:solidFill>
                <a:schemeClr val="tx1">
                  <a:lumMod val="85000"/>
                  <a:lumOff val="15000"/>
                </a:schemeClr>
              </a:solidFill>
            </a:endParaRPr>
          </a:p>
          <a:p>
            <a:pPr marL="0" indent="0">
              <a:buNone/>
              <a:defRPr sz="2000"/>
            </a:pPr>
            <a:r>
              <a:rPr lang="en-US" dirty="0" err="1">
                <a:solidFill>
                  <a:schemeClr val="tx1">
                    <a:lumMod val="85000"/>
                    <a:lumOff val="15000"/>
                  </a:schemeClr>
                </a:solidFill>
              </a:rPr>
              <a:t>bu</a:t>
            </a:r>
            <a:r>
              <a:rPr lang="en-US" dirty="0">
                <a:solidFill>
                  <a:schemeClr val="tx1">
                    <a:lumMod val="85000"/>
                    <a:lumOff val="15000"/>
                  </a:schemeClr>
                </a:solidFill>
              </a:rPr>
              <a:t> </a:t>
            </a:r>
            <a:r>
              <a:rPr lang="en-US" dirty="0" err="1">
                <a:solidFill>
                  <a:schemeClr val="tx1">
                    <a:lumMod val="85000"/>
                    <a:lumOff val="15000"/>
                  </a:schemeClr>
                </a:solidFill>
              </a:rPr>
              <a:t>şəxs</a:t>
            </a:r>
            <a:r>
              <a:rPr lang="en-US" dirty="0">
                <a:solidFill>
                  <a:schemeClr val="tx1">
                    <a:lumMod val="85000"/>
                    <a:lumOff val="15000"/>
                  </a:schemeClr>
                </a:solidFill>
              </a:rPr>
              <a:t> </a:t>
            </a:r>
            <a:r>
              <a:rPr lang="en-US" b="1" dirty="0" err="1">
                <a:solidFill>
                  <a:schemeClr val="tx1">
                    <a:lumMod val="85000"/>
                    <a:lumOff val="15000"/>
                  </a:schemeClr>
                </a:solidFill>
              </a:rPr>
              <a:t>hüquq</a:t>
            </a:r>
            <a:r>
              <a:rPr lang="en-US" b="1" dirty="0">
                <a:solidFill>
                  <a:schemeClr val="tx1">
                    <a:lumMod val="85000"/>
                    <a:lumOff val="15000"/>
                  </a:schemeClr>
                </a:solidFill>
              </a:rPr>
              <a:t> </a:t>
            </a:r>
            <a:r>
              <a:rPr lang="en-US" b="1" dirty="0" err="1">
                <a:solidFill>
                  <a:schemeClr val="tx1">
                    <a:lumMod val="85000"/>
                    <a:lumOff val="15000"/>
                  </a:schemeClr>
                </a:solidFill>
              </a:rPr>
              <a:t>sahibi</a:t>
            </a:r>
            <a:r>
              <a:rPr lang="en-US" dirty="0">
                <a:solidFill>
                  <a:schemeClr val="tx1">
                    <a:lumMod val="85000"/>
                    <a:lumOff val="15000"/>
                  </a:schemeClr>
                </a:solidFill>
              </a:rPr>
              <a:t> </a:t>
            </a:r>
            <a:r>
              <a:rPr lang="en-US" dirty="0" err="1">
                <a:solidFill>
                  <a:schemeClr val="tx1">
                    <a:lumMod val="85000"/>
                    <a:lumOff val="15000"/>
                  </a:schemeClr>
                </a:solidFill>
              </a:rPr>
              <a:t>kimi</a:t>
            </a:r>
            <a:r>
              <a:rPr lang="en-US" dirty="0">
                <a:solidFill>
                  <a:schemeClr val="tx1">
                    <a:lumMod val="85000"/>
                    <a:lumOff val="15000"/>
                  </a:schemeClr>
                </a:solidFill>
              </a:rPr>
              <a:t> </a:t>
            </a:r>
            <a:r>
              <a:rPr lang="en-US" dirty="0" err="1">
                <a:solidFill>
                  <a:schemeClr val="tx1">
                    <a:lumMod val="85000"/>
                    <a:lumOff val="15000"/>
                  </a:schemeClr>
                </a:solidFill>
              </a:rPr>
              <a:t>tanınır</a:t>
            </a:r>
            <a:endParaRPr lang="az-Latn-AZ" dirty="0">
              <a:solidFill>
                <a:schemeClr val="tx1">
                  <a:lumMod val="85000"/>
                  <a:lumOff val="15000"/>
                </a:schemeClr>
              </a:solidFill>
            </a:endParaRPr>
          </a:p>
          <a:p>
            <a:pPr>
              <a:defRPr sz="2000"/>
            </a:pPr>
            <a:r>
              <a:rPr lang="en-US" b="1" dirty="0" err="1">
                <a:solidFill>
                  <a:schemeClr val="tx1">
                    <a:lumMod val="85000"/>
                    <a:lumOff val="15000"/>
                  </a:schemeClr>
                </a:solidFill>
              </a:rPr>
              <a:t>Nəşriyyatlar</a:t>
            </a:r>
            <a:r>
              <a:rPr lang="en-US" b="1" dirty="0">
                <a:solidFill>
                  <a:schemeClr val="tx1">
                    <a:lumMod val="85000"/>
                    <a:lumOff val="15000"/>
                  </a:schemeClr>
                </a:solidFill>
              </a:rPr>
              <a:t>, </a:t>
            </a:r>
            <a:r>
              <a:rPr lang="en-US" b="1" dirty="0" err="1">
                <a:solidFill>
                  <a:schemeClr val="tx1">
                    <a:lumMod val="85000"/>
                    <a:lumOff val="15000"/>
                  </a:schemeClr>
                </a:solidFill>
              </a:rPr>
              <a:t>prodüserlər</a:t>
            </a:r>
            <a:r>
              <a:rPr lang="en-US" b="1" dirty="0">
                <a:solidFill>
                  <a:schemeClr val="tx1">
                    <a:lumMod val="85000"/>
                    <a:lumOff val="15000"/>
                  </a:schemeClr>
                </a:solidFill>
              </a:rPr>
              <a:t> </a:t>
            </a:r>
            <a:r>
              <a:rPr lang="en-US" b="1" dirty="0" err="1">
                <a:solidFill>
                  <a:schemeClr val="tx1">
                    <a:lumMod val="85000"/>
                    <a:lumOff val="15000"/>
                  </a:schemeClr>
                </a:solidFill>
              </a:rPr>
              <a:t>və</a:t>
            </a:r>
            <a:r>
              <a:rPr lang="en-US" b="1" dirty="0">
                <a:solidFill>
                  <a:schemeClr val="tx1">
                    <a:lumMod val="85000"/>
                    <a:lumOff val="15000"/>
                  </a:schemeClr>
                </a:solidFill>
              </a:rPr>
              <a:t> </a:t>
            </a:r>
            <a:r>
              <a:rPr lang="en-US" b="1" dirty="0" err="1">
                <a:solidFill>
                  <a:schemeClr val="tx1">
                    <a:lumMod val="85000"/>
                    <a:lumOff val="15000"/>
                  </a:schemeClr>
                </a:solidFill>
              </a:rPr>
              <a:t>digər</a:t>
            </a:r>
            <a:r>
              <a:rPr lang="en-US" b="1" dirty="0">
                <a:solidFill>
                  <a:schemeClr val="tx1">
                    <a:lumMod val="85000"/>
                    <a:lumOff val="15000"/>
                  </a:schemeClr>
                </a:solidFill>
              </a:rPr>
              <a:t> </a:t>
            </a:r>
            <a:r>
              <a:rPr lang="en-US" b="1" dirty="0" err="1">
                <a:solidFill>
                  <a:schemeClr val="tx1">
                    <a:lumMod val="85000"/>
                    <a:lumOff val="15000"/>
                  </a:schemeClr>
                </a:solidFill>
              </a:rPr>
              <a:t>hüquqi</a:t>
            </a:r>
            <a:r>
              <a:rPr lang="en-US" b="1" dirty="0">
                <a:solidFill>
                  <a:schemeClr val="tx1">
                    <a:lumMod val="85000"/>
                    <a:lumOff val="15000"/>
                  </a:schemeClr>
                </a:solidFill>
              </a:rPr>
              <a:t> </a:t>
            </a:r>
            <a:r>
              <a:rPr lang="en-US" b="1" dirty="0" err="1">
                <a:solidFill>
                  <a:schemeClr val="tx1">
                    <a:lumMod val="85000"/>
                    <a:lumOff val="15000"/>
                  </a:schemeClr>
                </a:solidFill>
              </a:rPr>
              <a:t>şəxslər</a:t>
            </a:r>
            <a:r>
              <a:rPr lang="en-US" dirty="0">
                <a:solidFill>
                  <a:schemeClr val="tx1">
                    <a:lumMod val="85000"/>
                    <a:lumOff val="15000"/>
                  </a:schemeClr>
                </a:solidFill>
              </a:rPr>
              <a:t>, </a:t>
            </a:r>
            <a:r>
              <a:rPr lang="en-US" dirty="0" err="1">
                <a:solidFill>
                  <a:schemeClr val="tx1">
                    <a:lumMod val="85000"/>
                    <a:lumOff val="15000"/>
                  </a:schemeClr>
                </a:solidFill>
              </a:rPr>
              <a:t>müəllifdən</a:t>
            </a:r>
            <a:r>
              <a:rPr lang="en-US" dirty="0">
                <a:solidFill>
                  <a:schemeClr val="tx1">
                    <a:lumMod val="85000"/>
                    <a:lumOff val="15000"/>
                  </a:schemeClr>
                </a:solidFill>
              </a:rPr>
              <a:t> </a:t>
            </a:r>
            <a:r>
              <a:rPr lang="en-US" dirty="0" err="1">
                <a:solidFill>
                  <a:schemeClr val="tx1">
                    <a:lumMod val="85000"/>
                    <a:lumOff val="15000"/>
                  </a:schemeClr>
                </a:solidFill>
              </a:rPr>
              <a:t>əldə</a:t>
            </a:r>
            <a:endParaRPr lang="az-Latn-AZ" dirty="0">
              <a:solidFill>
                <a:schemeClr val="tx1">
                  <a:lumMod val="85000"/>
                  <a:lumOff val="15000"/>
                </a:schemeClr>
              </a:solidFill>
            </a:endParaRPr>
          </a:p>
          <a:p>
            <a:pPr marL="0" indent="0">
              <a:buNone/>
              <a:defRPr sz="2000"/>
            </a:pPr>
            <a:r>
              <a:rPr lang="az-Latn-AZ" dirty="0">
                <a:solidFill>
                  <a:schemeClr val="tx1">
                    <a:lumMod val="85000"/>
                    <a:lumOff val="15000"/>
                  </a:schemeClr>
                </a:solidFill>
              </a:rPr>
              <a:t>e</a:t>
            </a:r>
            <a:r>
              <a:rPr lang="en-US" dirty="0" err="1">
                <a:solidFill>
                  <a:schemeClr val="tx1">
                    <a:lumMod val="85000"/>
                    <a:lumOff val="15000"/>
                  </a:schemeClr>
                </a:solidFill>
              </a:rPr>
              <a:t>tdikləri</a:t>
            </a:r>
            <a:r>
              <a:rPr lang="en-US" dirty="0">
                <a:solidFill>
                  <a:schemeClr val="tx1">
                    <a:lumMod val="85000"/>
                    <a:lumOff val="15000"/>
                  </a:schemeClr>
                </a:solidFill>
              </a:rPr>
              <a:t> </a:t>
            </a:r>
            <a:r>
              <a:rPr lang="en-US" dirty="0" err="1">
                <a:solidFill>
                  <a:schemeClr val="tx1">
                    <a:lumMod val="85000"/>
                    <a:lumOff val="15000"/>
                  </a:schemeClr>
                </a:solidFill>
              </a:rPr>
              <a:t>hüquqlar</a:t>
            </a:r>
            <a:r>
              <a:rPr lang="en-US" dirty="0">
                <a:solidFill>
                  <a:schemeClr val="tx1">
                    <a:lumMod val="85000"/>
                    <a:lumOff val="15000"/>
                  </a:schemeClr>
                </a:solidFill>
              </a:rPr>
              <a:t> </a:t>
            </a:r>
            <a:r>
              <a:rPr lang="en-US" dirty="0" err="1">
                <a:solidFill>
                  <a:schemeClr val="tx1">
                    <a:lumMod val="85000"/>
                    <a:lumOff val="15000"/>
                  </a:schemeClr>
                </a:solidFill>
              </a:rPr>
              <a:t>əsasında</a:t>
            </a:r>
            <a:r>
              <a:rPr lang="en-US" dirty="0">
                <a:solidFill>
                  <a:schemeClr val="tx1">
                    <a:lumMod val="85000"/>
                    <a:lumOff val="15000"/>
                  </a:schemeClr>
                </a:solidFill>
              </a:rPr>
              <a:t> </a:t>
            </a:r>
            <a:r>
              <a:rPr lang="en-US" dirty="0" err="1">
                <a:solidFill>
                  <a:schemeClr val="tx1">
                    <a:lumMod val="85000"/>
                    <a:lumOff val="15000"/>
                  </a:schemeClr>
                </a:solidFill>
              </a:rPr>
              <a:t>əsəri</a:t>
            </a:r>
            <a:r>
              <a:rPr lang="en-US" dirty="0">
                <a:solidFill>
                  <a:schemeClr val="tx1">
                    <a:lumMod val="85000"/>
                    <a:lumOff val="15000"/>
                  </a:schemeClr>
                </a:solidFill>
              </a:rPr>
              <a:t> </a:t>
            </a:r>
            <a:r>
              <a:rPr lang="en-US" dirty="0" err="1">
                <a:solidFill>
                  <a:schemeClr val="tx1">
                    <a:lumMod val="85000"/>
                    <a:lumOff val="15000"/>
                  </a:schemeClr>
                </a:solidFill>
              </a:rPr>
              <a:t>yaymaq</a:t>
            </a:r>
            <a:r>
              <a:rPr lang="en-US" dirty="0">
                <a:solidFill>
                  <a:schemeClr val="tx1">
                    <a:lumMod val="85000"/>
                    <a:lumOff val="15000"/>
                  </a:schemeClr>
                </a:solidFill>
              </a:rPr>
              <a:t> </a:t>
            </a:r>
            <a:r>
              <a:rPr lang="en-US" dirty="0" err="1">
                <a:solidFill>
                  <a:schemeClr val="tx1">
                    <a:lumMod val="85000"/>
                    <a:lumOff val="15000"/>
                  </a:schemeClr>
                </a:solidFill>
              </a:rPr>
              <a:t>və</a:t>
            </a:r>
            <a:r>
              <a:rPr lang="en-US" dirty="0">
                <a:solidFill>
                  <a:schemeClr val="tx1">
                    <a:lumMod val="85000"/>
                    <a:lumOff val="15000"/>
                  </a:schemeClr>
                </a:solidFill>
              </a:rPr>
              <a:t> </a:t>
            </a:r>
            <a:r>
              <a:rPr lang="en-US" dirty="0" err="1">
                <a:solidFill>
                  <a:schemeClr val="tx1">
                    <a:lumMod val="85000"/>
                    <a:lumOff val="15000"/>
                  </a:schemeClr>
                </a:solidFill>
              </a:rPr>
              <a:t>istifadə</a:t>
            </a:r>
            <a:r>
              <a:rPr lang="en-US" dirty="0">
                <a:solidFill>
                  <a:schemeClr val="tx1">
                    <a:lumMod val="85000"/>
                    <a:lumOff val="15000"/>
                  </a:schemeClr>
                </a:solidFill>
              </a:rPr>
              <a:t> </a:t>
            </a:r>
            <a:r>
              <a:rPr lang="en-US" dirty="0" err="1">
                <a:solidFill>
                  <a:schemeClr val="tx1">
                    <a:lumMod val="85000"/>
                    <a:lumOff val="15000"/>
                  </a:schemeClr>
                </a:solidFill>
              </a:rPr>
              <a:t>etmək</a:t>
            </a:r>
            <a:r>
              <a:rPr lang="en-US" dirty="0">
                <a:solidFill>
                  <a:schemeClr val="tx1">
                    <a:lumMod val="85000"/>
                    <a:lumOff val="15000"/>
                  </a:schemeClr>
                </a:solidFill>
              </a:rPr>
              <a:t> </a:t>
            </a:r>
            <a:r>
              <a:rPr lang="en-US" dirty="0" err="1">
                <a:solidFill>
                  <a:schemeClr val="tx1">
                    <a:lumMod val="85000"/>
                    <a:lumOff val="15000"/>
                  </a:schemeClr>
                </a:solidFill>
              </a:rPr>
              <a:t>səlahiyyətinə</a:t>
            </a:r>
            <a:r>
              <a:rPr lang="en-US" dirty="0">
                <a:solidFill>
                  <a:schemeClr val="tx1">
                    <a:lumMod val="85000"/>
                    <a:lumOff val="15000"/>
                  </a:schemeClr>
                </a:solidFill>
              </a:rPr>
              <a:t> </a:t>
            </a:r>
            <a:r>
              <a:rPr lang="en-US" dirty="0" err="1">
                <a:solidFill>
                  <a:schemeClr val="tx1">
                    <a:lumMod val="85000"/>
                    <a:lumOff val="15000"/>
                  </a:schemeClr>
                </a:solidFill>
              </a:rPr>
              <a:t>malikdirlər</a:t>
            </a:r>
            <a:endParaRPr dirty="0">
              <a:solidFill>
                <a:schemeClr val="tx1">
                  <a:lumMod val="85000"/>
                  <a:lumOff val="15000"/>
                </a:schemeClr>
              </a:solidFill>
            </a:endParaRPr>
          </a:p>
        </p:txBody>
      </p:sp>
      <p:pic>
        <p:nvPicPr>
          <p:cNvPr id="5124" name="Picture 4" descr="Müəllif Hüquqları Uğrunda İctimai Birliyi | Baku">
            <a:extLst>
              <a:ext uri="{FF2B5EF4-FFF2-40B4-BE49-F238E27FC236}">
                <a16:creationId xmlns:a16="http://schemas.microsoft.com/office/drawing/2014/main" id="{E753F3F7-23FE-1B20-170E-98D6102DD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6265" y="1138685"/>
            <a:ext cx="3372679" cy="28984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az-Latn-AZ" b="1" dirty="0"/>
            </a:br>
            <a:r>
              <a:rPr lang="az-Latn-AZ" b="1" dirty="0"/>
              <a:t>Müəlliflik hüququnun obyektləri</a:t>
            </a:r>
            <a:br>
              <a:rPr lang="az-Latn-AZ" b="1" i="1" dirty="0"/>
            </a:br>
            <a:endParaRPr dirty="0"/>
          </a:p>
        </p:txBody>
      </p:sp>
      <p:sp>
        <p:nvSpPr>
          <p:cNvPr id="3" name="Content Placeholder 2"/>
          <p:cNvSpPr>
            <a:spLocks noGrp="1"/>
          </p:cNvSpPr>
          <p:nvPr>
            <p:ph idx="1"/>
          </p:nvPr>
        </p:nvSpPr>
        <p:spPr/>
        <p:txBody>
          <a:bodyPr>
            <a:normAutofit fontScale="92500" lnSpcReduction="10000"/>
          </a:bodyPr>
          <a:lstStyle/>
          <a:p>
            <a:pPr marL="457200" indent="-457200">
              <a:buAutoNum type="arabicPeriod"/>
              <a:defRPr sz="2000"/>
            </a:pPr>
            <a:r>
              <a:rPr lang="az-Latn-AZ" sz="2000" dirty="0"/>
              <a:t>Müəlliflik hüququ təyinatından, dəyərindən və məzmunundan, habelə ifadə formasından və üsulundan asılı olmayaraq yaradıcılıq fəaliyyətinin nəticəsi olan həm açıqlanmış, həm də açıqlanmamış, obyektiv formada mövcud olan elm, ədəbiyyat və incəsənət əsərlərinə şamil edilir.</a:t>
            </a:r>
          </a:p>
          <a:p>
            <a:pPr marL="457200" indent="-457200">
              <a:buAutoNum type="arabicPeriod"/>
              <a:defRPr sz="2000"/>
            </a:pPr>
            <a:r>
              <a:rPr lang="en-US" sz="2000" dirty="0" err="1"/>
              <a:t>Müəlliflik</a:t>
            </a:r>
            <a:r>
              <a:rPr lang="en-US" sz="2000" dirty="0"/>
              <a:t> </a:t>
            </a:r>
            <a:r>
              <a:rPr lang="en-US" sz="2000" dirty="0" err="1"/>
              <a:t>hüququ</a:t>
            </a:r>
            <a:r>
              <a:rPr lang="en-US" sz="2000" dirty="0"/>
              <a:t> </a:t>
            </a:r>
            <a:r>
              <a:rPr lang="en-US" sz="2000" dirty="0" err="1"/>
              <a:t>ilə</a:t>
            </a:r>
            <a:r>
              <a:rPr lang="en-US" sz="2000" dirty="0"/>
              <a:t> </a:t>
            </a:r>
            <a:r>
              <a:rPr lang="en-US" sz="2000" dirty="0" err="1"/>
              <a:t>qorunma</a:t>
            </a:r>
            <a:r>
              <a:rPr lang="en-US" sz="2000" dirty="0"/>
              <a:t> </a:t>
            </a:r>
            <a:r>
              <a:rPr lang="en-US" sz="2000" dirty="0" err="1"/>
              <a:t>öz-özlüyündə</a:t>
            </a:r>
            <a:r>
              <a:rPr lang="en-US" sz="2000" dirty="0"/>
              <a:t> </a:t>
            </a:r>
            <a:r>
              <a:rPr lang="en-US" sz="2000" dirty="0" err="1"/>
              <a:t>ideyalara</a:t>
            </a:r>
            <a:r>
              <a:rPr lang="en-US" sz="2000" dirty="0"/>
              <a:t>, </a:t>
            </a:r>
            <a:r>
              <a:rPr lang="en-US" sz="2000" dirty="0" err="1"/>
              <a:t>proseslərə</a:t>
            </a:r>
            <a:r>
              <a:rPr lang="en-US" sz="2000" dirty="0"/>
              <a:t>, </a:t>
            </a:r>
            <a:r>
              <a:rPr lang="en-US" sz="2000" dirty="0" err="1"/>
              <a:t>işləmə</a:t>
            </a:r>
            <a:r>
              <a:rPr lang="en-US" sz="2000" dirty="0"/>
              <a:t> </a:t>
            </a:r>
            <a:r>
              <a:rPr lang="en-US" sz="2000" dirty="0" err="1"/>
              <a:t>metodlarına</a:t>
            </a:r>
            <a:r>
              <a:rPr lang="en-US" sz="2000" dirty="0"/>
              <a:t> </a:t>
            </a:r>
            <a:r>
              <a:rPr lang="en-US" sz="2000" dirty="0" err="1"/>
              <a:t>və</a:t>
            </a:r>
            <a:r>
              <a:rPr lang="en-US" sz="2000" dirty="0"/>
              <a:t> </a:t>
            </a:r>
            <a:r>
              <a:rPr lang="en-US" sz="2000" dirty="0" err="1"/>
              <a:t>ya</a:t>
            </a:r>
            <a:r>
              <a:rPr lang="en-US" sz="2000" dirty="0"/>
              <a:t> </a:t>
            </a:r>
            <a:r>
              <a:rPr lang="en-US" sz="2000" dirty="0" err="1"/>
              <a:t>riyazi</a:t>
            </a:r>
            <a:r>
              <a:rPr lang="en-US" sz="2000" dirty="0"/>
              <a:t> </a:t>
            </a:r>
            <a:r>
              <a:rPr lang="en-US" sz="2000" dirty="0" err="1"/>
              <a:t>konsepsiyalara</a:t>
            </a:r>
            <a:r>
              <a:rPr lang="en-US" sz="2000" dirty="0"/>
              <a:t> </a:t>
            </a:r>
            <a:r>
              <a:rPr lang="en-US" sz="2000" dirty="0" err="1"/>
              <a:t>deyil</a:t>
            </a:r>
            <a:r>
              <a:rPr lang="en-US" sz="2000" dirty="0"/>
              <a:t>, </a:t>
            </a:r>
            <a:r>
              <a:rPr lang="en-US" sz="2000" dirty="0" err="1"/>
              <a:t>ifadə</a:t>
            </a:r>
            <a:r>
              <a:rPr lang="en-US" sz="2000" dirty="0"/>
              <a:t> </a:t>
            </a:r>
            <a:r>
              <a:rPr lang="en-US" sz="2000" dirty="0" err="1"/>
              <a:t>formasına</a:t>
            </a:r>
            <a:r>
              <a:rPr lang="en-US" sz="2000" dirty="0"/>
              <a:t> </a:t>
            </a:r>
            <a:r>
              <a:rPr lang="en-US" sz="2000" dirty="0" err="1"/>
              <a:t>şamil</a:t>
            </a:r>
            <a:r>
              <a:rPr lang="en-US" sz="2000" dirty="0"/>
              <a:t> </a:t>
            </a:r>
            <a:r>
              <a:rPr lang="en-US" sz="2000" dirty="0" err="1"/>
              <a:t>edilir</a:t>
            </a:r>
            <a:endParaRPr lang="az-Latn-AZ" sz="2000" dirty="0"/>
          </a:p>
          <a:p>
            <a:pPr marL="457200" indent="-457200">
              <a:buAutoNum type="arabicPeriod"/>
              <a:defRPr sz="2000"/>
            </a:pPr>
            <a:r>
              <a:rPr lang="az-Latn-AZ" sz="2000" dirty="0"/>
              <a:t>Əsərə müəlliflik hüququ onun ifadə edildiyi maddi obyektə olan mülkiyyət hüququ ilə bağlı deyil</a:t>
            </a:r>
          </a:p>
          <a:p>
            <a:pPr marL="457200" indent="-457200">
              <a:buAutoNum type="arabicPeriod"/>
              <a:defRPr sz="2000"/>
            </a:pPr>
            <a:r>
              <a:rPr lang="az-Latn-AZ" sz="2000" dirty="0"/>
              <a:t> Müəlliflik hüququnun şamil edildiyi həm açıqlanmış, həm də açıqlanmamış əsərlər aşağıdakı obyektiv formalarda mövcud ola bilər:</a:t>
            </a:r>
          </a:p>
          <a:p>
            <a:pPr marL="0" indent="0">
              <a:buNone/>
              <a:defRPr sz="2000"/>
            </a:pPr>
            <a:r>
              <a:rPr lang="az-Latn-AZ" sz="2000" dirty="0"/>
              <a:t>              </a:t>
            </a:r>
            <a:r>
              <a:rPr lang="az-Latn-AZ" sz="2000" b="1" dirty="0"/>
              <a:t>yazılı</a:t>
            </a:r>
          </a:p>
          <a:p>
            <a:pPr>
              <a:defRPr sz="2000"/>
            </a:pPr>
            <a:r>
              <a:rPr lang="az-Latn-AZ" sz="2000" b="1" dirty="0"/>
              <a:t>              şifahi</a:t>
            </a:r>
          </a:p>
          <a:p>
            <a:pPr>
              <a:defRPr sz="2000"/>
            </a:pPr>
            <a:r>
              <a:rPr lang="az-Latn-AZ" sz="2000" b="1" dirty="0"/>
              <a:t>              səs və yaxud videoyazılma</a:t>
            </a:r>
          </a:p>
          <a:p>
            <a:pPr>
              <a:defRPr sz="2000"/>
            </a:pPr>
            <a:r>
              <a:rPr lang="az-Latn-AZ" sz="2000" b="1" dirty="0"/>
              <a:t>              təsviri</a:t>
            </a:r>
          </a:p>
          <a:p>
            <a:pPr>
              <a:defRPr sz="2000"/>
            </a:pPr>
            <a:r>
              <a:rPr lang="az-Latn-AZ" sz="2000" b="1" dirty="0"/>
              <a:t>              həcmli(fəzavi)</a:t>
            </a:r>
            <a:endParaRPr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latin typeface="Ink Free" panose="03080402000500000000" pitchFamily="66" charset="0"/>
              </a:rPr>
              <a:t>Əlaqəli</a:t>
            </a:r>
            <a:r>
              <a:rPr dirty="0">
                <a:latin typeface="Ink Free" panose="03080402000500000000" pitchFamily="66" charset="0"/>
              </a:rPr>
              <a:t> </a:t>
            </a:r>
            <a:r>
              <a:rPr dirty="0" err="1">
                <a:latin typeface="Ink Free" panose="03080402000500000000" pitchFamily="66" charset="0"/>
              </a:rPr>
              <a:t>hüquqların</a:t>
            </a:r>
            <a:r>
              <a:rPr dirty="0">
                <a:latin typeface="Ink Free" panose="03080402000500000000" pitchFamily="66" charset="0"/>
              </a:rPr>
              <a:t> </a:t>
            </a:r>
            <a:r>
              <a:rPr dirty="0" err="1">
                <a:latin typeface="Ink Free" panose="03080402000500000000" pitchFamily="66" charset="0"/>
              </a:rPr>
              <a:t>növləri</a:t>
            </a:r>
            <a:endParaRPr dirty="0">
              <a:latin typeface="Ink Free" panose="03080402000500000000" pitchFamily="66" charset="0"/>
            </a:endParaRPr>
          </a:p>
        </p:txBody>
      </p:sp>
      <p:sp>
        <p:nvSpPr>
          <p:cNvPr id="3" name="Content Placeholder 2"/>
          <p:cNvSpPr>
            <a:spLocks noGrp="1"/>
          </p:cNvSpPr>
          <p:nvPr>
            <p:ph idx="1"/>
          </p:nvPr>
        </p:nvSpPr>
        <p:spPr>
          <a:xfrm>
            <a:off x="457200" y="1600200"/>
            <a:ext cx="8229600" cy="4886325"/>
          </a:xfrm>
        </p:spPr>
        <p:txBody>
          <a:bodyPr>
            <a:normAutofit fontScale="55000" lnSpcReduction="20000"/>
          </a:bodyPr>
          <a:lstStyle/>
          <a:p>
            <a:pPr marL="0" indent="0">
              <a:buNone/>
            </a:pPr>
            <a:r>
              <a:rPr lang="en-US" b="1" dirty="0"/>
              <a:t>1. </a:t>
            </a:r>
            <a:r>
              <a:rPr lang="en-US" b="1" dirty="0" err="1"/>
              <a:t>İfaçıların</a:t>
            </a:r>
            <a:r>
              <a:rPr lang="en-US" b="1" dirty="0"/>
              <a:t> </a:t>
            </a:r>
            <a:r>
              <a:rPr lang="en-US" b="1" dirty="0" err="1"/>
              <a:t>hüquqları</a:t>
            </a:r>
            <a:endParaRPr lang="en-US" b="1" dirty="0"/>
          </a:p>
          <a:p>
            <a:r>
              <a:rPr lang="en-US" dirty="0" err="1"/>
              <a:t>Musiqiçilər</a:t>
            </a:r>
            <a:r>
              <a:rPr lang="en-US" dirty="0"/>
              <a:t>, </a:t>
            </a:r>
            <a:r>
              <a:rPr lang="en-US" dirty="0" err="1"/>
              <a:t>aktyorlar</a:t>
            </a:r>
            <a:r>
              <a:rPr lang="en-US" dirty="0"/>
              <a:t>, </a:t>
            </a:r>
            <a:r>
              <a:rPr lang="en-US" dirty="0" err="1"/>
              <a:t>rəqqaslar</a:t>
            </a:r>
            <a:r>
              <a:rPr lang="en-US" dirty="0"/>
              <a:t> </a:t>
            </a:r>
            <a:r>
              <a:rPr lang="en-US" dirty="0" err="1"/>
              <a:t>və</a:t>
            </a:r>
            <a:r>
              <a:rPr lang="en-US" dirty="0"/>
              <a:t> </a:t>
            </a:r>
            <a:r>
              <a:rPr lang="en-US" dirty="0" err="1"/>
              <a:t>digər</a:t>
            </a:r>
            <a:r>
              <a:rPr lang="en-US" dirty="0"/>
              <a:t> </a:t>
            </a:r>
            <a:r>
              <a:rPr lang="en-US" dirty="0" err="1"/>
              <a:t>ifaçılar</a:t>
            </a:r>
            <a:r>
              <a:rPr lang="en-US" dirty="0"/>
              <a:t> </a:t>
            </a:r>
            <a:r>
              <a:rPr lang="en-US" dirty="0" err="1"/>
              <a:t>tərəfindən</a:t>
            </a:r>
            <a:r>
              <a:rPr lang="en-US" dirty="0"/>
              <a:t> </a:t>
            </a:r>
            <a:r>
              <a:rPr lang="en-US" dirty="0" err="1"/>
              <a:t>həyata</a:t>
            </a:r>
            <a:r>
              <a:rPr lang="en-US" dirty="0"/>
              <a:t> </a:t>
            </a:r>
            <a:r>
              <a:rPr lang="en-US" dirty="0" err="1"/>
              <a:t>keçirilən</a:t>
            </a:r>
            <a:r>
              <a:rPr lang="en-US" dirty="0"/>
              <a:t> </a:t>
            </a:r>
            <a:r>
              <a:rPr lang="en-US" b="1" dirty="0" err="1"/>
              <a:t>ifa</a:t>
            </a:r>
            <a:r>
              <a:rPr lang="en-US" b="1" dirty="0"/>
              <a:t> </a:t>
            </a:r>
            <a:r>
              <a:rPr lang="en-US" b="1" dirty="0" err="1"/>
              <a:t>və</a:t>
            </a:r>
            <a:r>
              <a:rPr lang="en-US" b="1" dirty="0"/>
              <a:t> </a:t>
            </a:r>
            <a:r>
              <a:rPr lang="en-US" b="1" dirty="0" err="1"/>
              <a:t>çıxışların</a:t>
            </a:r>
            <a:r>
              <a:rPr lang="en-US" dirty="0"/>
              <a:t> </a:t>
            </a:r>
            <a:r>
              <a:rPr lang="en-US" dirty="0" err="1"/>
              <a:t>qorunması</a:t>
            </a:r>
            <a:endParaRPr lang="en-US" dirty="0"/>
          </a:p>
          <a:p>
            <a:r>
              <a:rPr lang="en-US" dirty="0" err="1"/>
              <a:t>İfanın</a:t>
            </a:r>
            <a:r>
              <a:rPr lang="en-US" dirty="0"/>
              <a:t> </a:t>
            </a:r>
            <a:r>
              <a:rPr lang="en-US" dirty="0" err="1"/>
              <a:t>yazılması</a:t>
            </a:r>
            <a:r>
              <a:rPr lang="en-US" dirty="0"/>
              <a:t>, </a:t>
            </a:r>
            <a:r>
              <a:rPr lang="en-US" dirty="0" err="1"/>
              <a:t>yayılması</a:t>
            </a:r>
            <a:r>
              <a:rPr lang="en-US" dirty="0"/>
              <a:t> </a:t>
            </a:r>
            <a:r>
              <a:rPr lang="en-US" dirty="0" err="1"/>
              <a:t>və</a:t>
            </a:r>
            <a:r>
              <a:rPr lang="en-US" dirty="0"/>
              <a:t> </a:t>
            </a:r>
            <a:r>
              <a:rPr lang="en-US" dirty="0" err="1"/>
              <a:t>təkrar</a:t>
            </a:r>
            <a:r>
              <a:rPr lang="en-US" dirty="0"/>
              <a:t> </a:t>
            </a:r>
            <a:r>
              <a:rPr lang="en-US" dirty="0" err="1"/>
              <a:t>istifadəsinə</a:t>
            </a:r>
            <a:r>
              <a:rPr lang="en-US" dirty="0"/>
              <a:t> </a:t>
            </a:r>
            <a:r>
              <a:rPr lang="en-US" dirty="0" err="1"/>
              <a:t>icazə</a:t>
            </a:r>
            <a:r>
              <a:rPr lang="en-US" dirty="0"/>
              <a:t> </a:t>
            </a:r>
            <a:r>
              <a:rPr lang="en-US" dirty="0" err="1"/>
              <a:t>verilməsi</a:t>
            </a:r>
            <a:br>
              <a:rPr lang="en-US" dirty="0"/>
            </a:br>
            <a:endParaRPr lang="en-US" dirty="0"/>
          </a:p>
          <a:p>
            <a:pPr marL="0" indent="0">
              <a:buNone/>
            </a:pPr>
            <a:r>
              <a:rPr lang="en-US" b="1" dirty="0"/>
              <a:t>2. </a:t>
            </a:r>
            <a:r>
              <a:rPr lang="en-US" b="1" dirty="0" err="1"/>
              <a:t>Fonoqram</a:t>
            </a:r>
            <a:r>
              <a:rPr lang="en-US" b="1" dirty="0"/>
              <a:t> </a:t>
            </a:r>
            <a:r>
              <a:rPr lang="en-US" b="1" dirty="0" err="1"/>
              <a:t>istehsalçılarının</a:t>
            </a:r>
            <a:r>
              <a:rPr lang="en-US" b="1" dirty="0"/>
              <a:t> </a:t>
            </a:r>
            <a:r>
              <a:rPr lang="en-US" b="1" dirty="0" err="1"/>
              <a:t>hüquqları</a:t>
            </a:r>
            <a:endParaRPr lang="en-US" b="1" dirty="0"/>
          </a:p>
          <a:p>
            <a:r>
              <a:rPr lang="en-US" dirty="0" err="1"/>
              <a:t>Musiqi</a:t>
            </a:r>
            <a:r>
              <a:rPr lang="en-US" dirty="0"/>
              <a:t> </a:t>
            </a:r>
            <a:r>
              <a:rPr lang="en-US" dirty="0" err="1"/>
              <a:t>yazılarını</a:t>
            </a:r>
            <a:r>
              <a:rPr lang="en-US" dirty="0"/>
              <a:t> (</a:t>
            </a:r>
            <a:r>
              <a:rPr lang="en-US" dirty="0" err="1"/>
              <a:t>fonoqramları</a:t>
            </a:r>
            <a:r>
              <a:rPr lang="en-US" dirty="0"/>
              <a:t>) </a:t>
            </a:r>
            <a:r>
              <a:rPr lang="en-US" dirty="0" err="1"/>
              <a:t>yaradan</a:t>
            </a:r>
            <a:r>
              <a:rPr lang="en-US" dirty="0"/>
              <a:t> </a:t>
            </a:r>
            <a:r>
              <a:rPr lang="en-US" dirty="0" err="1"/>
              <a:t>studiya</a:t>
            </a:r>
            <a:r>
              <a:rPr lang="en-US" dirty="0"/>
              <a:t> </a:t>
            </a:r>
            <a:r>
              <a:rPr lang="en-US" dirty="0" err="1"/>
              <a:t>və</a:t>
            </a:r>
            <a:r>
              <a:rPr lang="en-US" dirty="0"/>
              <a:t> </a:t>
            </a:r>
            <a:r>
              <a:rPr lang="en-US" dirty="0" err="1"/>
              <a:t>şirkətlərin</a:t>
            </a:r>
            <a:r>
              <a:rPr lang="en-US" dirty="0"/>
              <a:t> </a:t>
            </a:r>
            <a:r>
              <a:rPr lang="en-US" dirty="0" err="1"/>
              <a:t>hüquqları</a:t>
            </a:r>
            <a:endParaRPr lang="en-US" dirty="0"/>
          </a:p>
          <a:p>
            <a:r>
              <a:rPr lang="en-US" dirty="0" err="1"/>
              <a:t>Yazının</a:t>
            </a:r>
            <a:r>
              <a:rPr lang="en-US" dirty="0"/>
              <a:t> </a:t>
            </a:r>
            <a:r>
              <a:rPr lang="en-US" dirty="0" err="1"/>
              <a:t>çoxaldılması</a:t>
            </a:r>
            <a:r>
              <a:rPr lang="en-US" dirty="0"/>
              <a:t>, </a:t>
            </a:r>
            <a:r>
              <a:rPr lang="en-US" dirty="0" err="1"/>
              <a:t>kommersiya</a:t>
            </a:r>
            <a:r>
              <a:rPr lang="en-US" dirty="0"/>
              <a:t> </a:t>
            </a:r>
            <a:r>
              <a:rPr lang="en-US" dirty="0" err="1"/>
              <a:t>istifadəsi</a:t>
            </a:r>
            <a:r>
              <a:rPr lang="en-US" dirty="0"/>
              <a:t> </a:t>
            </a:r>
            <a:r>
              <a:rPr lang="en-US" dirty="0" err="1"/>
              <a:t>və</a:t>
            </a:r>
            <a:r>
              <a:rPr lang="en-US" dirty="0"/>
              <a:t> </a:t>
            </a:r>
            <a:r>
              <a:rPr lang="en-US" dirty="0" err="1"/>
              <a:t>yayılmasına</a:t>
            </a:r>
            <a:r>
              <a:rPr lang="en-US" dirty="0"/>
              <a:t> </a:t>
            </a:r>
            <a:r>
              <a:rPr lang="en-US" dirty="0" err="1"/>
              <a:t>nəzarət</a:t>
            </a:r>
            <a:endParaRPr lang="en-US" dirty="0"/>
          </a:p>
          <a:p>
            <a:pPr marL="0" indent="0">
              <a:buNone/>
            </a:pPr>
            <a:br>
              <a:rPr lang="en-US" dirty="0"/>
            </a:br>
            <a:endParaRPr lang="en-US" dirty="0"/>
          </a:p>
          <a:p>
            <a:pPr marL="0" indent="0">
              <a:buNone/>
            </a:pPr>
            <a:r>
              <a:rPr lang="en-US" b="1" dirty="0"/>
              <a:t>3. Radio </a:t>
            </a:r>
            <a:r>
              <a:rPr lang="en-US" b="1" dirty="0" err="1"/>
              <a:t>və</a:t>
            </a:r>
            <a:r>
              <a:rPr lang="en-US" b="1" dirty="0"/>
              <a:t> </a:t>
            </a:r>
            <a:r>
              <a:rPr lang="en-US" b="1" dirty="0" err="1"/>
              <a:t>televiziya</a:t>
            </a:r>
            <a:r>
              <a:rPr lang="en-US" b="1" dirty="0"/>
              <a:t> </a:t>
            </a:r>
            <a:r>
              <a:rPr lang="en-US" b="1" dirty="0" err="1"/>
              <a:t>yayımçılarının</a:t>
            </a:r>
            <a:r>
              <a:rPr lang="en-US" b="1" dirty="0"/>
              <a:t> </a:t>
            </a:r>
            <a:r>
              <a:rPr lang="en-US" b="1" dirty="0" err="1"/>
              <a:t>hüquqları</a:t>
            </a:r>
            <a:endParaRPr lang="en-US" b="1" dirty="0"/>
          </a:p>
          <a:p>
            <a:r>
              <a:rPr lang="en-US" dirty="0" err="1"/>
              <a:t>Televiziya</a:t>
            </a:r>
            <a:r>
              <a:rPr lang="en-US" dirty="0"/>
              <a:t> </a:t>
            </a:r>
            <a:r>
              <a:rPr lang="en-US" dirty="0" err="1"/>
              <a:t>və</a:t>
            </a:r>
            <a:r>
              <a:rPr lang="en-US" dirty="0"/>
              <a:t> radio </a:t>
            </a:r>
            <a:r>
              <a:rPr lang="en-US" dirty="0" err="1"/>
              <a:t>kanallarının</a:t>
            </a:r>
            <a:r>
              <a:rPr lang="en-US" dirty="0"/>
              <a:t> </a:t>
            </a:r>
            <a:r>
              <a:rPr lang="en-US" dirty="0" err="1"/>
              <a:t>hazırladığı</a:t>
            </a:r>
            <a:r>
              <a:rPr lang="en-US" dirty="0"/>
              <a:t> </a:t>
            </a:r>
            <a:r>
              <a:rPr lang="en-US" b="1" dirty="0" err="1"/>
              <a:t>verilişlər</a:t>
            </a:r>
            <a:r>
              <a:rPr lang="en-US" b="1" dirty="0"/>
              <a:t> </a:t>
            </a:r>
            <a:r>
              <a:rPr lang="en-US" b="1" dirty="0" err="1"/>
              <a:t>və</a:t>
            </a:r>
            <a:r>
              <a:rPr lang="en-US" b="1" dirty="0"/>
              <a:t> </a:t>
            </a:r>
            <a:r>
              <a:rPr lang="en-US" b="1" dirty="0" err="1"/>
              <a:t>yayımlar</a:t>
            </a:r>
            <a:r>
              <a:rPr lang="en-US" dirty="0"/>
              <a:t> </a:t>
            </a:r>
            <a:r>
              <a:rPr lang="en-US" dirty="0" err="1"/>
              <a:t>üzərində</a:t>
            </a:r>
            <a:r>
              <a:rPr lang="en-US" dirty="0"/>
              <a:t> </a:t>
            </a:r>
            <a:r>
              <a:rPr lang="en-US" dirty="0" err="1"/>
              <a:t>hüquqlar</a:t>
            </a:r>
            <a:endParaRPr lang="en-US" dirty="0"/>
          </a:p>
          <a:p>
            <a:r>
              <a:rPr lang="en-US" dirty="0" err="1"/>
              <a:t>Yayımların</a:t>
            </a:r>
            <a:r>
              <a:rPr lang="en-US" dirty="0"/>
              <a:t> </a:t>
            </a:r>
            <a:r>
              <a:rPr lang="en-US" dirty="0" err="1"/>
              <a:t>təkrarlanması</a:t>
            </a:r>
            <a:r>
              <a:rPr lang="en-US" dirty="0"/>
              <a:t> </a:t>
            </a:r>
            <a:r>
              <a:rPr lang="en-US" dirty="0" err="1"/>
              <a:t>və</a:t>
            </a:r>
            <a:r>
              <a:rPr lang="en-US" dirty="0"/>
              <a:t> </a:t>
            </a:r>
            <a:r>
              <a:rPr lang="en-US" dirty="0" err="1"/>
              <a:t>başqa</a:t>
            </a:r>
            <a:r>
              <a:rPr lang="en-US" dirty="0"/>
              <a:t> </a:t>
            </a:r>
            <a:r>
              <a:rPr lang="en-US" dirty="0" err="1"/>
              <a:t>platformalarda</a:t>
            </a:r>
            <a:r>
              <a:rPr lang="en-US" dirty="0"/>
              <a:t> </a:t>
            </a:r>
            <a:r>
              <a:rPr lang="en-US" dirty="0" err="1"/>
              <a:t>istifadəsinə</a:t>
            </a:r>
            <a:r>
              <a:rPr lang="en-US" dirty="0"/>
              <a:t> </a:t>
            </a:r>
            <a:r>
              <a:rPr lang="en-US" dirty="0" err="1"/>
              <a:t>icazə</a:t>
            </a:r>
            <a:r>
              <a:rPr lang="en-US" dirty="0"/>
              <a:t> </a:t>
            </a:r>
            <a:r>
              <a:rPr lang="en-US" dirty="0" err="1"/>
              <a:t>verilməsi</a:t>
            </a:r>
            <a:endParaRPr lang="en-US" dirty="0"/>
          </a:p>
          <a:p>
            <a:pPr marL="0" indent="0">
              <a:buNone/>
            </a:pPr>
            <a:br>
              <a:rPr lang="en-US" dirty="0"/>
            </a:br>
            <a:endParaRPr lang="en-US" dirty="0"/>
          </a:p>
          <a:p>
            <a:pPr marL="0" indent="0">
              <a:buNone/>
            </a:pPr>
            <a:r>
              <a:rPr lang="en-US" b="1" dirty="0"/>
              <a:t>4. Kino </a:t>
            </a:r>
            <a:r>
              <a:rPr lang="en-US" b="1" dirty="0" err="1"/>
              <a:t>və</a:t>
            </a:r>
            <a:r>
              <a:rPr lang="en-US" b="1" dirty="0"/>
              <a:t> </a:t>
            </a:r>
            <a:r>
              <a:rPr lang="en-US" b="1" dirty="0" err="1"/>
              <a:t>tamaşa</a:t>
            </a:r>
            <a:r>
              <a:rPr lang="en-US" b="1" dirty="0"/>
              <a:t> </a:t>
            </a:r>
            <a:r>
              <a:rPr lang="en-US" b="1" dirty="0" err="1"/>
              <a:t>istehsalçılarının</a:t>
            </a:r>
            <a:r>
              <a:rPr lang="en-US" b="1" dirty="0"/>
              <a:t> </a:t>
            </a:r>
            <a:r>
              <a:rPr lang="en-US" b="1" dirty="0" err="1"/>
              <a:t>hüquqları</a:t>
            </a:r>
            <a:r>
              <a:rPr lang="en-US" b="1" dirty="0"/>
              <a:t> (</a:t>
            </a:r>
            <a:r>
              <a:rPr lang="en-US" b="1" dirty="0" err="1"/>
              <a:t>bəzən</a:t>
            </a:r>
            <a:r>
              <a:rPr lang="en-US" b="1" dirty="0"/>
              <a:t> </a:t>
            </a:r>
            <a:r>
              <a:rPr lang="en-US" b="1" dirty="0" err="1"/>
              <a:t>ayrıca</a:t>
            </a:r>
            <a:r>
              <a:rPr lang="en-US" b="1" dirty="0"/>
              <a:t> </a:t>
            </a:r>
            <a:r>
              <a:rPr lang="en-US" b="1" dirty="0" err="1"/>
              <a:t>göstərilir</a:t>
            </a:r>
            <a:r>
              <a:rPr lang="en-US" b="1" dirty="0"/>
              <a:t>)</a:t>
            </a:r>
          </a:p>
          <a:p>
            <a:r>
              <a:rPr lang="en-US" dirty="0" err="1"/>
              <a:t>Tamaşaların</a:t>
            </a:r>
            <a:r>
              <a:rPr lang="en-US" dirty="0"/>
              <a:t>, kino </a:t>
            </a:r>
            <a:r>
              <a:rPr lang="en-US" dirty="0" err="1"/>
              <a:t>və</a:t>
            </a:r>
            <a:r>
              <a:rPr lang="en-US" dirty="0"/>
              <a:t> </a:t>
            </a:r>
            <a:r>
              <a:rPr lang="en-US" dirty="0" err="1"/>
              <a:t>digər</a:t>
            </a:r>
            <a:r>
              <a:rPr lang="en-US" dirty="0"/>
              <a:t> </a:t>
            </a:r>
            <a:r>
              <a:rPr lang="en-US" dirty="0" err="1"/>
              <a:t>səhnə</a:t>
            </a:r>
            <a:r>
              <a:rPr lang="en-US" dirty="0"/>
              <a:t> </a:t>
            </a:r>
            <a:r>
              <a:rPr lang="en-US" dirty="0" err="1"/>
              <a:t>əsərlərinin</a:t>
            </a:r>
            <a:r>
              <a:rPr lang="en-US" dirty="0"/>
              <a:t> </a:t>
            </a:r>
            <a:r>
              <a:rPr lang="en-US" dirty="0" err="1"/>
              <a:t>istehsalçılarına</a:t>
            </a:r>
            <a:r>
              <a:rPr lang="en-US" dirty="0"/>
              <a:t> </a:t>
            </a:r>
            <a:r>
              <a:rPr lang="en-US" dirty="0" err="1"/>
              <a:t>məxsus</a:t>
            </a:r>
            <a:r>
              <a:rPr lang="en-US" dirty="0"/>
              <a:t> </a:t>
            </a:r>
            <a:r>
              <a:rPr lang="en-US" dirty="0" err="1"/>
              <a:t>hüquqlar</a:t>
            </a:r>
            <a:endParaRPr lang="en-US" dirty="0"/>
          </a:p>
          <a:p>
            <a:r>
              <a:rPr lang="en-US" dirty="0" err="1"/>
              <a:t>Yazılmış</a:t>
            </a:r>
            <a:r>
              <a:rPr lang="en-US" dirty="0"/>
              <a:t> </a:t>
            </a:r>
            <a:r>
              <a:rPr lang="en-US" dirty="0" err="1"/>
              <a:t>materialın</a:t>
            </a:r>
            <a:r>
              <a:rPr lang="en-US" dirty="0"/>
              <a:t> </a:t>
            </a:r>
            <a:r>
              <a:rPr lang="en-US" dirty="0" err="1"/>
              <a:t>nümayişi</a:t>
            </a:r>
            <a:r>
              <a:rPr lang="en-US" dirty="0"/>
              <a:t>, </a:t>
            </a:r>
            <a:r>
              <a:rPr lang="en-US" dirty="0" err="1"/>
              <a:t>çoxaldılması</a:t>
            </a:r>
            <a:r>
              <a:rPr lang="en-US" dirty="0"/>
              <a:t> </a:t>
            </a:r>
            <a:r>
              <a:rPr lang="en-US" dirty="0" err="1"/>
              <a:t>və</a:t>
            </a:r>
            <a:r>
              <a:rPr lang="en-US" dirty="0"/>
              <a:t> </a:t>
            </a:r>
            <a:r>
              <a:rPr lang="en-US" dirty="0" err="1"/>
              <a:t>satışı</a:t>
            </a:r>
            <a:endParaRPr lang="en-US" dirty="0"/>
          </a:p>
          <a:p>
            <a:pPr marL="0" indent="0">
              <a:buNone/>
              <a:defRPr sz="2000"/>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err="1"/>
              <a:t>Müəllif</a:t>
            </a:r>
            <a:r>
              <a:rPr dirty="0"/>
              <a:t> </a:t>
            </a:r>
            <a:r>
              <a:rPr dirty="0" err="1"/>
              <a:t>hüququ</a:t>
            </a:r>
            <a:r>
              <a:rPr dirty="0"/>
              <a:t> </a:t>
            </a:r>
            <a:r>
              <a:rPr dirty="0" err="1"/>
              <a:t>və</a:t>
            </a:r>
            <a:r>
              <a:rPr dirty="0"/>
              <a:t> </a:t>
            </a:r>
            <a:r>
              <a:rPr dirty="0" err="1"/>
              <a:t>əlaqəli</a:t>
            </a:r>
            <a:r>
              <a:rPr dirty="0"/>
              <a:t> </a:t>
            </a:r>
            <a:r>
              <a:rPr dirty="0" err="1"/>
              <a:t>hüquqların</a:t>
            </a:r>
            <a:r>
              <a:rPr dirty="0"/>
              <a:t> </a:t>
            </a:r>
            <a:r>
              <a:rPr dirty="0" err="1"/>
              <a:t>fərqləri</a:t>
            </a:r>
            <a:endParaRPr dirty="0"/>
          </a:p>
        </p:txBody>
      </p:sp>
      <p:sp>
        <p:nvSpPr>
          <p:cNvPr id="3" name="Content Placeholder 2"/>
          <p:cNvSpPr>
            <a:spLocks noGrp="1"/>
          </p:cNvSpPr>
          <p:nvPr>
            <p:ph idx="1"/>
          </p:nvPr>
        </p:nvSpPr>
        <p:spPr/>
        <p:txBody>
          <a:bodyPr/>
          <a:lstStyle/>
          <a:p>
            <a:pPr>
              <a:defRPr sz="2000"/>
            </a:pPr>
            <a:r>
              <a:rPr lang="en-US" b="1" dirty="0" err="1"/>
              <a:t>Müəllif</a:t>
            </a:r>
            <a:r>
              <a:rPr lang="en-US" b="1" dirty="0"/>
              <a:t> </a:t>
            </a:r>
            <a:r>
              <a:rPr lang="en-US" b="1" dirty="0" err="1"/>
              <a:t>hüququ</a:t>
            </a:r>
            <a:r>
              <a:rPr lang="en-US" dirty="0"/>
              <a:t> – </a:t>
            </a:r>
            <a:r>
              <a:rPr lang="en-US" dirty="0" err="1"/>
              <a:t>əsəri</a:t>
            </a:r>
            <a:r>
              <a:rPr lang="en-US" dirty="0"/>
              <a:t> </a:t>
            </a:r>
            <a:r>
              <a:rPr lang="en-US" b="1" dirty="0" err="1"/>
              <a:t>yaradan</a:t>
            </a:r>
            <a:r>
              <a:rPr lang="en-US" b="1" dirty="0"/>
              <a:t> </a:t>
            </a:r>
            <a:r>
              <a:rPr lang="en-US" b="1" dirty="0" err="1"/>
              <a:t>şəxsin</a:t>
            </a:r>
            <a:r>
              <a:rPr lang="en-US" dirty="0"/>
              <a:t> </a:t>
            </a:r>
            <a:r>
              <a:rPr lang="en-US" dirty="0" err="1"/>
              <a:t>hüquqlarını</a:t>
            </a:r>
            <a:r>
              <a:rPr lang="en-US" dirty="0"/>
              <a:t> </a:t>
            </a:r>
            <a:r>
              <a:rPr lang="en-US" dirty="0" err="1"/>
              <a:t>qoruyur</a:t>
            </a:r>
            <a:r>
              <a:rPr lang="en-US" dirty="0"/>
              <a:t>.</a:t>
            </a:r>
          </a:p>
          <a:p>
            <a:pPr>
              <a:defRPr sz="2000"/>
            </a:pPr>
            <a:r>
              <a:rPr lang="en-US" b="1" dirty="0" err="1"/>
              <a:t>Əlaqəli</a:t>
            </a:r>
            <a:r>
              <a:rPr lang="en-US" b="1" dirty="0"/>
              <a:t> </a:t>
            </a:r>
            <a:r>
              <a:rPr lang="en-US" b="1" dirty="0" err="1"/>
              <a:t>hüquqlar</a:t>
            </a:r>
            <a:r>
              <a:rPr lang="en-US" dirty="0"/>
              <a:t> – </a:t>
            </a:r>
            <a:r>
              <a:rPr lang="en-US" dirty="0" err="1"/>
              <a:t>əsərin</a:t>
            </a:r>
            <a:r>
              <a:rPr lang="en-US" dirty="0"/>
              <a:t> </a:t>
            </a:r>
            <a:r>
              <a:rPr lang="en-US" b="1" dirty="0" err="1"/>
              <a:t>ifa</a:t>
            </a:r>
            <a:r>
              <a:rPr lang="en-US" b="1" dirty="0"/>
              <a:t> </a:t>
            </a:r>
            <a:r>
              <a:rPr lang="en-US" b="1" dirty="0" err="1"/>
              <a:t>olunması</a:t>
            </a:r>
            <a:r>
              <a:rPr lang="en-US" b="1" dirty="0"/>
              <a:t>, </a:t>
            </a:r>
            <a:r>
              <a:rPr lang="en-US" b="1" dirty="0" err="1"/>
              <a:t>yazılması</a:t>
            </a:r>
            <a:r>
              <a:rPr lang="en-US" b="1" dirty="0"/>
              <a:t> </a:t>
            </a:r>
            <a:r>
              <a:rPr lang="en-US" b="1" dirty="0" err="1"/>
              <a:t>və</a:t>
            </a:r>
            <a:r>
              <a:rPr lang="en-US" b="1" dirty="0"/>
              <a:t> </a:t>
            </a:r>
            <a:r>
              <a:rPr lang="en-US" b="1" dirty="0" err="1"/>
              <a:t>yayılması</a:t>
            </a:r>
            <a:r>
              <a:rPr lang="en-US" dirty="0"/>
              <a:t> </a:t>
            </a:r>
            <a:r>
              <a:rPr lang="en-US" dirty="0" err="1"/>
              <a:t>prosesində</a:t>
            </a:r>
            <a:r>
              <a:rPr lang="en-US" dirty="0"/>
              <a:t> </a:t>
            </a:r>
            <a:r>
              <a:rPr lang="en-US" dirty="0" err="1"/>
              <a:t>iştirak</a:t>
            </a:r>
            <a:r>
              <a:rPr lang="en-US" dirty="0"/>
              <a:t> </a:t>
            </a:r>
            <a:r>
              <a:rPr lang="en-US" dirty="0" err="1"/>
              <a:t>edən</a:t>
            </a:r>
            <a:r>
              <a:rPr lang="en-US" dirty="0"/>
              <a:t> </a:t>
            </a:r>
            <a:r>
              <a:rPr lang="en-US" dirty="0" err="1"/>
              <a:t>şəxslərin</a:t>
            </a:r>
            <a:r>
              <a:rPr lang="en-US" dirty="0"/>
              <a:t> </a:t>
            </a:r>
            <a:r>
              <a:rPr lang="en-US" dirty="0" err="1"/>
              <a:t>hüquqlarını</a:t>
            </a:r>
            <a:r>
              <a:rPr lang="en-US" dirty="0"/>
              <a:t> </a:t>
            </a:r>
            <a:r>
              <a:rPr lang="en-US" dirty="0" err="1"/>
              <a:t>qoruyur</a:t>
            </a:r>
            <a:r>
              <a:rPr lang="en-US" dirty="0"/>
              <a:t>.</a:t>
            </a:r>
            <a:endParaRPr dirty="0"/>
          </a:p>
        </p:txBody>
      </p:sp>
      <p:graphicFrame>
        <p:nvGraphicFramePr>
          <p:cNvPr id="4" name="Table 3">
            <a:extLst>
              <a:ext uri="{FF2B5EF4-FFF2-40B4-BE49-F238E27FC236}">
                <a16:creationId xmlns:a16="http://schemas.microsoft.com/office/drawing/2014/main" id="{8EAF9D7F-A476-DA41-EDBA-3B094418D497}"/>
              </a:ext>
            </a:extLst>
          </p:cNvPr>
          <p:cNvGraphicFramePr>
            <a:graphicFrameLocks noGrp="1"/>
          </p:cNvGraphicFramePr>
          <p:nvPr>
            <p:extLst>
              <p:ext uri="{D42A27DB-BD31-4B8C-83A1-F6EECF244321}">
                <p14:modId xmlns:p14="http://schemas.microsoft.com/office/powerpoint/2010/main" val="1630158593"/>
              </p:ext>
            </p:extLst>
          </p:nvPr>
        </p:nvGraphicFramePr>
        <p:xfrm>
          <a:off x="292100" y="3135086"/>
          <a:ext cx="8648700" cy="3487783"/>
        </p:xfrm>
        <a:graphic>
          <a:graphicData uri="http://schemas.openxmlformats.org/drawingml/2006/table">
            <a:tbl>
              <a:tblPr firstRow="1" bandRow="1">
                <a:tableStyleId>{5C22544A-7EE6-4342-B048-85BDC9FD1C3A}</a:tableStyleId>
              </a:tblPr>
              <a:tblGrid>
                <a:gridCol w="2496070">
                  <a:extLst>
                    <a:ext uri="{9D8B030D-6E8A-4147-A177-3AD203B41FA5}">
                      <a16:colId xmlns:a16="http://schemas.microsoft.com/office/drawing/2014/main" val="1775782848"/>
                    </a:ext>
                  </a:extLst>
                </a:gridCol>
                <a:gridCol w="2908092">
                  <a:extLst>
                    <a:ext uri="{9D8B030D-6E8A-4147-A177-3AD203B41FA5}">
                      <a16:colId xmlns:a16="http://schemas.microsoft.com/office/drawing/2014/main" val="3394514009"/>
                    </a:ext>
                  </a:extLst>
                </a:gridCol>
                <a:gridCol w="3244538">
                  <a:extLst>
                    <a:ext uri="{9D8B030D-6E8A-4147-A177-3AD203B41FA5}">
                      <a16:colId xmlns:a16="http://schemas.microsoft.com/office/drawing/2014/main" val="3667439909"/>
                    </a:ext>
                  </a:extLst>
                </a:gridCol>
              </a:tblGrid>
              <a:tr h="592183">
                <a:tc>
                  <a:txBody>
                    <a:bodyPr/>
                    <a:lstStyle/>
                    <a:p>
                      <a:r>
                        <a:rPr lang="en-US" sz="2400" b="1" dirty="0"/>
                        <a:t> </a:t>
                      </a:r>
                      <a:endParaRPr lang="en-US" sz="2400" dirty="0"/>
                    </a:p>
                  </a:txBody>
                  <a:tcPr>
                    <a:solidFill>
                      <a:schemeClr val="bg1">
                        <a:lumMod val="50000"/>
                      </a:schemeClr>
                    </a:solidFill>
                  </a:tcPr>
                </a:tc>
                <a:tc>
                  <a:txBody>
                    <a:bodyPr/>
                    <a:lstStyle/>
                    <a:p>
                      <a:r>
                        <a:rPr lang="en-US" sz="2400" b="1" dirty="0"/>
                        <a:t>    </a:t>
                      </a:r>
                      <a:r>
                        <a:rPr lang="en-US" sz="2400" b="1" dirty="0" err="1"/>
                        <a:t>Müəllif</a:t>
                      </a:r>
                      <a:r>
                        <a:rPr lang="en-US" sz="2400" b="1" dirty="0"/>
                        <a:t> </a:t>
                      </a:r>
                      <a:r>
                        <a:rPr lang="en-US" sz="2400" b="1" dirty="0" err="1"/>
                        <a:t>hüququ</a:t>
                      </a:r>
                      <a:r>
                        <a:rPr lang="en-US" sz="2400" dirty="0"/>
                        <a:t> </a:t>
                      </a:r>
                    </a:p>
                  </a:txBody>
                  <a:tcPr>
                    <a:solidFill>
                      <a:schemeClr val="bg1">
                        <a:lumMod val="50000"/>
                      </a:schemeClr>
                    </a:solidFill>
                  </a:tcPr>
                </a:tc>
                <a:tc>
                  <a:txBody>
                    <a:bodyPr/>
                    <a:lstStyle/>
                    <a:p>
                      <a:r>
                        <a:rPr lang="en-US" sz="2400" b="1" dirty="0"/>
                        <a:t>     </a:t>
                      </a:r>
                      <a:r>
                        <a:rPr lang="en-US" sz="2400" b="1" dirty="0" err="1"/>
                        <a:t>Əlaqəli</a:t>
                      </a:r>
                      <a:r>
                        <a:rPr lang="en-US" sz="2400" b="1" dirty="0"/>
                        <a:t> </a:t>
                      </a:r>
                      <a:r>
                        <a:rPr lang="en-US" sz="2400" b="1" dirty="0" err="1"/>
                        <a:t>hüquqlar</a:t>
                      </a:r>
                      <a:r>
                        <a:rPr lang="en-US" sz="2400" dirty="0"/>
                        <a:t>     </a:t>
                      </a:r>
                    </a:p>
                  </a:txBody>
                  <a:tcPr>
                    <a:solidFill>
                      <a:schemeClr val="bg1">
                        <a:lumMod val="50000"/>
                      </a:schemeClr>
                    </a:solidFill>
                  </a:tcPr>
                </a:tc>
                <a:extLst>
                  <a:ext uri="{0D108BD9-81ED-4DB2-BD59-A6C34878D82A}">
                    <a16:rowId xmlns:a16="http://schemas.microsoft.com/office/drawing/2014/main" val="2931680254"/>
                  </a:ext>
                </a:extLst>
              </a:tr>
              <a:tr h="592183">
                <a:tc>
                  <a:txBody>
                    <a:bodyPr/>
                    <a:lstStyle/>
                    <a:p>
                      <a:r>
                        <a:rPr lang="en-US" sz="2000" b="1" dirty="0">
                          <a:solidFill>
                            <a:schemeClr val="accent2">
                              <a:lumMod val="50000"/>
                            </a:schemeClr>
                          </a:solidFill>
                        </a:rPr>
                        <a:t>  </a:t>
                      </a:r>
                      <a:r>
                        <a:rPr lang="en-US" sz="2000" b="1" dirty="0" err="1">
                          <a:solidFill>
                            <a:schemeClr val="accent2">
                              <a:lumMod val="50000"/>
                            </a:schemeClr>
                          </a:solidFill>
                        </a:rPr>
                        <a:t>Hüququn</a:t>
                      </a:r>
                      <a:r>
                        <a:rPr lang="en-US" sz="2000" b="1" dirty="0">
                          <a:solidFill>
                            <a:schemeClr val="accent2">
                              <a:lumMod val="50000"/>
                            </a:schemeClr>
                          </a:solidFill>
                        </a:rPr>
                        <a:t> </a:t>
                      </a:r>
                      <a:r>
                        <a:rPr lang="en-US" sz="2000" b="1" dirty="0" err="1">
                          <a:solidFill>
                            <a:schemeClr val="accent2">
                              <a:lumMod val="50000"/>
                            </a:schemeClr>
                          </a:solidFill>
                        </a:rPr>
                        <a:t>subyekti</a:t>
                      </a:r>
                      <a:endParaRPr lang="en-US" sz="2000" b="1" dirty="0">
                        <a:solidFill>
                          <a:schemeClr val="accent2">
                            <a:lumMod val="50000"/>
                          </a:schemeClr>
                        </a:solidFill>
                      </a:endParaRPr>
                    </a:p>
                  </a:txBody>
                  <a:tcPr>
                    <a:solidFill>
                      <a:schemeClr val="bg1">
                        <a:lumMod val="50000"/>
                      </a:schemeClr>
                    </a:solidFill>
                  </a:tcPr>
                </a:tc>
                <a:tc>
                  <a:txBody>
                    <a:bodyPr/>
                    <a:lstStyle/>
                    <a:p>
                      <a:r>
                        <a:rPr lang="en-US" dirty="0" err="1"/>
                        <a:t>əsəri</a:t>
                      </a:r>
                      <a:r>
                        <a:rPr lang="en-US" dirty="0"/>
                        <a:t> </a:t>
                      </a:r>
                      <a:r>
                        <a:rPr lang="en-US" dirty="0" err="1"/>
                        <a:t>yaradan</a:t>
                      </a:r>
                      <a:r>
                        <a:rPr lang="en-US" dirty="0"/>
                        <a:t> </a:t>
                      </a:r>
                      <a:r>
                        <a:rPr lang="en-US" dirty="0" err="1"/>
                        <a:t>şəxs</a:t>
                      </a:r>
                      <a:r>
                        <a:rPr lang="en-US" dirty="0"/>
                        <a:t> (</a:t>
                      </a:r>
                      <a:r>
                        <a:rPr lang="en-US" dirty="0" err="1"/>
                        <a:t>yazıçı</a:t>
                      </a:r>
                      <a:r>
                        <a:rPr lang="en-US" dirty="0"/>
                        <a:t>, </a:t>
                      </a:r>
                      <a:r>
                        <a:rPr lang="en-US" dirty="0" err="1"/>
                        <a:t>bəstəkar</a:t>
                      </a:r>
                      <a:r>
                        <a:rPr lang="en-US" dirty="0"/>
                        <a:t>, </a:t>
                      </a:r>
                      <a:r>
                        <a:rPr lang="en-US" dirty="0" err="1"/>
                        <a:t>rəssam</a:t>
                      </a:r>
                      <a:r>
                        <a:rPr lang="en-US" dirty="0"/>
                        <a:t> </a:t>
                      </a:r>
                      <a:r>
                        <a:rPr lang="en-US" dirty="0" err="1"/>
                        <a:t>və</a:t>
                      </a:r>
                      <a:r>
                        <a:rPr lang="en-US" dirty="0"/>
                        <a:t> s.)</a:t>
                      </a:r>
                    </a:p>
                  </a:txBody>
                  <a:tcPr>
                    <a:solidFill>
                      <a:schemeClr val="bg1">
                        <a:lumMod val="50000"/>
                      </a:schemeClr>
                    </a:solidFill>
                  </a:tcPr>
                </a:tc>
                <a:tc>
                  <a:txBody>
                    <a:bodyPr/>
                    <a:lstStyle/>
                    <a:p>
                      <a:r>
                        <a:rPr lang="en-US" dirty="0" err="1"/>
                        <a:t>ifaçılar</a:t>
                      </a:r>
                      <a:r>
                        <a:rPr lang="en-US" dirty="0"/>
                        <a:t>, </a:t>
                      </a:r>
                      <a:r>
                        <a:rPr lang="en-US" dirty="0" err="1"/>
                        <a:t>fonoqram</a:t>
                      </a:r>
                      <a:r>
                        <a:rPr lang="en-US" dirty="0"/>
                        <a:t> </a:t>
                      </a:r>
                      <a:r>
                        <a:rPr lang="en-US" dirty="0" err="1"/>
                        <a:t>istehsalçıları</a:t>
                      </a:r>
                      <a:r>
                        <a:rPr lang="en-US" dirty="0"/>
                        <a:t>, radio-TV </a:t>
                      </a:r>
                      <a:r>
                        <a:rPr lang="en-US" dirty="0" err="1"/>
                        <a:t>yayımçıları</a:t>
                      </a:r>
                      <a:endParaRPr lang="en-US" dirty="0"/>
                    </a:p>
                  </a:txBody>
                  <a:tcPr>
                    <a:solidFill>
                      <a:schemeClr val="bg1">
                        <a:lumMod val="50000"/>
                      </a:schemeClr>
                    </a:solidFill>
                  </a:tcPr>
                </a:tc>
                <a:extLst>
                  <a:ext uri="{0D108BD9-81ED-4DB2-BD59-A6C34878D82A}">
                    <a16:rowId xmlns:a16="http://schemas.microsoft.com/office/drawing/2014/main" val="118862768"/>
                  </a:ext>
                </a:extLst>
              </a:tr>
              <a:tr h="592183">
                <a:tc>
                  <a:txBody>
                    <a:bodyPr/>
                    <a:lstStyle/>
                    <a:p>
                      <a:r>
                        <a:rPr lang="en-US" sz="2000" b="1" dirty="0" err="1">
                          <a:solidFill>
                            <a:schemeClr val="accent2">
                              <a:lumMod val="50000"/>
                            </a:schemeClr>
                          </a:solidFill>
                        </a:rPr>
                        <a:t>Hüquqların</a:t>
                      </a:r>
                      <a:r>
                        <a:rPr lang="en-US" sz="2000" b="1" dirty="0">
                          <a:solidFill>
                            <a:schemeClr val="accent2">
                              <a:lumMod val="50000"/>
                            </a:schemeClr>
                          </a:solidFill>
                        </a:rPr>
                        <a:t> </a:t>
                      </a:r>
                      <a:r>
                        <a:rPr lang="en-US" sz="2000" b="1" dirty="0" err="1">
                          <a:solidFill>
                            <a:schemeClr val="accent2">
                              <a:lumMod val="50000"/>
                            </a:schemeClr>
                          </a:solidFill>
                        </a:rPr>
                        <a:t>xarakteri</a:t>
                      </a:r>
                      <a:endParaRPr lang="en-US" sz="2000" b="1" dirty="0">
                        <a:solidFill>
                          <a:schemeClr val="accent2">
                            <a:lumMod val="50000"/>
                          </a:schemeClr>
                        </a:solidFill>
                      </a:endParaRPr>
                    </a:p>
                  </a:txBody>
                  <a:tcPr>
                    <a:solidFill>
                      <a:schemeClr val="bg1">
                        <a:lumMod val="50000"/>
                      </a:schemeClr>
                    </a:solidFill>
                  </a:tcPr>
                </a:tc>
                <a:tc>
                  <a:txBody>
                    <a:bodyPr/>
                    <a:lstStyle/>
                    <a:p>
                      <a:r>
                        <a:rPr lang="en-US" dirty="0" err="1"/>
                        <a:t>şəxsi</a:t>
                      </a:r>
                      <a:r>
                        <a:rPr lang="en-US" dirty="0"/>
                        <a:t> (</a:t>
                      </a:r>
                      <a:r>
                        <a:rPr lang="en-US" dirty="0" err="1"/>
                        <a:t>mənəvi</a:t>
                      </a:r>
                      <a:r>
                        <a:rPr lang="en-US" dirty="0"/>
                        <a:t>) </a:t>
                      </a:r>
                      <a:r>
                        <a:rPr lang="en-US" dirty="0" err="1"/>
                        <a:t>və</a:t>
                      </a:r>
                      <a:r>
                        <a:rPr lang="en-US" dirty="0"/>
                        <a:t> </a:t>
                      </a:r>
                      <a:r>
                        <a:rPr lang="en-US" dirty="0" err="1"/>
                        <a:t>əmlak</a:t>
                      </a:r>
                      <a:r>
                        <a:rPr lang="en-US" dirty="0"/>
                        <a:t> </a:t>
                      </a:r>
                      <a:r>
                        <a:rPr lang="en-US" dirty="0" err="1"/>
                        <a:t>hüquqları</a:t>
                      </a:r>
                      <a:endParaRPr lang="en-US" dirty="0"/>
                    </a:p>
                  </a:txBody>
                  <a:tcPr>
                    <a:solidFill>
                      <a:schemeClr val="bg1">
                        <a:lumMod val="50000"/>
                      </a:schemeClr>
                    </a:solidFill>
                  </a:tcPr>
                </a:tc>
                <a:tc>
                  <a:txBody>
                    <a:bodyPr/>
                    <a:lstStyle/>
                    <a:p>
                      <a:r>
                        <a:rPr lang="en-US" dirty="0" err="1"/>
                        <a:t>əsasən</a:t>
                      </a:r>
                      <a:r>
                        <a:rPr lang="en-US" dirty="0"/>
                        <a:t> </a:t>
                      </a:r>
                      <a:r>
                        <a:rPr lang="en-US" dirty="0" err="1"/>
                        <a:t>əmlak</a:t>
                      </a:r>
                      <a:r>
                        <a:rPr lang="en-US" dirty="0"/>
                        <a:t> </a:t>
                      </a:r>
                      <a:r>
                        <a:rPr lang="en-US" dirty="0" err="1"/>
                        <a:t>hüquqları</a:t>
                      </a:r>
                      <a:r>
                        <a:rPr lang="en-US" dirty="0"/>
                        <a:t> (</a:t>
                      </a:r>
                      <a:r>
                        <a:rPr lang="en-US" dirty="0" err="1"/>
                        <a:t>ifa</a:t>
                      </a:r>
                      <a:r>
                        <a:rPr lang="en-US" dirty="0"/>
                        <a:t> </a:t>
                      </a:r>
                      <a:r>
                        <a:rPr lang="en-US" dirty="0" err="1"/>
                        <a:t>və</a:t>
                      </a:r>
                      <a:r>
                        <a:rPr lang="en-US" dirty="0"/>
                        <a:t> </a:t>
                      </a:r>
                      <a:r>
                        <a:rPr lang="en-US" dirty="0" err="1"/>
                        <a:t>yayım</a:t>
                      </a:r>
                      <a:r>
                        <a:rPr lang="en-US" dirty="0"/>
                        <a:t> </a:t>
                      </a:r>
                      <a:r>
                        <a:rPr lang="en-US" dirty="0" err="1"/>
                        <a:t>üzərində</a:t>
                      </a:r>
                      <a:r>
                        <a:rPr lang="en-US" dirty="0"/>
                        <a:t> </a:t>
                      </a:r>
                      <a:r>
                        <a:rPr lang="en-US" dirty="0" err="1"/>
                        <a:t>nəzarət</a:t>
                      </a:r>
                      <a:r>
                        <a:rPr lang="en-US" dirty="0"/>
                        <a:t>)</a:t>
                      </a:r>
                    </a:p>
                  </a:txBody>
                  <a:tcPr>
                    <a:solidFill>
                      <a:schemeClr val="bg1">
                        <a:lumMod val="50000"/>
                      </a:schemeClr>
                    </a:solidFill>
                  </a:tcPr>
                </a:tc>
                <a:extLst>
                  <a:ext uri="{0D108BD9-81ED-4DB2-BD59-A6C34878D82A}">
                    <a16:rowId xmlns:a16="http://schemas.microsoft.com/office/drawing/2014/main" val="4276930088"/>
                  </a:ext>
                </a:extLst>
              </a:tr>
              <a:tr h="592183">
                <a:tc>
                  <a:txBody>
                    <a:bodyPr/>
                    <a:lstStyle/>
                    <a:p>
                      <a:r>
                        <a:rPr lang="en-US" sz="2000" b="1" dirty="0" err="1">
                          <a:solidFill>
                            <a:schemeClr val="accent2">
                              <a:lumMod val="50000"/>
                            </a:schemeClr>
                          </a:solidFill>
                        </a:rPr>
                        <a:t>Hüquqların</a:t>
                      </a:r>
                      <a:r>
                        <a:rPr lang="en-US" sz="2000" b="1" dirty="0">
                          <a:solidFill>
                            <a:schemeClr val="accent2">
                              <a:lumMod val="50000"/>
                            </a:schemeClr>
                          </a:solidFill>
                        </a:rPr>
                        <a:t> </a:t>
                      </a:r>
                      <a:r>
                        <a:rPr lang="en-US" sz="2000" b="1" dirty="0" err="1">
                          <a:solidFill>
                            <a:schemeClr val="accent2">
                              <a:lumMod val="50000"/>
                            </a:schemeClr>
                          </a:solidFill>
                        </a:rPr>
                        <a:t>yaranması</a:t>
                      </a:r>
                      <a:endParaRPr lang="en-US" sz="2000" b="1" dirty="0">
                        <a:solidFill>
                          <a:schemeClr val="accent2">
                            <a:lumMod val="50000"/>
                          </a:schemeClr>
                        </a:solidFill>
                      </a:endParaRPr>
                    </a:p>
                  </a:txBody>
                  <a:tcPr>
                    <a:solidFill>
                      <a:schemeClr val="bg1">
                        <a:lumMod val="50000"/>
                      </a:schemeClr>
                    </a:solidFill>
                  </a:tcPr>
                </a:tc>
                <a:tc>
                  <a:txBody>
                    <a:bodyPr/>
                    <a:lstStyle/>
                    <a:p>
                      <a:r>
                        <a:rPr lang="en-US" dirty="0" err="1"/>
                        <a:t>əsər</a:t>
                      </a:r>
                      <a:r>
                        <a:rPr lang="en-US" dirty="0"/>
                        <a:t> </a:t>
                      </a:r>
                      <a:r>
                        <a:rPr lang="en-US" dirty="0" err="1"/>
                        <a:t>yaradılan</a:t>
                      </a:r>
                      <a:r>
                        <a:rPr lang="en-US" dirty="0"/>
                        <a:t> </a:t>
                      </a:r>
                      <a:r>
                        <a:rPr lang="en-US" dirty="0" err="1"/>
                        <a:t>kimi</a:t>
                      </a:r>
                      <a:r>
                        <a:rPr lang="en-US" dirty="0"/>
                        <a:t> </a:t>
                      </a:r>
                      <a:r>
                        <a:rPr lang="en-US" dirty="0" err="1"/>
                        <a:t>avtomatik</a:t>
                      </a:r>
                      <a:r>
                        <a:rPr lang="en-US" dirty="0"/>
                        <a:t> </a:t>
                      </a:r>
                      <a:r>
                        <a:rPr lang="en-US" dirty="0" err="1"/>
                        <a:t>yaranır</a:t>
                      </a:r>
                      <a:endParaRPr lang="en-US" dirty="0"/>
                    </a:p>
                  </a:txBody>
                  <a:tcPr>
                    <a:solidFill>
                      <a:schemeClr val="bg1">
                        <a:lumMod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err="1"/>
                        <a:t>əsər</a:t>
                      </a:r>
                      <a:r>
                        <a:rPr lang="en-US" dirty="0"/>
                        <a:t> </a:t>
                      </a:r>
                      <a:r>
                        <a:rPr lang="en-US" dirty="0" err="1"/>
                        <a:t>ifa</a:t>
                      </a:r>
                      <a:r>
                        <a:rPr lang="en-US" dirty="0"/>
                        <a:t> </a:t>
                      </a:r>
                      <a:r>
                        <a:rPr lang="en-US" dirty="0" err="1"/>
                        <a:t>olunduqda</a:t>
                      </a:r>
                      <a:r>
                        <a:rPr lang="en-US" dirty="0"/>
                        <a:t>, </a:t>
                      </a:r>
                      <a:r>
                        <a:rPr lang="en-US" dirty="0" err="1"/>
                        <a:t>yazıldıqda</a:t>
                      </a:r>
                      <a:r>
                        <a:rPr lang="en-US" dirty="0"/>
                        <a:t> </a:t>
                      </a:r>
                      <a:r>
                        <a:rPr lang="en-US" dirty="0" err="1"/>
                        <a:t>və</a:t>
                      </a:r>
                      <a:r>
                        <a:rPr lang="en-US" dirty="0"/>
                        <a:t> </a:t>
                      </a:r>
                      <a:r>
                        <a:rPr lang="en-US" dirty="0" err="1"/>
                        <a:t>ya</a:t>
                      </a:r>
                      <a:r>
                        <a:rPr lang="en-US" dirty="0"/>
                        <a:t> </a:t>
                      </a:r>
                      <a:r>
                        <a:rPr lang="en-US" dirty="0" err="1"/>
                        <a:t>yayımlandıqda</a:t>
                      </a:r>
                      <a:r>
                        <a:rPr lang="en-US" dirty="0"/>
                        <a:t> </a:t>
                      </a:r>
                      <a:r>
                        <a:rPr lang="en-US" dirty="0" err="1"/>
                        <a:t>yaranır</a:t>
                      </a:r>
                      <a:endParaRPr lang="en-US" dirty="0"/>
                    </a:p>
                  </a:txBody>
                  <a:tcPr>
                    <a:solidFill>
                      <a:schemeClr val="bg1">
                        <a:lumMod val="50000"/>
                      </a:schemeClr>
                    </a:solidFill>
                  </a:tcPr>
                </a:tc>
                <a:extLst>
                  <a:ext uri="{0D108BD9-81ED-4DB2-BD59-A6C34878D82A}">
                    <a16:rowId xmlns:a16="http://schemas.microsoft.com/office/drawing/2014/main" val="5997805"/>
                  </a:ext>
                </a:extLst>
              </a:tr>
              <a:tr h="592183">
                <a:tc>
                  <a:txBody>
                    <a:bodyPr/>
                    <a:lstStyle/>
                    <a:p>
                      <a:r>
                        <a:rPr lang="en-US" sz="2000" b="1" dirty="0" err="1">
                          <a:solidFill>
                            <a:schemeClr val="accent2">
                              <a:lumMod val="50000"/>
                            </a:schemeClr>
                          </a:solidFill>
                        </a:rPr>
                        <a:t>Hüquqların</a:t>
                      </a:r>
                      <a:r>
                        <a:rPr lang="en-US" sz="2000" b="1" dirty="0">
                          <a:solidFill>
                            <a:schemeClr val="accent2">
                              <a:lumMod val="50000"/>
                            </a:schemeClr>
                          </a:solidFill>
                        </a:rPr>
                        <a:t> </a:t>
                      </a:r>
                      <a:r>
                        <a:rPr lang="en-US" sz="2000" b="1" dirty="0" err="1">
                          <a:solidFill>
                            <a:schemeClr val="accent2">
                              <a:lumMod val="50000"/>
                            </a:schemeClr>
                          </a:solidFill>
                        </a:rPr>
                        <a:t>məqsədi</a:t>
                      </a:r>
                      <a:endParaRPr lang="en-US" sz="2000" b="1" dirty="0">
                        <a:solidFill>
                          <a:schemeClr val="accent2">
                            <a:lumMod val="50000"/>
                          </a:schemeClr>
                        </a:solidFill>
                      </a:endParaRPr>
                    </a:p>
                  </a:txBody>
                  <a:tcPr>
                    <a:solidFill>
                      <a:schemeClr val="bg1">
                        <a:lumMod val="50000"/>
                      </a:schemeClr>
                    </a:solidFill>
                  </a:tcPr>
                </a:tc>
                <a:tc>
                  <a:txBody>
                    <a:bodyPr/>
                    <a:lstStyle/>
                    <a:p>
                      <a:r>
                        <a:rPr lang="en-US" dirty="0" err="1"/>
                        <a:t>müəllifin</a:t>
                      </a:r>
                      <a:r>
                        <a:rPr lang="en-US" dirty="0"/>
                        <a:t> </a:t>
                      </a:r>
                      <a:r>
                        <a:rPr lang="en-US" dirty="0" err="1"/>
                        <a:t>yaradıcılıq</a:t>
                      </a:r>
                      <a:r>
                        <a:rPr lang="en-US" dirty="0"/>
                        <a:t> </a:t>
                      </a:r>
                      <a:r>
                        <a:rPr lang="en-US" dirty="0" err="1"/>
                        <a:t>maraqlarını</a:t>
                      </a:r>
                      <a:r>
                        <a:rPr lang="en-US" dirty="0"/>
                        <a:t> </a:t>
                      </a:r>
                      <a:r>
                        <a:rPr lang="en-US" dirty="0" err="1"/>
                        <a:t>qorumaq</a:t>
                      </a:r>
                      <a:endParaRPr lang="en-US" dirty="0"/>
                    </a:p>
                  </a:txBody>
                  <a:tcPr>
                    <a:solidFill>
                      <a:schemeClr val="bg1">
                        <a:lumMod val="50000"/>
                      </a:schemeClr>
                    </a:solidFill>
                  </a:tcPr>
                </a:tc>
                <a:tc>
                  <a:txBody>
                    <a:bodyPr/>
                    <a:lstStyle/>
                    <a:p>
                      <a:r>
                        <a:rPr lang="en-US" dirty="0" err="1"/>
                        <a:t>əsərin</a:t>
                      </a:r>
                      <a:r>
                        <a:rPr lang="en-US" dirty="0"/>
                        <a:t> </a:t>
                      </a:r>
                      <a:r>
                        <a:rPr lang="en-US" dirty="0" err="1"/>
                        <a:t>icra</a:t>
                      </a:r>
                      <a:r>
                        <a:rPr lang="en-US" dirty="0"/>
                        <a:t> </a:t>
                      </a:r>
                      <a:r>
                        <a:rPr lang="en-US" dirty="0" err="1"/>
                        <a:t>və</a:t>
                      </a:r>
                      <a:r>
                        <a:rPr lang="en-US" dirty="0"/>
                        <a:t> </a:t>
                      </a:r>
                      <a:r>
                        <a:rPr lang="en-US" dirty="0" err="1"/>
                        <a:t>yayım</a:t>
                      </a:r>
                      <a:r>
                        <a:rPr lang="en-US" dirty="0"/>
                        <a:t> </a:t>
                      </a:r>
                      <a:r>
                        <a:rPr lang="en-US" dirty="0" err="1"/>
                        <a:t>prosesində</a:t>
                      </a:r>
                      <a:r>
                        <a:rPr lang="en-US" dirty="0"/>
                        <a:t> </a:t>
                      </a:r>
                      <a:r>
                        <a:rPr lang="en-US" dirty="0" err="1"/>
                        <a:t>iştirak</a:t>
                      </a:r>
                      <a:r>
                        <a:rPr lang="en-US" dirty="0"/>
                        <a:t> </a:t>
                      </a:r>
                      <a:r>
                        <a:rPr lang="en-US" dirty="0" err="1"/>
                        <a:t>edənlərin</a:t>
                      </a:r>
                      <a:r>
                        <a:rPr lang="en-US" dirty="0"/>
                        <a:t> </a:t>
                      </a:r>
                      <a:r>
                        <a:rPr lang="en-US" dirty="0" err="1"/>
                        <a:t>maraqlarını</a:t>
                      </a:r>
                      <a:r>
                        <a:rPr lang="en-US" dirty="0"/>
                        <a:t> </a:t>
                      </a:r>
                      <a:r>
                        <a:rPr lang="en-US" dirty="0" err="1"/>
                        <a:t>qorumaq</a:t>
                      </a:r>
                      <a:endParaRPr lang="en-US" dirty="0"/>
                    </a:p>
                  </a:txBody>
                  <a:tcPr>
                    <a:solidFill>
                      <a:schemeClr val="bg1">
                        <a:lumMod val="50000"/>
                      </a:schemeClr>
                    </a:solidFill>
                  </a:tcPr>
                </a:tc>
                <a:extLst>
                  <a:ext uri="{0D108BD9-81ED-4DB2-BD59-A6C34878D82A}">
                    <a16:rowId xmlns:a16="http://schemas.microsoft.com/office/drawing/2014/main" val="36011646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err="1"/>
              <a:t>Müəllif</a:t>
            </a:r>
            <a:r>
              <a:rPr lang="en-US" sz="3600" b="1" dirty="0"/>
              <a:t> </a:t>
            </a:r>
            <a:r>
              <a:rPr lang="en-US" sz="3600" b="1" dirty="0" err="1"/>
              <a:t>hüququ</a:t>
            </a:r>
            <a:r>
              <a:rPr lang="en-US" sz="3600" b="1" dirty="0"/>
              <a:t> </a:t>
            </a:r>
            <a:r>
              <a:rPr lang="en-US" sz="3600" b="1" dirty="0" err="1"/>
              <a:t>və</a:t>
            </a:r>
            <a:r>
              <a:rPr lang="en-US" sz="3600" b="1" dirty="0"/>
              <a:t> </a:t>
            </a:r>
            <a:r>
              <a:rPr lang="en-US" sz="3600" b="1" dirty="0" err="1"/>
              <a:t>əlaqəli</a:t>
            </a:r>
            <a:r>
              <a:rPr lang="en-US" sz="3600" b="1" dirty="0"/>
              <a:t> </a:t>
            </a:r>
            <a:r>
              <a:rPr lang="en-US" sz="3600" b="1" dirty="0" err="1"/>
              <a:t>hüquqların</a:t>
            </a:r>
            <a:br>
              <a:rPr lang="az-Latn-AZ" sz="3600" b="1" dirty="0"/>
            </a:br>
            <a:r>
              <a:rPr lang="az-Latn-AZ" sz="3600" b="1" dirty="0"/>
              <a:t>oxşar cəhətləri</a:t>
            </a:r>
            <a:r>
              <a:rPr lang="en-US" sz="3600" b="1" dirty="0"/>
              <a:t> </a:t>
            </a:r>
            <a:endParaRPr sz="3600" b="1" dirty="0"/>
          </a:p>
        </p:txBody>
      </p:sp>
      <p:sp>
        <p:nvSpPr>
          <p:cNvPr id="3" name="Content Placeholder 2"/>
          <p:cNvSpPr>
            <a:spLocks noGrp="1"/>
          </p:cNvSpPr>
          <p:nvPr>
            <p:ph idx="1"/>
          </p:nvPr>
        </p:nvSpPr>
        <p:spPr>
          <a:xfrm>
            <a:off x="457200" y="1708877"/>
            <a:ext cx="8229600" cy="5666282"/>
          </a:xfrm>
        </p:spPr>
        <p:txBody>
          <a:bodyPr>
            <a:normAutofit fontScale="47500" lnSpcReduction="20000"/>
          </a:bodyPr>
          <a:lstStyle/>
          <a:p>
            <a:pPr marL="0" indent="0">
              <a:buNone/>
            </a:pPr>
            <a:r>
              <a:rPr lang="en-US" b="1" dirty="0"/>
              <a:t>1. </a:t>
            </a:r>
            <a:r>
              <a:rPr lang="en-US" b="1" dirty="0" err="1"/>
              <a:t>Yaradıcılıq</a:t>
            </a:r>
            <a:r>
              <a:rPr lang="en-US" b="1" dirty="0"/>
              <a:t> </a:t>
            </a:r>
            <a:r>
              <a:rPr lang="en-US" b="1" dirty="0" err="1"/>
              <a:t>fəaliyyətini</a:t>
            </a:r>
            <a:r>
              <a:rPr lang="en-US" b="1" dirty="0"/>
              <a:t> </a:t>
            </a:r>
            <a:r>
              <a:rPr lang="en-US" b="1" dirty="0" err="1"/>
              <a:t>qoruyurlar</a:t>
            </a:r>
            <a:endParaRPr lang="en-US" b="1" dirty="0"/>
          </a:p>
          <a:p>
            <a:r>
              <a:rPr lang="en-US" dirty="0" err="1"/>
              <a:t>Hər</a:t>
            </a:r>
            <a:r>
              <a:rPr lang="en-US" dirty="0"/>
              <a:t> </a:t>
            </a:r>
            <a:r>
              <a:rPr lang="en-US" dirty="0" err="1"/>
              <a:t>iki</a:t>
            </a:r>
            <a:r>
              <a:rPr lang="en-US" dirty="0"/>
              <a:t> </a:t>
            </a:r>
            <a:r>
              <a:rPr lang="en-US" dirty="0" err="1"/>
              <a:t>hüquq</a:t>
            </a:r>
            <a:r>
              <a:rPr lang="en-US" dirty="0"/>
              <a:t> </a:t>
            </a:r>
            <a:r>
              <a:rPr lang="en-US" dirty="0" err="1"/>
              <a:t>növü</a:t>
            </a:r>
            <a:r>
              <a:rPr lang="en-US" dirty="0"/>
              <a:t> </a:t>
            </a:r>
            <a:r>
              <a:rPr lang="en-US" dirty="0" err="1"/>
              <a:t>yaradıcılıq</a:t>
            </a:r>
            <a:r>
              <a:rPr lang="en-US" dirty="0"/>
              <a:t> </a:t>
            </a:r>
            <a:r>
              <a:rPr lang="en-US" dirty="0" err="1"/>
              <a:t>nəticəsində</a:t>
            </a:r>
            <a:r>
              <a:rPr lang="en-US" dirty="0"/>
              <a:t> </a:t>
            </a:r>
            <a:r>
              <a:rPr lang="en-US" dirty="0" err="1"/>
              <a:t>meydana</a:t>
            </a:r>
            <a:r>
              <a:rPr lang="en-US" dirty="0"/>
              <a:t> </a:t>
            </a:r>
            <a:r>
              <a:rPr lang="en-US" dirty="0" err="1"/>
              <a:t>gələn</a:t>
            </a:r>
            <a:r>
              <a:rPr lang="en-US" dirty="0"/>
              <a:t> </a:t>
            </a:r>
            <a:r>
              <a:rPr lang="en-US" dirty="0" err="1"/>
              <a:t>məhsulun</a:t>
            </a:r>
            <a:r>
              <a:rPr lang="en-US" dirty="0"/>
              <a:t> </a:t>
            </a:r>
            <a:r>
              <a:rPr lang="en-US" dirty="0" err="1"/>
              <a:t>istifadəsini</a:t>
            </a:r>
            <a:r>
              <a:rPr lang="en-US" dirty="0"/>
              <a:t> </a:t>
            </a:r>
            <a:r>
              <a:rPr lang="en-US" dirty="0" err="1"/>
              <a:t>və</a:t>
            </a:r>
            <a:r>
              <a:rPr lang="en-US" dirty="0"/>
              <a:t> </a:t>
            </a:r>
            <a:r>
              <a:rPr lang="en-US" dirty="0" err="1"/>
              <a:t>yayılmasını</a:t>
            </a:r>
            <a:r>
              <a:rPr lang="en-US" dirty="0"/>
              <a:t> </a:t>
            </a:r>
            <a:r>
              <a:rPr lang="en-US" dirty="0" err="1"/>
              <a:t>tənzimləyir</a:t>
            </a:r>
            <a:r>
              <a:rPr lang="en-US" dirty="0"/>
              <a:t>.</a:t>
            </a:r>
            <a:br>
              <a:rPr lang="en-US" dirty="0"/>
            </a:br>
            <a:endParaRPr lang="en-US" dirty="0"/>
          </a:p>
          <a:p>
            <a:pPr marL="0" indent="0">
              <a:buNone/>
            </a:pPr>
            <a:r>
              <a:rPr lang="en-US" b="1" dirty="0"/>
              <a:t>2. </a:t>
            </a:r>
            <a:r>
              <a:rPr lang="en-US" b="1" dirty="0" err="1"/>
              <a:t>Hüquqlar</a:t>
            </a:r>
            <a:r>
              <a:rPr lang="en-US" b="1" dirty="0"/>
              <a:t> </a:t>
            </a:r>
            <a:r>
              <a:rPr lang="en-US" b="1" dirty="0" err="1"/>
              <a:t>avtomatik</a:t>
            </a:r>
            <a:r>
              <a:rPr lang="en-US" b="1" dirty="0"/>
              <a:t> </a:t>
            </a:r>
            <a:r>
              <a:rPr lang="en-US" b="1" dirty="0" err="1"/>
              <a:t>yaranır</a:t>
            </a:r>
            <a:endParaRPr lang="en-US" b="1" dirty="0"/>
          </a:p>
          <a:p>
            <a:r>
              <a:rPr lang="en-US" dirty="0" err="1"/>
              <a:t>Əsər</a:t>
            </a:r>
            <a:r>
              <a:rPr lang="en-US" dirty="0"/>
              <a:t> </a:t>
            </a:r>
            <a:r>
              <a:rPr lang="en-US" dirty="0" err="1"/>
              <a:t>yaradıldıqda</a:t>
            </a:r>
            <a:r>
              <a:rPr lang="en-US" dirty="0"/>
              <a:t> </a:t>
            </a:r>
            <a:r>
              <a:rPr lang="en-US" dirty="0" err="1"/>
              <a:t>və</a:t>
            </a:r>
            <a:r>
              <a:rPr lang="en-US" dirty="0"/>
              <a:t> </a:t>
            </a:r>
            <a:r>
              <a:rPr lang="en-US" dirty="0" err="1"/>
              <a:t>ya</a:t>
            </a:r>
            <a:r>
              <a:rPr lang="en-US" dirty="0"/>
              <a:t> </a:t>
            </a:r>
            <a:r>
              <a:rPr lang="en-US" dirty="0" err="1"/>
              <a:t>ifa</a:t>
            </a:r>
            <a:r>
              <a:rPr lang="en-US" dirty="0"/>
              <a:t> </a:t>
            </a:r>
            <a:r>
              <a:rPr lang="en-US" dirty="0" err="1"/>
              <a:t>edildikdə</a:t>
            </a:r>
            <a:r>
              <a:rPr lang="en-US" dirty="0"/>
              <a:t>, </a:t>
            </a:r>
            <a:r>
              <a:rPr lang="en-US" dirty="0" err="1"/>
              <a:t>xüsusi</a:t>
            </a:r>
            <a:r>
              <a:rPr lang="en-US" dirty="0"/>
              <a:t> </a:t>
            </a:r>
            <a:r>
              <a:rPr lang="en-US" dirty="0" err="1"/>
              <a:t>qeydiyyat</a:t>
            </a:r>
            <a:r>
              <a:rPr lang="en-US" dirty="0"/>
              <a:t> </a:t>
            </a:r>
            <a:r>
              <a:rPr lang="en-US" dirty="0" err="1"/>
              <a:t>tələb</a:t>
            </a:r>
            <a:r>
              <a:rPr lang="en-US" dirty="0"/>
              <a:t> </a:t>
            </a:r>
            <a:r>
              <a:rPr lang="en-US" dirty="0" err="1"/>
              <a:t>olunmadan</a:t>
            </a:r>
            <a:r>
              <a:rPr lang="en-US" dirty="0"/>
              <a:t> </a:t>
            </a:r>
            <a:r>
              <a:rPr lang="en-US" dirty="0" err="1"/>
              <a:t>hüquqlar</a:t>
            </a:r>
            <a:r>
              <a:rPr lang="en-US" dirty="0"/>
              <a:t> </a:t>
            </a:r>
            <a:r>
              <a:rPr lang="en-US" dirty="0" err="1"/>
              <a:t>qüvvəyə</a:t>
            </a:r>
            <a:r>
              <a:rPr lang="en-US" dirty="0"/>
              <a:t> </a:t>
            </a:r>
            <a:r>
              <a:rPr lang="en-US" dirty="0" err="1"/>
              <a:t>minir</a:t>
            </a:r>
            <a:r>
              <a:rPr lang="en-US" dirty="0"/>
              <a:t>.</a:t>
            </a:r>
          </a:p>
          <a:p>
            <a:pPr marL="0" indent="0">
              <a:buNone/>
            </a:pPr>
            <a:endParaRPr lang="en-US" dirty="0"/>
          </a:p>
          <a:p>
            <a:pPr marL="0" indent="0">
              <a:buNone/>
            </a:pPr>
            <a:r>
              <a:rPr lang="en-US" b="1" dirty="0"/>
              <a:t>3. </a:t>
            </a:r>
            <a:r>
              <a:rPr lang="en-US" b="1" dirty="0" err="1"/>
              <a:t>Əmlak</a:t>
            </a:r>
            <a:r>
              <a:rPr lang="en-US" b="1" dirty="0"/>
              <a:t> </a:t>
            </a:r>
            <a:r>
              <a:rPr lang="en-US" b="1" dirty="0" err="1"/>
              <a:t>və</a:t>
            </a:r>
            <a:r>
              <a:rPr lang="en-US" b="1" dirty="0"/>
              <a:t> </a:t>
            </a:r>
            <a:r>
              <a:rPr lang="en-US" b="1" dirty="0" err="1"/>
              <a:t>mənəvi</a:t>
            </a:r>
            <a:r>
              <a:rPr lang="en-US" b="1" dirty="0"/>
              <a:t> </a:t>
            </a:r>
            <a:r>
              <a:rPr lang="en-US" b="1" dirty="0" err="1"/>
              <a:t>maraqları</a:t>
            </a:r>
            <a:r>
              <a:rPr lang="en-US" b="1" dirty="0"/>
              <a:t> </a:t>
            </a:r>
            <a:r>
              <a:rPr lang="en-US" b="1" dirty="0" err="1"/>
              <a:t>qoruyurlar</a:t>
            </a:r>
            <a:endParaRPr lang="en-US" b="1" dirty="0"/>
          </a:p>
          <a:p>
            <a:r>
              <a:rPr lang="en-US" dirty="0" err="1"/>
              <a:t>Hər</a:t>
            </a:r>
            <a:r>
              <a:rPr lang="en-US" dirty="0"/>
              <a:t> </a:t>
            </a:r>
            <a:r>
              <a:rPr lang="en-US" dirty="0" err="1"/>
              <a:t>iki</a:t>
            </a:r>
            <a:r>
              <a:rPr lang="en-US" dirty="0"/>
              <a:t> </a:t>
            </a:r>
            <a:r>
              <a:rPr lang="en-US" dirty="0" err="1"/>
              <a:t>hüquq</a:t>
            </a:r>
            <a:r>
              <a:rPr lang="en-US" dirty="0"/>
              <a:t> </a:t>
            </a:r>
            <a:r>
              <a:rPr lang="en-US" dirty="0" err="1"/>
              <a:t>sistemi</a:t>
            </a:r>
            <a:r>
              <a:rPr lang="en-US" dirty="0"/>
              <a:t> </a:t>
            </a:r>
            <a:r>
              <a:rPr lang="en-US" dirty="0" err="1"/>
              <a:t>yaradıcı</a:t>
            </a:r>
            <a:r>
              <a:rPr lang="en-US" dirty="0"/>
              <a:t> </a:t>
            </a:r>
            <a:r>
              <a:rPr lang="en-US" dirty="0" err="1"/>
              <a:t>və</a:t>
            </a:r>
            <a:r>
              <a:rPr lang="en-US" dirty="0"/>
              <a:t> </a:t>
            </a:r>
            <a:r>
              <a:rPr lang="en-US" dirty="0" err="1"/>
              <a:t>icraçı</a:t>
            </a:r>
            <a:r>
              <a:rPr lang="en-US" dirty="0"/>
              <a:t> </a:t>
            </a:r>
            <a:r>
              <a:rPr lang="en-US" dirty="0" err="1"/>
              <a:t>şəxslərin</a:t>
            </a:r>
            <a:r>
              <a:rPr lang="en-US" dirty="0"/>
              <a:t> </a:t>
            </a:r>
            <a:r>
              <a:rPr lang="en-US" dirty="0" err="1"/>
              <a:t>maraqlarını</a:t>
            </a:r>
            <a:r>
              <a:rPr lang="en-US" dirty="0"/>
              <a:t> — </a:t>
            </a:r>
            <a:r>
              <a:rPr lang="en-US" dirty="0" err="1"/>
              <a:t>gəlir</a:t>
            </a:r>
            <a:r>
              <a:rPr lang="en-US" dirty="0"/>
              <a:t> </a:t>
            </a:r>
            <a:r>
              <a:rPr lang="en-US" dirty="0" err="1"/>
              <a:t>əldə</a:t>
            </a:r>
            <a:r>
              <a:rPr lang="en-US" dirty="0"/>
              <a:t> </a:t>
            </a:r>
            <a:r>
              <a:rPr lang="en-US" dirty="0" err="1"/>
              <a:t>etmək</a:t>
            </a:r>
            <a:r>
              <a:rPr lang="en-US" dirty="0"/>
              <a:t>, </a:t>
            </a:r>
            <a:r>
              <a:rPr lang="en-US" dirty="0" err="1"/>
              <a:t>adının</a:t>
            </a:r>
            <a:r>
              <a:rPr lang="en-US" dirty="0"/>
              <a:t> </a:t>
            </a:r>
            <a:r>
              <a:rPr lang="en-US" dirty="0" err="1"/>
              <a:t>göstərilməsi</a:t>
            </a:r>
            <a:r>
              <a:rPr lang="en-US" dirty="0"/>
              <a:t> </a:t>
            </a:r>
            <a:r>
              <a:rPr lang="en-US" dirty="0" err="1"/>
              <a:t>və</a:t>
            </a:r>
            <a:r>
              <a:rPr lang="en-US" dirty="0"/>
              <a:t> s. — </a:t>
            </a:r>
            <a:r>
              <a:rPr lang="en-US" dirty="0" err="1"/>
              <a:t>təmin</a:t>
            </a:r>
            <a:r>
              <a:rPr lang="en-US" dirty="0"/>
              <a:t> </a:t>
            </a:r>
            <a:r>
              <a:rPr lang="en-US" dirty="0" err="1"/>
              <a:t>edir</a:t>
            </a:r>
            <a:r>
              <a:rPr lang="en-US" dirty="0"/>
              <a:t>.</a:t>
            </a:r>
            <a:br>
              <a:rPr lang="en-US" dirty="0"/>
            </a:br>
            <a:endParaRPr lang="en-US" dirty="0"/>
          </a:p>
          <a:p>
            <a:pPr marL="0" indent="0">
              <a:buNone/>
            </a:pPr>
            <a:r>
              <a:rPr lang="en-US" b="1" dirty="0"/>
              <a:t>4. </a:t>
            </a:r>
            <a:r>
              <a:rPr lang="en-US" b="1" dirty="0" err="1"/>
              <a:t>Əsərin</a:t>
            </a:r>
            <a:r>
              <a:rPr lang="en-US" b="1" dirty="0"/>
              <a:t> </a:t>
            </a:r>
            <a:r>
              <a:rPr lang="en-US" b="1" dirty="0" err="1"/>
              <a:t>icazəsiz</a:t>
            </a:r>
            <a:r>
              <a:rPr lang="en-US" b="1" dirty="0"/>
              <a:t> </a:t>
            </a:r>
            <a:r>
              <a:rPr lang="en-US" b="1" dirty="0" err="1"/>
              <a:t>istifadəsinə</a:t>
            </a:r>
            <a:r>
              <a:rPr lang="en-US" b="1" dirty="0"/>
              <a:t> </a:t>
            </a:r>
            <a:r>
              <a:rPr lang="en-US" b="1" dirty="0" err="1"/>
              <a:t>qarşı</a:t>
            </a:r>
            <a:r>
              <a:rPr lang="en-US" b="1" dirty="0"/>
              <a:t> </a:t>
            </a:r>
            <a:r>
              <a:rPr lang="en-US" b="1" dirty="0" err="1"/>
              <a:t>müdafiə</a:t>
            </a:r>
            <a:r>
              <a:rPr lang="en-US" b="1" dirty="0"/>
              <a:t> </a:t>
            </a:r>
            <a:r>
              <a:rPr lang="en-US" b="1" dirty="0" err="1"/>
              <a:t>edir</a:t>
            </a:r>
            <a:endParaRPr lang="en-US" b="1" dirty="0"/>
          </a:p>
          <a:p>
            <a:r>
              <a:rPr lang="en-US" dirty="0" err="1"/>
              <a:t>Piratçılığa</a:t>
            </a:r>
            <a:r>
              <a:rPr lang="en-US" dirty="0"/>
              <a:t>, </a:t>
            </a:r>
            <a:r>
              <a:rPr lang="en-US" dirty="0" err="1"/>
              <a:t>icazəsiz</a:t>
            </a:r>
            <a:r>
              <a:rPr lang="en-US" dirty="0"/>
              <a:t> </a:t>
            </a:r>
            <a:r>
              <a:rPr lang="en-US" dirty="0" err="1"/>
              <a:t>çoxaldılmaya</a:t>
            </a:r>
            <a:r>
              <a:rPr lang="en-US" dirty="0"/>
              <a:t>, </a:t>
            </a:r>
            <a:r>
              <a:rPr lang="en-US" dirty="0" err="1"/>
              <a:t>yayıma</a:t>
            </a:r>
            <a:r>
              <a:rPr lang="en-US" dirty="0"/>
              <a:t> </a:t>
            </a:r>
            <a:r>
              <a:rPr lang="en-US" dirty="0" err="1"/>
              <a:t>və</a:t>
            </a:r>
            <a:r>
              <a:rPr lang="en-US" dirty="0"/>
              <a:t> </a:t>
            </a:r>
            <a:r>
              <a:rPr lang="en-US" dirty="0" err="1"/>
              <a:t>kommersiya</a:t>
            </a:r>
            <a:r>
              <a:rPr lang="en-US" dirty="0"/>
              <a:t> </a:t>
            </a:r>
            <a:r>
              <a:rPr lang="en-US" dirty="0" err="1"/>
              <a:t>istifadəsinə</a:t>
            </a:r>
            <a:r>
              <a:rPr lang="en-US" dirty="0"/>
              <a:t> </a:t>
            </a:r>
            <a:r>
              <a:rPr lang="en-US" dirty="0" err="1"/>
              <a:t>qarşı</a:t>
            </a:r>
            <a:r>
              <a:rPr lang="en-US" dirty="0"/>
              <a:t> </a:t>
            </a:r>
            <a:r>
              <a:rPr lang="en-US" dirty="0" err="1"/>
              <a:t>hüquqi</a:t>
            </a:r>
            <a:r>
              <a:rPr lang="en-US" dirty="0"/>
              <a:t> </a:t>
            </a:r>
            <a:r>
              <a:rPr lang="en-US" dirty="0" err="1"/>
              <a:t>müdafiə</a:t>
            </a:r>
            <a:r>
              <a:rPr lang="en-US" dirty="0"/>
              <a:t> </a:t>
            </a:r>
            <a:r>
              <a:rPr lang="en-US" dirty="0" err="1"/>
              <a:t>təqdim</a:t>
            </a:r>
            <a:r>
              <a:rPr lang="en-US" dirty="0"/>
              <a:t> </a:t>
            </a:r>
            <a:r>
              <a:rPr lang="en-US" dirty="0" err="1"/>
              <a:t>edir</a:t>
            </a:r>
            <a:r>
              <a:rPr lang="en-US" dirty="0"/>
              <a:t>.</a:t>
            </a:r>
            <a:endParaRPr lang="az-Latn-AZ" dirty="0"/>
          </a:p>
          <a:p>
            <a:endParaRPr lang="en-US" dirty="0"/>
          </a:p>
          <a:p>
            <a:pPr marL="0" indent="0">
              <a:buNone/>
            </a:pPr>
            <a:r>
              <a:rPr lang="en-US" b="1" dirty="0"/>
              <a:t>5. </a:t>
            </a:r>
            <a:r>
              <a:rPr lang="en-US" b="1" dirty="0" err="1"/>
              <a:t>Müddətli</a:t>
            </a:r>
            <a:r>
              <a:rPr lang="en-US" b="1" dirty="0"/>
              <a:t> </a:t>
            </a:r>
            <a:r>
              <a:rPr lang="en-US" b="1" dirty="0" err="1"/>
              <a:t>qorunma</a:t>
            </a:r>
            <a:r>
              <a:rPr lang="en-US" b="1" dirty="0"/>
              <a:t> </a:t>
            </a:r>
            <a:r>
              <a:rPr lang="en-US" b="1" dirty="0" err="1"/>
              <a:t>tətbiq</a:t>
            </a:r>
            <a:r>
              <a:rPr lang="en-US" b="1" dirty="0"/>
              <a:t> </a:t>
            </a:r>
            <a:r>
              <a:rPr lang="en-US" b="1" dirty="0" err="1"/>
              <a:t>olunur</a:t>
            </a:r>
            <a:endParaRPr lang="en-US" b="1" dirty="0"/>
          </a:p>
          <a:p>
            <a:r>
              <a:rPr lang="en-US" dirty="0" err="1"/>
              <a:t>Hər</a:t>
            </a:r>
            <a:r>
              <a:rPr lang="en-US" dirty="0"/>
              <a:t> </a:t>
            </a:r>
            <a:r>
              <a:rPr lang="en-US" dirty="0" err="1"/>
              <a:t>iki</a:t>
            </a:r>
            <a:r>
              <a:rPr lang="en-US" dirty="0"/>
              <a:t> </a:t>
            </a:r>
            <a:r>
              <a:rPr lang="en-US" dirty="0" err="1"/>
              <a:t>hüquq</a:t>
            </a:r>
            <a:r>
              <a:rPr lang="en-US" dirty="0"/>
              <a:t> </a:t>
            </a:r>
            <a:r>
              <a:rPr lang="en-US" dirty="0" err="1"/>
              <a:t>müəyyən</a:t>
            </a:r>
            <a:r>
              <a:rPr lang="en-US" dirty="0"/>
              <a:t> </a:t>
            </a:r>
            <a:r>
              <a:rPr lang="en-US" dirty="0" err="1"/>
              <a:t>müddət</a:t>
            </a:r>
            <a:r>
              <a:rPr lang="en-US" dirty="0"/>
              <a:t> </a:t>
            </a:r>
            <a:r>
              <a:rPr lang="en-US" dirty="0" err="1"/>
              <a:t>ərzində</a:t>
            </a:r>
            <a:r>
              <a:rPr lang="en-US" dirty="0"/>
              <a:t> </a:t>
            </a:r>
            <a:r>
              <a:rPr lang="en-US" dirty="0" err="1"/>
              <a:t>qanunla</a:t>
            </a:r>
            <a:r>
              <a:rPr lang="en-US" dirty="0"/>
              <a:t> </a:t>
            </a:r>
            <a:r>
              <a:rPr lang="en-US" dirty="0" err="1"/>
              <a:t>qorunur</a:t>
            </a:r>
            <a:r>
              <a:rPr lang="en-US" dirty="0"/>
              <a:t> </a:t>
            </a:r>
            <a:r>
              <a:rPr lang="en-US" dirty="0" err="1"/>
              <a:t>və</a:t>
            </a:r>
            <a:r>
              <a:rPr lang="en-US" dirty="0"/>
              <a:t> </a:t>
            </a:r>
            <a:r>
              <a:rPr lang="en-US" dirty="0" err="1"/>
              <a:t>bu</a:t>
            </a:r>
            <a:r>
              <a:rPr lang="en-US" dirty="0"/>
              <a:t> </a:t>
            </a:r>
            <a:r>
              <a:rPr lang="en-US" dirty="0" err="1"/>
              <a:t>müddət</a:t>
            </a:r>
            <a:r>
              <a:rPr lang="en-US" dirty="0"/>
              <a:t> </a:t>
            </a:r>
            <a:r>
              <a:rPr lang="en-US" dirty="0" err="1"/>
              <a:t>bitəndən</a:t>
            </a:r>
            <a:r>
              <a:rPr lang="en-US" dirty="0"/>
              <a:t> </a:t>
            </a:r>
            <a:r>
              <a:rPr lang="en-US" dirty="0" err="1"/>
              <a:t>sonra</a:t>
            </a:r>
            <a:r>
              <a:rPr lang="en-US" dirty="0"/>
              <a:t> </a:t>
            </a:r>
            <a:r>
              <a:rPr lang="en-US" dirty="0" err="1"/>
              <a:t>əsər</a:t>
            </a:r>
            <a:r>
              <a:rPr lang="en-US" dirty="0"/>
              <a:t> </a:t>
            </a:r>
            <a:r>
              <a:rPr lang="en-US" dirty="0" err="1"/>
              <a:t>ictimai</a:t>
            </a:r>
            <a:r>
              <a:rPr lang="en-US" dirty="0"/>
              <a:t> </a:t>
            </a:r>
            <a:r>
              <a:rPr lang="en-US" dirty="0" err="1"/>
              <a:t>istifadəyə</a:t>
            </a:r>
            <a:r>
              <a:rPr lang="en-US" dirty="0"/>
              <a:t> </a:t>
            </a:r>
            <a:r>
              <a:rPr lang="en-US" dirty="0" err="1"/>
              <a:t>keçir</a:t>
            </a:r>
            <a:r>
              <a:rPr lang="en-US" dirty="0"/>
              <a:t>.</a:t>
            </a:r>
          </a:p>
          <a:p>
            <a:pPr marL="0" indent="0">
              <a:buNone/>
            </a:pPr>
            <a:endParaRPr lang="en-US" dirty="0"/>
          </a:p>
          <a:p>
            <a:pPr marL="0" indent="0">
              <a:buNone/>
            </a:pPr>
            <a:r>
              <a:rPr lang="en-US" b="1" dirty="0"/>
              <a:t>6. </a:t>
            </a:r>
            <a:r>
              <a:rPr lang="en-US" b="1" dirty="0" err="1"/>
              <a:t>Mədəniyyət</a:t>
            </a:r>
            <a:r>
              <a:rPr lang="en-US" b="1" dirty="0"/>
              <a:t> </a:t>
            </a:r>
            <a:r>
              <a:rPr lang="en-US" b="1" dirty="0" err="1"/>
              <a:t>və</a:t>
            </a:r>
            <a:r>
              <a:rPr lang="en-US" b="1" dirty="0"/>
              <a:t> </a:t>
            </a:r>
            <a:r>
              <a:rPr lang="en-US" b="1" dirty="0" err="1"/>
              <a:t>incəsənətin</a:t>
            </a:r>
            <a:r>
              <a:rPr lang="en-US" b="1" dirty="0"/>
              <a:t> </a:t>
            </a:r>
            <a:r>
              <a:rPr lang="en-US" b="1" dirty="0" err="1"/>
              <a:t>inkişafına</a:t>
            </a:r>
            <a:r>
              <a:rPr lang="en-US" b="1" dirty="0"/>
              <a:t> </a:t>
            </a:r>
            <a:r>
              <a:rPr lang="en-US" b="1" dirty="0" err="1"/>
              <a:t>xidmət</a:t>
            </a:r>
            <a:r>
              <a:rPr lang="en-US" b="1" dirty="0"/>
              <a:t> </a:t>
            </a:r>
            <a:r>
              <a:rPr lang="en-US" b="1" dirty="0" err="1"/>
              <a:t>edir</a:t>
            </a:r>
            <a:endParaRPr lang="en-US" b="1" dirty="0"/>
          </a:p>
          <a:p>
            <a:r>
              <a:rPr lang="en-US" dirty="0" err="1"/>
              <a:t>Yaradıcı</a:t>
            </a:r>
            <a:r>
              <a:rPr lang="en-US" dirty="0"/>
              <a:t> </a:t>
            </a:r>
            <a:r>
              <a:rPr lang="en-US" dirty="0" err="1"/>
              <a:t>şəxslərin</a:t>
            </a:r>
            <a:r>
              <a:rPr lang="en-US" dirty="0"/>
              <a:t> </a:t>
            </a:r>
            <a:r>
              <a:rPr lang="en-US" dirty="0" err="1"/>
              <a:t>əməyinin</a:t>
            </a:r>
            <a:r>
              <a:rPr lang="en-US" dirty="0"/>
              <a:t> </a:t>
            </a:r>
            <a:r>
              <a:rPr lang="en-US" dirty="0" err="1"/>
              <a:t>tanınması</a:t>
            </a:r>
            <a:r>
              <a:rPr lang="en-US" dirty="0"/>
              <a:t>, </a:t>
            </a:r>
            <a:r>
              <a:rPr lang="en-US" dirty="0" err="1"/>
              <a:t>ifaçı</a:t>
            </a:r>
            <a:r>
              <a:rPr lang="en-US" dirty="0"/>
              <a:t> </a:t>
            </a:r>
            <a:r>
              <a:rPr lang="en-US" dirty="0" err="1"/>
              <a:t>və</a:t>
            </a:r>
            <a:r>
              <a:rPr lang="en-US" dirty="0"/>
              <a:t> </a:t>
            </a:r>
            <a:r>
              <a:rPr lang="en-US" dirty="0" err="1"/>
              <a:t>yayımçıların</a:t>
            </a:r>
            <a:r>
              <a:rPr lang="en-US" dirty="0"/>
              <a:t> </a:t>
            </a:r>
            <a:r>
              <a:rPr lang="en-US" dirty="0" err="1"/>
              <a:t>fəaliyyətinin</a:t>
            </a:r>
            <a:r>
              <a:rPr lang="en-US" dirty="0"/>
              <a:t> </a:t>
            </a:r>
            <a:r>
              <a:rPr lang="en-US" dirty="0" err="1"/>
              <a:t>təşviqi</a:t>
            </a:r>
            <a:r>
              <a:rPr lang="en-US" dirty="0"/>
              <a:t> </a:t>
            </a:r>
            <a:r>
              <a:rPr lang="en-US" dirty="0" err="1"/>
              <a:t>mədəniyyətin</a:t>
            </a:r>
            <a:r>
              <a:rPr lang="en-US" dirty="0"/>
              <a:t> </a:t>
            </a:r>
            <a:r>
              <a:rPr lang="en-US" dirty="0" err="1"/>
              <a:t>inkişafını</a:t>
            </a:r>
            <a:r>
              <a:rPr lang="en-US" dirty="0"/>
              <a:t> </a:t>
            </a:r>
            <a:r>
              <a:rPr lang="en-US" dirty="0" err="1"/>
              <a:t>dəstəkləyir</a:t>
            </a:r>
            <a:r>
              <a:rPr lang="en-US"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Müəllif</a:t>
            </a:r>
            <a:r>
              <a:rPr lang="en-US" b="1" dirty="0"/>
              <a:t> </a:t>
            </a:r>
            <a:r>
              <a:rPr lang="en-US" b="1" dirty="0" err="1"/>
              <a:t>hüququ</a:t>
            </a:r>
            <a:r>
              <a:rPr lang="en-US" b="1" dirty="0"/>
              <a:t> </a:t>
            </a:r>
            <a:r>
              <a:rPr lang="en-US" b="1" dirty="0" err="1"/>
              <a:t>və</a:t>
            </a:r>
            <a:r>
              <a:rPr lang="en-US" b="1" dirty="0"/>
              <a:t> </a:t>
            </a:r>
            <a:r>
              <a:rPr lang="en-US" b="1" dirty="0" err="1"/>
              <a:t>əlaqəli</a:t>
            </a:r>
            <a:r>
              <a:rPr lang="en-US" b="1" dirty="0"/>
              <a:t> </a:t>
            </a:r>
            <a:r>
              <a:rPr lang="en-US" b="1" dirty="0" err="1"/>
              <a:t>hüquqların</a:t>
            </a:r>
            <a:br>
              <a:rPr lang="az-Latn-AZ" b="1" dirty="0"/>
            </a:br>
            <a:r>
              <a:rPr lang="az-Latn-AZ" b="1" dirty="0"/>
              <a:t>qanunvericilikde tenzimlenmesi</a:t>
            </a:r>
            <a:endParaRPr dirty="0"/>
          </a:p>
        </p:txBody>
      </p:sp>
      <p:sp>
        <p:nvSpPr>
          <p:cNvPr id="3" name="Content Placeholder 2"/>
          <p:cNvSpPr>
            <a:spLocks noGrp="1"/>
          </p:cNvSpPr>
          <p:nvPr>
            <p:ph idx="1"/>
          </p:nvPr>
        </p:nvSpPr>
        <p:spPr>
          <a:xfrm>
            <a:off x="457200" y="1600200"/>
            <a:ext cx="8229600" cy="4983162"/>
          </a:xfrm>
        </p:spPr>
        <p:txBody>
          <a:bodyPr>
            <a:normAutofit fontScale="47500" lnSpcReduction="20000"/>
          </a:bodyPr>
          <a:lstStyle/>
          <a:p>
            <a:pPr marL="0" indent="0">
              <a:buNone/>
            </a:pPr>
            <a:r>
              <a:rPr lang="az-Latn-AZ" b="1" dirty="0"/>
              <a:t>  </a:t>
            </a:r>
            <a:r>
              <a:rPr lang="en-US" b="1" dirty="0" err="1"/>
              <a:t>Müəlliflik</a:t>
            </a:r>
            <a:r>
              <a:rPr lang="en-US" b="1" dirty="0"/>
              <a:t> </a:t>
            </a:r>
            <a:r>
              <a:rPr lang="en-US" b="1" dirty="0" err="1"/>
              <a:t>və</a:t>
            </a:r>
            <a:r>
              <a:rPr lang="en-US" b="1" dirty="0"/>
              <a:t> </a:t>
            </a:r>
            <a:r>
              <a:rPr lang="en-US" b="1" dirty="0" err="1"/>
              <a:t>əlaqəli</a:t>
            </a:r>
            <a:r>
              <a:rPr lang="en-US" b="1" dirty="0"/>
              <a:t> </a:t>
            </a:r>
            <a:r>
              <a:rPr lang="en-US" b="1" dirty="0" err="1"/>
              <a:t>hüquqlar</a:t>
            </a:r>
            <a:r>
              <a:rPr lang="en-US" b="1" dirty="0"/>
              <a:t> </a:t>
            </a:r>
            <a:r>
              <a:rPr lang="en-US" b="1" dirty="0" err="1"/>
              <a:t>Azərbaycanda</a:t>
            </a:r>
            <a:r>
              <a:rPr lang="en-US" b="1" dirty="0"/>
              <a:t> </a:t>
            </a:r>
            <a:r>
              <a:rPr lang="en-US" b="1" dirty="0" err="1"/>
              <a:t>və</a:t>
            </a:r>
            <a:r>
              <a:rPr lang="en-US" b="1" dirty="0"/>
              <a:t> </a:t>
            </a:r>
            <a:r>
              <a:rPr lang="en-US" b="1" dirty="0" err="1"/>
              <a:t>beynəlxalq</a:t>
            </a:r>
            <a:r>
              <a:rPr lang="en-US" b="1" dirty="0"/>
              <a:t> </a:t>
            </a:r>
            <a:r>
              <a:rPr lang="en-US" b="1" dirty="0" err="1"/>
              <a:t>səviyyədə</a:t>
            </a:r>
            <a:r>
              <a:rPr lang="en-US" b="1" dirty="0"/>
              <a:t> </a:t>
            </a:r>
            <a:r>
              <a:rPr lang="en-US" b="1" dirty="0" err="1"/>
              <a:t>xüsusi</a:t>
            </a:r>
            <a:r>
              <a:rPr lang="en-US" b="1" dirty="0"/>
              <a:t> </a:t>
            </a:r>
            <a:r>
              <a:rPr lang="en-US" b="1" dirty="0" err="1"/>
              <a:t>qanunlarla</a:t>
            </a:r>
            <a:r>
              <a:rPr lang="en-US" b="1" dirty="0"/>
              <a:t> </a:t>
            </a:r>
            <a:r>
              <a:rPr lang="en-US" b="1" dirty="0" err="1"/>
              <a:t>qorunur</a:t>
            </a:r>
            <a:r>
              <a:rPr lang="en-US" b="1" dirty="0"/>
              <a:t>. Bu </a:t>
            </a:r>
            <a:r>
              <a:rPr lang="az-Latn-AZ" b="1" dirty="0"/>
              <a:t>      h</a:t>
            </a:r>
            <a:r>
              <a:rPr lang="en-US" b="1" dirty="0" err="1"/>
              <a:t>üquqların</a:t>
            </a:r>
            <a:r>
              <a:rPr lang="en-US" b="1" dirty="0"/>
              <a:t> </a:t>
            </a:r>
            <a:r>
              <a:rPr lang="en-US" b="1" dirty="0" err="1"/>
              <a:t>tənzimlənməsi</a:t>
            </a:r>
            <a:r>
              <a:rPr lang="en-US" b="1" dirty="0"/>
              <a:t> </a:t>
            </a:r>
            <a:r>
              <a:rPr lang="en-US" b="1" dirty="0" err="1"/>
              <a:t>yaradıcı</a:t>
            </a:r>
            <a:r>
              <a:rPr lang="en-US" b="1" dirty="0"/>
              <a:t> </a:t>
            </a:r>
            <a:r>
              <a:rPr lang="en-US" b="1" dirty="0" err="1"/>
              <a:t>şəxslərin</a:t>
            </a:r>
            <a:r>
              <a:rPr lang="en-US" b="1" dirty="0"/>
              <a:t> </a:t>
            </a:r>
            <a:r>
              <a:rPr lang="en-US" b="1" dirty="0" err="1"/>
              <a:t>maraqlarının</a:t>
            </a:r>
            <a:r>
              <a:rPr lang="en-US" b="1" dirty="0"/>
              <a:t> </a:t>
            </a:r>
            <a:r>
              <a:rPr lang="en-US" b="1" dirty="0" err="1"/>
              <a:t>müdafiəsini</a:t>
            </a:r>
            <a:r>
              <a:rPr lang="en-US" b="1" dirty="0"/>
              <a:t> </a:t>
            </a:r>
            <a:r>
              <a:rPr lang="en-US" b="1" dirty="0" err="1"/>
              <a:t>təmin</a:t>
            </a:r>
            <a:r>
              <a:rPr lang="en-US" b="1" dirty="0"/>
              <a:t> </a:t>
            </a:r>
            <a:r>
              <a:rPr lang="en-US" b="1" dirty="0" err="1"/>
              <a:t>edir</a:t>
            </a:r>
            <a:r>
              <a:rPr lang="en-US" b="1" dirty="0"/>
              <a:t>.</a:t>
            </a:r>
            <a:br>
              <a:rPr lang="en-US" dirty="0"/>
            </a:br>
            <a:endParaRPr lang="en-US" dirty="0"/>
          </a:p>
          <a:p>
            <a:pPr marL="0" indent="0">
              <a:buNone/>
            </a:pPr>
            <a:r>
              <a:rPr lang="en-US" b="1" dirty="0"/>
              <a:t>1. </a:t>
            </a:r>
            <a:r>
              <a:rPr lang="en-US" b="1" dirty="0" err="1"/>
              <a:t>Azərbaycan</a:t>
            </a:r>
            <a:r>
              <a:rPr lang="en-US" b="1" dirty="0"/>
              <a:t> </a:t>
            </a:r>
            <a:r>
              <a:rPr lang="en-US" b="1" dirty="0" err="1"/>
              <a:t>qanunvericiliyi</a:t>
            </a:r>
            <a:endParaRPr lang="en-US" b="1" dirty="0"/>
          </a:p>
          <a:p>
            <a:r>
              <a:rPr lang="en-US" b="1" dirty="0"/>
              <a:t>“</a:t>
            </a:r>
            <a:r>
              <a:rPr lang="en-US" b="1" dirty="0" err="1"/>
              <a:t>Müəlliflik</a:t>
            </a:r>
            <a:r>
              <a:rPr lang="en-US" b="1" dirty="0"/>
              <a:t> </a:t>
            </a:r>
            <a:r>
              <a:rPr lang="en-US" b="1" dirty="0" err="1"/>
              <a:t>hüququ</a:t>
            </a:r>
            <a:r>
              <a:rPr lang="en-US" b="1" dirty="0"/>
              <a:t> </a:t>
            </a:r>
            <a:r>
              <a:rPr lang="en-US" b="1" dirty="0" err="1"/>
              <a:t>və</a:t>
            </a:r>
            <a:r>
              <a:rPr lang="en-US" b="1" dirty="0"/>
              <a:t> </a:t>
            </a:r>
            <a:r>
              <a:rPr lang="en-US" b="1" dirty="0" err="1"/>
              <a:t>əlaqəli</a:t>
            </a:r>
            <a:r>
              <a:rPr lang="en-US" b="1" dirty="0"/>
              <a:t> </a:t>
            </a:r>
            <a:r>
              <a:rPr lang="en-US" b="1" dirty="0" err="1"/>
              <a:t>hüquqlar</a:t>
            </a:r>
            <a:r>
              <a:rPr lang="en-US" b="1" dirty="0"/>
              <a:t> </a:t>
            </a:r>
            <a:r>
              <a:rPr lang="en-US" b="1" dirty="0" err="1"/>
              <a:t>haqqında</a:t>
            </a:r>
            <a:r>
              <a:rPr lang="en-US" b="1" dirty="0"/>
              <a:t>” Qanun</a:t>
            </a:r>
            <a:br>
              <a:rPr lang="en-US" dirty="0"/>
            </a:br>
            <a:r>
              <a:rPr lang="en-US" dirty="0"/>
              <a:t>(12 </a:t>
            </a:r>
            <a:r>
              <a:rPr lang="en-US" dirty="0" err="1"/>
              <a:t>iyun</a:t>
            </a:r>
            <a:r>
              <a:rPr lang="en-US" dirty="0"/>
              <a:t> 1996-cı il) — </a:t>
            </a:r>
            <a:r>
              <a:rPr lang="en-US" dirty="0" err="1"/>
              <a:t>əsərlərin</a:t>
            </a:r>
            <a:r>
              <a:rPr lang="en-US" dirty="0"/>
              <a:t>, </a:t>
            </a:r>
            <a:r>
              <a:rPr lang="en-US" dirty="0" err="1"/>
              <a:t>ifaçıların</a:t>
            </a:r>
            <a:r>
              <a:rPr lang="en-US" dirty="0"/>
              <a:t>, </a:t>
            </a:r>
            <a:r>
              <a:rPr lang="en-US" dirty="0" err="1"/>
              <a:t>fonoqram</a:t>
            </a:r>
            <a:r>
              <a:rPr lang="en-US" dirty="0"/>
              <a:t> </a:t>
            </a:r>
            <a:r>
              <a:rPr lang="en-US" dirty="0" err="1"/>
              <a:t>istehsalçılarının</a:t>
            </a:r>
            <a:r>
              <a:rPr lang="en-US" dirty="0"/>
              <a:t> </a:t>
            </a:r>
            <a:r>
              <a:rPr lang="en-US" dirty="0" err="1"/>
              <a:t>və</a:t>
            </a:r>
            <a:r>
              <a:rPr lang="en-US" dirty="0"/>
              <a:t> </a:t>
            </a:r>
            <a:r>
              <a:rPr lang="en-US" dirty="0" err="1"/>
              <a:t>yayımçıların</a:t>
            </a:r>
            <a:r>
              <a:rPr lang="en-US" dirty="0"/>
              <a:t> </a:t>
            </a:r>
            <a:r>
              <a:rPr lang="en-US" dirty="0" err="1"/>
              <a:t>hüquqlarını</a:t>
            </a:r>
            <a:r>
              <a:rPr lang="en-US" dirty="0"/>
              <a:t> </a:t>
            </a:r>
            <a:r>
              <a:rPr lang="en-US" dirty="0" err="1"/>
              <a:t>müəyyən</a:t>
            </a:r>
            <a:r>
              <a:rPr lang="en-US" dirty="0"/>
              <a:t> </a:t>
            </a:r>
            <a:r>
              <a:rPr lang="en-US" dirty="0" err="1"/>
              <a:t>edir</a:t>
            </a:r>
            <a:r>
              <a:rPr lang="en-US" dirty="0"/>
              <a:t>.</a:t>
            </a:r>
          </a:p>
          <a:p>
            <a:r>
              <a:rPr lang="en-US" b="1" dirty="0" err="1"/>
              <a:t>Mülki</a:t>
            </a:r>
            <a:r>
              <a:rPr lang="en-US" b="1" dirty="0"/>
              <a:t> </a:t>
            </a:r>
            <a:r>
              <a:rPr lang="en-US" b="1" dirty="0" err="1"/>
              <a:t>Məcəllə</a:t>
            </a:r>
            <a:r>
              <a:rPr lang="en-US" dirty="0"/>
              <a:t> — </a:t>
            </a:r>
            <a:r>
              <a:rPr lang="en-US" dirty="0" err="1"/>
              <a:t>müəlliflik</a:t>
            </a:r>
            <a:r>
              <a:rPr lang="en-US" dirty="0"/>
              <a:t> </a:t>
            </a:r>
            <a:r>
              <a:rPr lang="en-US" dirty="0" err="1"/>
              <a:t>hüquqları</a:t>
            </a:r>
            <a:r>
              <a:rPr lang="en-US" dirty="0"/>
              <a:t> </a:t>
            </a:r>
            <a:r>
              <a:rPr lang="en-US" dirty="0" err="1"/>
              <a:t>ilə</a:t>
            </a:r>
            <a:r>
              <a:rPr lang="en-US" dirty="0"/>
              <a:t> </a:t>
            </a:r>
            <a:r>
              <a:rPr lang="en-US" dirty="0" err="1"/>
              <a:t>bağlı</a:t>
            </a:r>
            <a:r>
              <a:rPr lang="en-US" dirty="0"/>
              <a:t> </a:t>
            </a:r>
            <a:r>
              <a:rPr lang="en-US" dirty="0" err="1"/>
              <a:t>ümumi</a:t>
            </a:r>
            <a:r>
              <a:rPr lang="en-US" dirty="0"/>
              <a:t> </a:t>
            </a:r>
            <a:r>
              <a:rPr lang="en-US" dirty="0" err="1"/>
              <a:t>prinsipləri</a:t>
            </a:r>
            <a:r>
              <a:rPr lang="en-US" dirty="0"/>
              <a:t> </a:t>
            </a:r>
            <a:r>
              <a:rPr lang="en-US" dirty="0" err="1"/>
              <a:t>təsbit</a:t>
            </a:r>
            <a:r>
              <a:rPr lang="en-US" dirty="0"/>
              <a:t> </a:t>
            </a:r>
            <a:r>
              <a:rPr lang="en-US" dirty="0" err="1"/>
              <a:t>edir</a:t>
            </a:r>
            <a:r>
              <a:rPr lang="en-US" dirty="0"/>
              <a:t>.</a:t>
            </a:r>
          </a:p>
          <a:p>
            <a:r>
              <a:rPr lang="en-US" b="1" dirty="0" err="1"/>
              <a:t>İnzibati</a:t>
            </a:r>
            <a:r>
              <a:rPr lang="en-US" b="1" dirty="0"/>
              <a:t> </a:t>
            </a:r>
            <a:r>
              <a:rPr lang="en-US" b="1" dirty="0" err="1"/>
              <a:t>Xətalar</a:t>
            </a:r>
            <a:r>
              <a:rPr lang="en-US" b="1" dirty="0"/>
              <a:t> </a:t>
            </a:r>
            <a:r>
              <a:rPr lang="en-US" b="1" dirty="0" err="1"/>
              <a:t>və</a:t>
            </a:r>
            <a:r>
              <a:rPr lang="en-US" b="1" dirty="0"/>
              <a:t> </a:t>
            </a:r>
            <a:r>
              <a:rPr lang="en-US" b="1" dirty="0" err="1"/>
              <a:t>Cinayət</a:t>
            </a:r>
            <a:r>
              <a:rPr lang="en-US" b="1" dirty="0"/>
              <a:t> </a:t>
            </a:r>
            <a:r>
              <a:rPr lang="en-US" b="1" dirty="0" err="1"/>
              <a:t>Məcəlləsi</a:t>
            </a:r>
            <a:r>
              <a:rPr lang="en-US" dirty="0"/>
              <a:t> — </a:t>
            </a:r>
            <a:r>
              <a:rPr lang="en-US" dirty="0" err="1"/>
              <a:t>piratçılıq</a:t>
            </a:r>
            <a:r>
              <a:rPr lang="en-US" dirty="0"/>
              <a:t> </a:t>
            </a:r>
            <a:r>
              <a:rPr lang="en-US" dirty="0" err="1"/>
              <a:t>və</a:t>
            </a:r>
            <a:r>
              <a:rPr lang="en-US" dirty="0"/>
              <a:t> </a:t>
            </a:r>
            <a:r>
              <a:rPr lang="en-US" dirty="0" err="1"/>
              <a:t>hüquqların</a:t>
            </a:r>
            <a:r>
              <a:rPr lang="en-US" dirty="0"/>
              <a:t> </a:t>
            </a:r>
            <a:r>
              <a:rPr lang="en-US" dirty="0" err="1"/>
              <a:t>pozulmasına</a:t>
            </a:r>
            <a:r>
              <a:rPr lang="en-US" dirty="0"/>
              <a:t> </a:t>
            </a:r>
            <a:r>
              <a:rPr lang="en-US" dirty="0" err="1"/>
              <a:t>görə</a:t>
            </a:r>
            <a:r>
              <a:rPr lang="en-US" dirty="0"/>
              <a:t> </a:t>
            </a:r>
            <a:r>
              <a:rPr lang="en-US" dirty="0" err="1"/>
              <a:t>məsuliyyət</a:t>
            </a:r>
            <a:r>
              <a:rPr lang="en-US" dirty="0"/>
              <a:t> </a:t>
            </a:r>
            <a:r>
              <a:rPr lang="en-US" dirty="0" err="1"/>
              <a:t>nəzərdə</a:t>
            </a:r>
            <a:r>
              <a:rPr lang="en-US" dirty="0"/>
              <a:t> </a:t>
            </a:r>
            <a:r>
              <a:rPr lang="en-US" dirty="0" err="1"/>
              <a:t>tutur</a:t>
            </a:r>
            <a:r>
              <a:rPr lang="en-US" dirty="0"/>
              <a:t>.</a:t>
            </a:r>
          </a:p>
          <a:p>
            <a:pPr marL="0" indent="0">
              <a:buNone/>
            </a:pPr>
            <a:endParaRPr lang="en-US" dirty="0"/>
          </a:p>
          <a:p>
            <a:pPr marL="0" indent="0">
              <a:buNone/>
            </a:pPr>
            <a:r>
              <a:rPr lang="en-US" b="1" dirty="0"/>
              <a:t>2. </a:t>
            </a:r>
            <a:r>
              <a:rPr lang="en-US" b="1" dirty="0" err="1"/>
              <a:t>Beynəlxalq</a:t>
            </a:r>
            <a:r>
              <a:rPr lang="en-US" b="1" dirty="0"/>
              <a:t> </a:t>
            </a:r>
            <a:r>
              <a:rPr lang="en-US" b="1" dirty="0" err="1"/>
              <a:t>müqavilələr</a:t>
            </a:r>
            <a:endParaRPr lang="en-US" b="1" dirty="0"/>
          </a:p>
          <a:p>
            <a:r>
              <a:rPr lang="en-US" dirty="0" err="1"/>
              <a:t>Azərbaycan</a:t>
            </a:r>
            <a:r>
              <a:rPr lang="en-US" dirty="0"/>
              <a:t> </a:t>
            </a:r>
            <a:r>
              <a:rPr lang="en-US" dirty="0" err="1"/>
              <a:t>aşağıdakı</a:t>
            </a:r>
            <a:r>
              <a:rPr lang="en-US" dirty="0"/>
              <a:t> </a:t>
            </a:r>
            <a:r>
              <a:rPr lang="en-US" dirty="0" err="1"/>
              <a:t>beynəlxalq</a:t>
            </a:r>
            <a:r>
              <a:rPr lang="en-US" dirty="0"/>
              <a:t> </a:t>
            </a:r>
            <a:r>
              <a:rPr lang="en-US" dirty="0" err="1"/>
              <a:t>sənədlərə</a:t>
            </a:r>
            <a:r>
              <a:rPr lang="en-US" dirty="0"/>
              <a:t> </a:t>
            </a:r>
            <a:r>
              <a:rPr lang="en-US" dirty="0" err="1"/>
              <a:t>qoşulmuşdur</a:t>
            </a:r>
            <a:r>
              <a:rPr lang="en-US" dirty="0"/>
              <a:t>:</a:t>
            </a:r>
          </a:p>
          <a:p>
            <a:r>
              <a:rPr lang="en-US" b="1" dirty="0"/>
              <a:t>Bern </a:t>
            </a:r>
            <a:r>
              <a:rPr lang="en-US" b="1" dirty="0" err="1"/>
              <a:t>Konvensiyası</a:t>
            </a:r>
            <a:r>
              <a:rPr lang="en-US" dirty="0"/>
              <a:t> — </a:t>
            </a:r>
            <a:r>
              <a:rPr lang="en-US" dirty="0" err="1"/>
              <a:t>əsərlərin</a:t>
            </a:r>
            <a:r>
              <a:rPr lang="en-US" dirty="0"/>
              <a:t> </a:t>
            </a:r>
            <a:r>
              <a:rPr lang="en-US" dirty="0" err="1"/>
              <a:t>beynəlxalq</a:t>
            </a:r>
            <a:r>
              <a:rPr lang="en-US" dirty="0"/>
              <a:t> </a:t>
            </a:r>
            <a:r>
              <a:rPr lang="en-US" dirty="0" err="1"/>
              <a:t>səviyyədə</a:t>
            </a:r>
            <a:r>
              <a:rPr lang="en-US" dirty="0"/>
              <a:t> </a:t>
            </a:r>
            <a:r>
              <a:rPr lang="en-US" dirty="0" err="1"/>
              <a:t>qorunması</a:t>
            </a:r>
            <a:endParaRPr lang="en-US" dirty="0"/>
          </a:p>
          <a:p>
            <a:r>
              <a:rPr lang="en-US" b="1" dirty="0"/>
              <a:t>Roma </a:t>
            </a:r>
            <a:r>
              <a:rPr lang="en-US" b="1" dirty="0" err="1"/>
              <a:t>Konvensiyası</a:t>
            </a:r>
            <a:r>
              <a:rPr lang="en-US" dirty="0"/>
              <a:t> — </a:t>
            </a:r>
            <a:r>
              <a:rPr lang="en-US" dirty="0" err="1"/>
              <a:t>ifaçılar</a:t>
            </a:r>
            <a:r>
              <a:rPr lang="en-US" dirty="0"/>
              <a:t> </a:t>
            </a:r>
            <a:r>
              <a:rPr lang="en-US" dirty="0" err="1"/>
              <a:t>və</a:t>
            </a:r>
            <a:r>
              <a:rPr lang="en-US" dirty="0"/>
              <a:t> </a:t>
            </a:r>
            <a:r>
              <a:rPr lang="en-US" dirty="0" err="1"/>
              <a:t>yayımçıların</a:t>
            </a:r>
            <a:r>
              <a:rPr lang="en-US" dirty="0"/>
              <a:t> </a:t>
            </a:r>
            <a:r>
              <a:rPr lang="en-US" dirty="0" err="1"/>
              <a:t>hüquqları</a:t>
            </a:r>
            <a:endParaRPr lang="en-US" dirty="0"/>
          </a:p>
          <a:p>
            <a:r>
              <a:rPr lang="en-US" b="1" dirty="0"/>
              <a:t>WIPO </a:t>
            </a:r>
            <a:r>
              <a:rPr lang="en-US" b="1" dirty="0" err="1"/>
              <a:t>Müəlliflik</a:t>
            </a:r>
            <a:r>
              <a:rPr lang="en-US" b="1" dirty="0"/>
              <a:t> </a:t>
            </a:r>
            <a:r>
              <a:rPr lang="en-US" b="1" dirty="0" err="1"/>
              <a:t>və</a:t>
            </a:r>
            <a:r>
              <a:rPr lang="en-US" b="1" dirty="0"/>
              <a:t> </a:t>
            </a:r>
            <a:r>
              <a:rPr lang="en-US" b="1" dirty="0" err="1"/>
              <a:t>İfaçı-Fonoqram</a:t>
            </a:r>
            <a:r>
              <a:rPr lang="en-US" b="1" dirty="0"/>
              <a:t> </a:t>
            </a:r>
            <a:r>
              <a:rPr lang="en-US" b="1" dirty="0" err="1"/>
              <a:t>Müqavilələri</a:t>
            </a:r>
            <a:r>
              <a:rPr lang="en-US" b="1" dirty="0"/>
              <a:t> (WCT &amp; WPPT)</a:t>
            </a:r>
            <a:br>
              <a:rPr lang="en-US" dirty="0"/>
            </a:br>
            <a:endParaRPr lang="en-US" dirty="0"/>
          </a:p>
          <a:p>
            <a:pPr marL="0" indent="0">
              <a:buNone/>
            </a:pPr>
            <a:r>
              <a:rPr lang="en-US" b="1" dirty="0"/>
              <a:t>3. </a:t>
            </a:r>
            <a:r>
              <a:rPr lang="en-US" b="1" dirty="0" err="1"/>
              <a:t>Qanunvericiliyin</a:t>
            </a:r>
            <a:r>
              <a:rPr lang="en-US" b="1" dirty="0"/>
              <a:t> </a:t>
            </a:r>
            <a:r>
              <a:rPr lang="en-US" b="1" dirty="0" err="1"/>
              <a:t>məqsədi</a:t>
            </a:r>
            <a:endParaRPr lang="en-US" b="1" dirty="0"/>
          </a:p>
          <a:p>
            <a:r>
              <a:rPr lang="en-US" dirty="0" err="1"/>
              <a:t>Yaradıcı</a:t>
            </a:r>
            <a:r>
              <a:rPr lang="en-US" dirty="0"/>
              <a:t> </a:t>
            </a:r>
            <a:r>
              <a:rPr lang="en-US" dirty="0" err="1"/>
              <a:t>şəxslərin</a:t>
            </a:r>
            <a:r>
              <a:rPr lang="en-US" dirty="0"/>
              <a:t> </a:t>
            </a:r>
            <a:r>
              <a:rPr lang="en-US" dirty="0" err="1"/>
              <a:t>hüquqlarını</a:t>
            </a:r>
            <a:r>
              <a:rPr lang="en-US" dirty="0"/>
              <a:t> </a:t>
            </a:r>
            <a:r>
              <a:rPr lang="en-US" dirty="0" err="1"/>
              <a:t>qorumaq</a:t>
            </a:r>
            <a:endParaRPr lang="en-US" dirty="0"/>
          </a:p>
          <a:p>
            <a:r>
              <a:rPr lang="en-US" dirty="0" err="1"/>
              <a:t>Əsərlərin</a:t>
            </a:r>
            <a:r>
              <a:rPr lang="en-US" dirty="0"/>
              <a:t> </a:t>
            </a:r>
            <a:r>
              <a:rPr lang="en-US" dirty="0" err="1"/>
              <a:t>qanunsuz</a:t>
            </a:r>
            <a:r>
              <a:rPr lang="en-US" dirty="0"/>
              <a:t> </a:t>
            </a:r>
            <a:r>
              <a:rPr lang="en-US" dirty="0" err="1"/>
              <a:t>istifadəsinin</a:t>
            </a:r>
            <a:r>
              <a:rPr lang="en-US" dirty="0"/>
              <a:t> </a:t>
            </a:r>
            <a:r>
              <a:rPr lang="en-US" dirty="0" err="1"/>
              <a:t>qarşısını</a:t>
            </a:r>
            <a:r>
              <a:rPr lang="en-US" dirty="0"/>
              <a:t> </a:t>
            </a:r>
            <a:r>
              <a:rPr lang="en-US" dirty="0" err="1"/>
              <a:t>almaq</a:t>
            </a:r>
            <a:endParaRPr lang="en-US" dirty="0"/>
          </a:p>
          <a:p>
            <a:r>
              <a:rPr lang="en-US" dirty="0" err="1"/>
              <a:t>Mədəniyyət</a:t>
            </a:r>
            <a:r>
              <a:rPr lang="en-US" dirty="0"/>
              <a:t> </a:t>
            </a:r>
            <a:r>
              <a:rPr lang="en-US" dirty="0" err="1"/>
              <a:t>və</a:t>
            </a:r>
            <a:r>
              <a:rPr lang="en-US" dirty="0"/>
              <a:t> </a:t>
            </a:r>
            <a:r>
              <a:rPr lang="en-US" dirty="0" err="1"/>
              <a:t>kreativ</a:t>
            </a:r>
            <a:r>
              <a:rPr lang="en-US" dirty="0"/>
              <a:t> </a:t>
            </a:r>
            <a:r>
              <a:rPr lang="en-US" dirty="0" err="1"/>
              <a:t>sənayenin</a:t>
            </a:r>
            <a:r>
              <a:rPr lang="en-US" dirty="0"/>
              <a:t> </a:t>
            </a:r>
            <a:r>
              <a:rPr lang="en-US" dirty="0" err="1"/>
              <a:t>inkişafına</a:t>
            </a:r>
            <a:r>
              <a:rPr lang="en-US" dirty="0"/>
              <a:t> </a:t>
            </a:r>
            <a:r>
              <a:rPr lang="en-US" dirty="0" err="1"/>
              <a:t>şərait</a:t>
            </a:r>
            <a:r>
              <a:rPr lang="en-US" dirty="0"/>
              <a:t> </a:t>
            </a:r>
            <a:r>
              <a:rPr lang="en-US" dirty="0" err="1"/>
              <a:t>yaratmaq</a:t>
            </a:r>
            <a:endParaRPr lang="en-US" dirty="0"/>
          </a:p>
          <a:p>
            <a:r>
              <a:rPr lang="en-US" dirty="0" err="1"/>
              <a:t>Beynəlxalq</a:t>
            </a:r>
            <a:r>
              <a:rPr lang="en-US" dirty="0"/>
              <a:t> </a:t>
            </a:r>
            <a:r>
              <a:rPr lang="en-US" dirty="0" err="1"/>
              <a:t>standartlara</a:t>
            </a:r>
            <a:r>
              <a:rPr lang="en-US" dirty="0"/>
              <a:t> </a:t>
            </a:r>
            <a:r>
              <a:rPr lang="en-US" dirty="0" err="1"/>
              <a:t>uyğun</a:t>
            </a:r>
            <a:r>
              <a:rPr lang="en-US" dirty="0"/>
              <a:t> </a:t>
            </a:r>
            <a:r>
              <a:rPr lang="en-US" dirty="0" err="1"/>
              <a:t>hüquqi</a:t>
            </a:r>
            <a:r>
              <a:rPr lang="en-US" dirty="0"/>
              <a:t> </a:t>
            </a:r>
            <a:r>
              <a:rPr lang="en-US" dirty="0" err="1"/>
              <a:t>mühit</a:t>
            </a:r>
            <a:r>
              <a:rPr lang="en-US" dirty="0"/>
              <a:t> </a:t>
            </a:r>
            <a:r>
              <a:rPr lang="en-US" dirty="0" err="1"/>
              <a:t>formalaşdırmaq</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0445306-134E-CAB0-928B-623640C6D9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376"/>
          <a:stretch>
            <a:fillRect/>
          </a:stretch>
        </p:blipFill>
        <p:spPr bwMode="auto">
          <a:xfrm>
            <a:off x="4652103" y="1833560"/>
            <a:ext cx="4237065" cy="395672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fontScale="90000"/>
          </a:bodyPr>
          <a:lstStyle/>
          <a:p>
            <a:r>
              <a:rPr lang="en-US" b="1" dirty="0" err="1"/>
              <a:t>Müəllif</a:t>
            </a:r>
            <a:r>
              <a:rPr lang="en-US" b="1" dirty="0"/>
              <a:t> </a:t>
            </a:r>
            <a:r>
              <a:rPr lang="en-US" b="1" dirty="0" err="1"/>
              <a:t>hüququ</a:t>
            </a:r>
            <a:r>
              <a:rPr lang="en-US" b="1" dirty="0"/>
              <a:t> </a:t>
            </a:r>
            <a:r>
              <a:rPr lang="en-US" b="1" dirty="0" err="1"/>
              <a:t>və</a:t>
            </a:r>
            <a:r>
              <a:rPr lang="en-US" b="1" dirty="0"/>
              <a:t> </a:t>
            </a:r>
            <a:r>
              <a:rPr lang="en-US" b="1" dirty="0" err="1"/>
              <a:t>əlaqəli</a:t>
            </a:r>
            <a:r>
              <a:rPr lang="en-US" b="1" dirty="0"/>
              <a:t> </a:t>
            </a:r>
            <a:r>
              <a:rPr lang="en-US" b="1" dirty="0" err="1"/>
              <a:t>hüquqların</a:t>
            </a:r>
            <a:r>
              <a:rPr lang="az-Latn-AZ" b="1" dirty="0"/>
              <a:t> texnoloji mühitdə qoruma</a:t>
            </a:r>
            <a:endParaRPr dirty="0"/>
          </a:p>
        </p:txBody>
      </p:sp>
      <p:sp>
        <p:nvSpPr>
          <p:cNvPr id="3" name="Content Placeholder 2"/>
          <p:cNvSpPr>
            <a:spLocks noGrp="1"/>
          </p:cNvSpPr>
          <p:nvPr>
            <p:ph idx="1"/>
          </p:nvPr>
        </p:nvSpPr>
        <p:spPr>
          <a:xfrm>
            <a:off x="262328" y="1417638"/>
            <a:ext cx="5029200" cy="5778708"/>
          </a:xfrm>
        </p:spPr>
        <p:txBody>
          <a:bodyPr>
            <a:normAutofit fontScale="40000" lnSpcReduction="20000"/>
          </a:bodyPr>
          <a:lstStyle/>
          <a:p>
            <a:pPr marL="0" indent="0">
              <a:buNone/>
            </a:pPr>
            <a:r>
              <a:rPr lang="en-US" b="1" dirty="0"/>
              <a:t>1. </a:t>
            </a:r>
            <a:r>
              <a:rPr lang="en-US" b="1" dirty="0" err="1"/>
              <a:t>Rəqəmsal</a:t>
            </a:r>
            <a:r>
              <a:rPr lang="en-US" b="1" dirty="0"/>
              <a:t> </a:t>
            </a:r>
            <a:r>
              <a:rPr lang="en-US" b="1" dirty="0" err="1"/>
              <a:t>hüquq</a:t>
            </a:r>
            <a:r>
              <a:rPr lang="en-US" b="1" dirty="0"/>
              <a:t> </a:t>
            </a:r>
            <a:r>
              <a:rPr lang="en-US" b="1" dirty="0" err="1"/>
              <a:t>idarəetmə</a:t>
            </a:r>
            <a:r>
              <a:rPr lang="en-US" b="1" dirty="0"/>
              <a:t> </a:t>
            </a:r>
            <a:r>
              <a:rPr lang="en-US" b="1" dirty="0" err="1"/>
              <a:t>sistemləri</a:t>
            </a:r>
            <a:r>
              <a:rPr lang="en-US" b="1" dirty="0"/>
              <a:t> (DRM)</a:t>
            </a:r>
          </a:p>
          <a:p>
            <a:r>
              <a:rPr lang="en-US" dirty="0" err="1"/>
              <a:t>Musiqi</a:t>
            </a:r>
            <a:r>
              <a:rPr lang="en-US" dirty="0"/>
              <a:t>, film, kitab </a:t>
            </a:r>
            <a:r>
              <a:rPr lang="en-US" dirty="0" err="1"/>
              <a:t>kimi</a:t>
            </a:r>
            <a:r>
              <a:rPr lang="en-US" dirty="0"/>
              <a:t> </a:t>
            </a:r>
            <a:r>
              <a:rPr lang="en-US" dirty="0" err="1"/>
              <a:t>rəqəmsal</a:t>
            </a:r>
            <a:r>
              <a:rPr lang="en-US" dirty="0"/>
              <a:t> </a:t>
            </a:r>
            <a:r>
              <a:rPr lang="en-US" dirty="0" err="1"/>
              <a:t>məhsulların</a:t>
            </a:r>
            <a:r>
              <a:rPr lang="en-US" dirty="0"/>
              <a:t> </a:t>
            </a:r>
            <a:r>
              <a:rPr lang="en-US" b="1" dirty="0" err="1"/>
              <a:t>icazəsiz</a:t>
            </a:r>
            <a:r>
              <a:rPr lang="en-US" b="1" dirty="0"/>
              <a:t> </a:t>
            </a:r>
            <a:r>
              <a:rPr lang="en-US" b="1" dirty="0" err="1"/>
              <a:t>kopyalanmasının</a:t>
            </a:r>
            <a:r>
              <a:rPr lang="en-US" b="1" dirty="0"/>
              <a:t> </a:t>
            </a:r>
            <a:r>
              <a:rPr lang="en-US" b="1" dirty="0" err="1"/>
              <a:t>qarşısını</a:t>
            </a:r>
            <a:r>
              <a:rPr lang="en-US" b="1" dirty="0"/>
              <a:t> </a:t>
            </a:r>
            <a:r>
              <a:rPr lang="en-US" b="1" dirty="0" err="1"/>
              <a:t>alır</a:t>
            </a:r>
            <a:endParaRPr lang="en-US" dirty="0"/>
          </a:p>
          <a:p>
            <a:r>
              <a:rPr lang="en-US" dirty="0" err="1"/>
              <a:t>Faylların</a:t>
            </a:r>
            <a:r>
              <a:rPr lang="en-US" dirty="0"/>
              <a:t> </a:t>
            </a:r>
            <a:r>
              <a:rPr lang="en-US" dirty="0" err="1"/>
              <a:t>istifadəsinə</a:t>
            </a:r>
            <a:r>
              <a:rPr lang="en-US" dirty="0"/>
              <a:t>, </a:t>
            </a:r>
            <a:r>
              <a:rPr lang="en-US" dirty="0" err="1"/>
              <a:t>paylaşılmasına</a:t>
            </a:r>
            <a:r>
              <a:rPr lang="en-US" dirty="0"/>
              <a:t> </a:t>
            </a:r>
            <a:r>
              <a:rPr lang="en-US" dirty="0" err="1"/>
              <a:t>və</a:t>
            </a:r>
            <a:r>
              <a:rPr lang="en-US" dirty="0"/>
              <a:t> </a:t>
            </a:r>
            <a:r>
              <a:rPr lang="en-US" dirty="0" err="1"/>
              <a:t>açılmasına</a:t>
            </a:r>
            <a:r>
              <a:rPr lang="en-US" dirty="0"/>
              <a:t> </a:t>
            </a:r>
            <a:r>
              <a:rPr lang="en-US" dirty="0" err="1"/>
              <a:t>nəzarət</a:t>
            </a:r>
            <a:r>
              <a:rPr lang="en-US" dirty="0"/>
              <a:t> </a:t>
            </a:r>
            <a:r>
              <a:rPr lang="en-US" dirty="0" err="1"/>
              <a:t>edir</a:t>
            </a:r>
            <a:endParaRPr lang="en-US" dirty="0"/>
          </a:p>
          <a:p>
            <a:pPr marL="0" indent="0">
              <a:buNone/>
            </a:pPr>
            <a:br>
              <a:rPr lang="en-US" dirty="0"/>
            </a:br>
            <a:endParaRPr lang="en-US" dirty="0"/>
          </a:p>
          <a:p>
            <a:pPr marL="0" indent="0">
              <a:buNone/>
            </a:pPr>
            <a:r>
              <a:rPr lang="en-US" b="1" dirty="0"/>
              <a:t>2. </a:t>
            </a:r>
            <a:r>
              <a:rPr lang="en-US" b="1" dirty="0" err="1"/>
              <a:t>Elektron</a:t>
            </a:r>
            <a:r>
              <a:rPr lang="en-US" b="1" dirty="0"/>
              <a:t> </a:t>
            </a:r>
            <a:r>
              <a:rPr lang="en-US" b="1" dirty="0" err="1"/>
              <a:t>imza</a:t>
            </a:r>
            <a:r>
              <a:rPr lang="en-US" b="1" dirty="0"/>
              <a:t> </a:t>
            </a:r>
            <a:r>
              <a:rPr lang="en-US" b="1" dirty="0" err="1"/>
              <a:t>və</a:t>
            </a:r>
            <a:r>
              <a:rPr lang="en-US" b="1" dirty="0"/>
              <a:t> zaman </a:t>
            </a:r>
            <a:r>
              <a:rPr lang="en-US" b="1" dirty="0" err="1"/>
              <a:t>möhürü</a:t>
            </a:r>
            <a:endParaRPr lang="en-US" b="1" dirty="0"/>
          </a:p>
          <a:p>
            <a:r>
              <a:rPr lang="en-US" dirty="0" err="1"/>
              <a:t>Əsərlərin</a:t>
            </a:r>
            <a:r>
              <a:rPr lang="en-US" dirty="0"/>
              <a:t> </a:t>
            </a:r>
            <a:r>
              <a:rPr lang="en-US" dirty="0" err="1"/>
              <a:t>müəllifinə</a:t>
            </a:r>
            <a:r>
              <a:rPr lang="en-US" dirty="0"/>
              <a:t> aid </a:t>
            </a:r>
            <a:r>
              <a:rPr lang="en-US" dirty="0" err="1"/>
              <a:t>olduğunu</a:t>
            </a:r>
            <a:r>
              <a:rPr lang="en-US" dirty="0"/>
              <a:t> </a:t>
            </a:r>
            <a:r>
              <a:rPr lang="en-US" dirty="0" err="1"/>
              <a:t>təsdiqləyir</a:t>
            </a:r>
            <a:endParaRPr lang="en-US" dirty="0"/>
          </a:p>
          <a:p>
            <a:r>
              <a:rPr lang="en-US" dirty="0" err="1"/>
              <a:t>Rəqəmsal</a:t>
            </a:r>
            <a:r>
              <a:rPr lang="en-US" dirty="0"/>
              <a:t> </a:t>
            </a:r>
            <a:r>
              <a:rPr lang="en-US" dirty="0" err="1"/>
              <a:t>kontentin</a:t>
            </a:r>
            <a:r>
              <a:rPr lang="en-US" dirty="0"/>
              <a:t> </a:t>
            </a:r>
            <a:r>
              <a:rPr lang="en-US" dirty="0" err="1"/>
              <a:t>yaradılma</a:t>
            </a:r>
            <a:r>
              <a:rPr lang="en-US" dirty="0"/>
              <a:t> </a:t>
            </a:r>
            <a:r>
              <a:rPr lang="en-US" dirty="0" err="1"/>
              <a:t>və</a:t>
            </a:r>
            <a:r>
              <a:rPr lang="en-US" dirty="0"/>
              <a:t> </a:t>
            </a:r>
            <a:r>
              <a:rPr lang="en-US" dirty="0" err="1"/>
              <a:t>dəyişdirilmə</a:t>
            </a:r>
            <a:r>
              <a:rPr lang="en-US" dirty="0"/>
              <a:t> </a:t>
            </a:r>
            <a:r>
              <a:rPr lang="en-US" dirty="0" err="1"/>
              <a:t>tarixini</a:t>
            </a:r>
            <a:r>
              <a:rPr lang="en-US" dirty="0"/>
              <a:t> </a:t>
            </a:r>
            <a:r>
              <a:rPr lang="en-US" dirty="0" err="1"/>
              <a:t>müəyyənləşdirir</a:t>
            </a:r>
            <a:endParaRPr lang="en-US" dirty="0"/>
          </a:p>
          <a:p>
            <a:pPr marL="0" indent="0">
              <a:buNone/>
            </a:pPr>
            <a:endParaRPr lang="en-US" dirty="0"/>
          </a:p>
          <a:p>
            <a:r>
              <a:rPr lang="en-US" b="1" dirty="0"/>
              <a:t>3. Su </a:t>
            </a:r>
            <a:r>
              <a:rPr lang="en-US" b="1" dirty="0" err="1"/>
              <a:t>nişanı</a:t>
            </a:r>
            <a:r>
              <a:rPr lang="en-US" b="1" dirty="0"/>
              <a:t> (Watermarking)</a:t>
            </a:r>
          </a:p>
          <a:p>
            <a:r>
              <a:rPr lang="en-US" dirty="0" err="1"/>
              <a:t>Mətn</a:t>
            </a:r>
            <a:r>
              <a:rPr lang="en-US" dirty="0"/>
              <a:t>, </a:t>
            </a:r>
            <a:r>
              <a:rPr lang="en-US" dirty="0" err="1"/>
              <a:t>şəkil</a:t>
            </a:r>
            <a:r>
              <a:rPr lang="en-US" dirty="0"/>
              <a:t> </a:t>
            </a:r>
            <a:r>
              <a:rPr lang="en-US" dirty="0" err="1"/>
              <a:t>və</a:t>
            </a:r>
            <a:r>
              <a:rPr lang="en-US" dirty="0"/>
              <a:t> </a:t>
            </a:r>
            <a:r>
              <a:rPr lang="en-US" dirty="0" err="1"/>
              <a:t>videolara</a:t>
            </a:r>
            <a:r>
              <a:rPr lang="en-US" dirty="0"/>
              <a:t> </a:t>
            </a:r>
            <a:r>
              <a:rPr lang="en-US" b="1" dirty="0" err="1"/>
              <a:t>görünən</a:t>
            </a:r>
            <a:r>
              <a:rPr lang="en-US" b="1" dirty="0"/>
              <a:t> </a:t>
            </a:r>
            <a:r>
              <a:rPr lang="en-US" b="1" dirty="0" err="1"/>
              <a:t>və</a:t>
            </a:r>
            <a:r>
              <a:rPr lang="en-US" b="1" dirty="0"/>
              <a:t> </a:t>
            </a:r>
            <a:r>
              <a:rPr lang="en-US" b="1" dirty="0" err="1"/>
              <a:t>ya</a:t>
            </a:r>
            <a:r>
              <a:rPr lang="en-US" b="1" dirty="0"/>
              <a:t> </a:t>
            </a:r>
            <a:r>
              <a:rPr lang="en-US" b="1" dirty="0" err="1"/>
              <a:t>gizli</a:t>
            </a:r>
            <a:r>
              <a:rPr lang="en-US" b="1" dirty="0"/>
              <a:t> </a:t>
            </a:r>
            <a:r>
              <a:rPr lang="en-US" b="1" dirty="0" err="1"/>
              <a:t>işarələrin</a:t>
            </a:r>
            <a:r>
              <a:rPr lang="en-US" dirty="0"/>
              <a:t> </a:t>
            </a:r>
            <a:r>
              <a:rPr lang="en-US" dirty="0" err="1"/>
              <a:t>yerləşdirilməsi</a:t>
            </a:r>
            <a:endParaRPr lang="en-US" dirty="0"/>
          </a:p>
          <a:p>
            <a:r>
              <a:rPr lang="en-US" dirty="0" err="1"/>
              <a:t>Piratçılıq</a:t>
            </a:r>
            <a:r>
              <a:rPr lang="en-US" dirty="0"/>
              <a:t> </a:t>
            </a:r>
            <a:r>
              <a:rPr lang="en-US" dirty="0" err="1"/>
              <a:t>zamanı</a:t>
            </a:r>
            <a:r>
              <a:rPr lang="en-US" dirty="0"/>
              <a:t> </a:t>
            </a:r>
            <a:r>
              <a:rPr lang="en-US" dirty="0" err="1"/>
              <a:t>əsərin</a:t>
            </a:r>
            <a:r>
              <a:rPr lang="en-US" dirty="0"/>
              <a:t> </a:t>
            </a:r>
            <a:r>
              <a:rPr lang="en-US" dirty="0" err="1"/>
              <a:t>mənbəyinin</a:t>
            </a:r>
            <a:r>
              <a:rPr lang="en-US" dirty="0"/>
              <a:t> </a:t>
            </a:r>
            <a:r>
              <a:rPr lang="en-US" dirty="0" err="1"/>
              <a:t>müəyyən</a:t>
            </a:r>
            <a:r>
              <a:rPr lang="en-US" dirty="0"/>
              <a:t> </a:t>
            </a:r>
            <a:r>
              <a:rPr lang="en-US" dirty="0" err="1"/>
              <a:t>edilməsini</a:t>
            </a:r>
            <a:r>
              <a:rPr lang="en-US" dirty="0"/>
              <a:t> </a:t>
            </a:r>
            <a:r>
              <a:rPr lang="en-US" dirty="0" err="1"/>
              <a:t>asanlaşdırır</a:t>
            </a:r>
            <a:endParaRPr lang="en-US" dirty="0"/>
          </a:p>
          <a:p>
            <a:pPr marL="0" indent="0">
              <a:buNone/>
            </a:pPr>
            <a:endParaRPr lang="en-US" dirty="0"/>
          </a:p>
          <a:p>
            <a:r>
              <a:rPr lang="en-US" b="1" dirty="0"/>
              <a:t>4. </a:t>
            </a:r>
            <a:r>
              <a:rPr lang="en-US" b="1" dirty="0" err="1"/>
              <a:t>Antipirat</a:t>
            </a:r>
            <a:r>
              <a:rPr lang="en-US" b="1" dirty="0"/>
              <a:t> </a:t>
            </a:r>
            <a:r>
              <a:rPr lang="en-US" b="1" dirty="0" err="1"/>
              <a:t>sistemləri</a:t>
            </a:r>
            <a:r>
              <a:rPr lang="en-US" b="1" dirty="0"/>
              <a:t> </a:t>
            </a:r>
            <a:r>
              <a:rPr lang="en-US" b="1" dirty="0" err="1"/>
              <a:t>və</a:t>
            </a:r>
            <a:r>
              <a:rPr lang="en-US" b="1" dirty="0"/>
              <a:t> </a:t>
            </a:r>
            <a:r>
              <a:rPr lang="en-US" b="1" dirty="0" err="1"/>
              <a:t>monitorinq</a:t>
            </a:r>
            <a:endParaRPr lang="en-US" b="1" dirty="0"/>
          </a:p>
          <a:p>
            <a:r>
              <a:rPr lang="en-US" dirty="0" err="1"/>
              <a:t>İnternetdə</a:t>
            </a:r>
            <a:r>
              <a:rPr lang="en-US" dirty="0"/>
              <a:t> </a:t>
            </a:r>
            <a:r>
              <a:rPr lang="en-US" dirty="0" err="1"/>
              <a:t>əsərlərin</a:t>
            </a:r>
            <a:r>
              <a:rPr lang="en-US" dirty="0"/>
              <a:t> </a:t>
            </a:r>
            <a:r>
              <a:rPr lang="en-US" dirty="0" err="1"/>
              <a:t>icazəsiz</a:t>
            </a:r>
            <a:r>
              <a:rPr lang="en-US" dirty="0"/>
              <a:t> </a:t>
            </a:r>
            <a:r>
              <a:rPr lang="en-US" dirty="0" err="1"/>
              <a:t>paylaşılmasını</a:t>
            </a:r>
            <a:r>
              <a:rPr lang="en-US" dirty="0"/>
              <a:t> </a:t>
            </a:r>
            <a:r>
              <a:rPr lang="en-US" dirty="0" err="1"/>
              <a:t>avtomatik</a:t>
            </a:r>
            <a:r>
              <a:rPr lang="en-US" dirty="0"/>
              <a:t> </a:t>
            </a:r>
            <a:r>
              <a:rPr lang="en-US" dirty="0" err="1"/>
              <a:t>aşkar</a:t>
            </a:r>
            <a:r>
              <a:rPr lang="en-US" dirty="0"/>
              <a:t> </a:t>
            </a:r>
            <a:r>
              <a:rPr lang="en-US" dirty="0" err="1"/>
              <a:t>edən</a:t>
            </a:r>
            <a:r>
              <a:rPr lang="en-US" dirty="0"/>
              <a:t> </a:t>
            </a:r>
            <a:r>
              <a:rPr lang="en-US" dirty="0" err="1"/>
              <a:t>sistemlər</a:t>
            </a:r>
            <a:endParaRPr lang="en-US" dirty="0"/>
          </a:p>
          <a:p>
            <a:r>
              <a:rPr lang="en-US" dirty="0" err="1"/>
              <a:t>Sosial</a:t>
            </a:r>
            <a:r>
              <a:rPr lang="en-US" dirty="0"/>
              <a:t> </a:t>
            </a:r>
            <a:r>
              <a:rPr lang="en-US" dirty="0" err="1"/>
              <a:t>şəbəkələr</a:t>
            </a:r>
            <a:r>
              <a:rPr lang="en-US" dirty="0"/>
              <a:t>, </a:t>
            </a:r>
            <a:r>
              <a:rPr lang="en-US" dirty="0" err="1"/>
              <a:t>platformalar</a:t>
            </a:r>
            <a:r>
              <a:rPr lang="en-US" dirty="0"/>
              <a:t> </a:t>
            </a:r>
            <a:r>
              <a:rPr lang="en-US" dirty="0" err="1"/>
              <a:t>və</a:t>
            </a:r>
            <a:r>
              <a:rPr lang="en-US" dirty="0"/>
              <a:t> </a:t>
            </a:r>
            <a:r>
              <a:rPr lang="en-US" dirty="0" err="1"/>
              <a:t>axtarış</a:t>
            </a:r>
            <a:r>
              <a:rPr lang="en-US" dirty="0"/>
              <a:t> </a:t>
            </a:r>
            <a:r>
              <a:rPr lang="en-US" dirty="0" err="1"/>
              <a:t>sistemləri</a:t>
            </a:r>
            <a:r>
              <a:rPr lang="en-US" dirty="0"/>
              <a:t> </a:t>
            </a:r>
            <a:r>
              <a:rPr lang="en-US" dirty="0" err="1"/>
              <a:t>ilə</a:t>
            </a:r>
            <a:r>
              <a:rPr lang="en-US" dirty="0"/>
              <a:t> </a:t>
            </a:r>
            <a:r>
              <a:rPr lang="en-US" dirty="0" err="1"/>
              <a:t>əməkdaşlıq</a:t>
            </a:r>
            <a:endParaRPr lang="en-US" dirty="0"/>
          </a:p>
          <a:p>
            <a:pPr marL="0" indent="0">
              <a:buNone/>
            </a:pPr>
            <a:endParaRPr lang="en-US" dirty="0"/>
          </a:p>
          <a:p>
            <a:r>
              <a:rPr lang="en-US" b="1" dirty="0"/>
              <a:t>5. </a:t>
            </a:r>
            <a:r>
              <a:rPr lang="en-US" b="1" dirty="0" err="1"/>
              <a:t>Hüquqi</a:t>
            </a:r>
            <a:r>
              <a:rPr lang="en-US" b="1" dirty="0"/>
              <a:t> </a:t>
            </a:r>
            <a:r>
              <a:rPr lang="en-US" b="1" dirty="0" err="1"/>
              <a:t>mexanizmlər</a:t>
            </a:r>
            <a:endParaRPr lang="en-US" b="1" dirty="0"/>
          </a:p>
          <a:p>
            <a:r>
              <a:rPr lang="en-US" dirty="0" err="1"/>
              <a:t>Rəqəmsal</a:t>
            </a:r>
            <a:r>
              <a:rPr lang="en-US" dirty="0"/>
              <a:t> </a:t>
            </a:r>
            <a:r>
              <a:rPr lang="en-US" dirty="0" err="1"/>
              <a:t>piratçılığa</a:t>
            </a:r>
            <a:r>
              <a:rPr lang="en-US" dirty="0"/>
              <a:t> </a:t>
            </a:r>
            <a:r>
              <a:rPr lang="en-US" dirty="0" err="1"/>
              <a:t>görə</a:t>
            </a:r>
            <a:r>
              <a:rPr lang="en-US" dirty="0"/>
              <a:t> </a:t>
            </a:r>
            <a:r>
              <a:rPr lang="en-US" dirty="0" err="1"/>
              <a:t>inzibati</a:t>
            </a:r>
            <a:r>
              <a:rPr lang="en-US" dirty="0"/>
              <a:t> </a:t>
            </a:r>
            <a:r>
              <a:rPr lang="en-US" dirty="0" err="1"/>
              <a:t>və</a:t>
            </a:r>
            <a:r>
              <a:rPr lang="en-US" dirty="0"/>
              <a:t> </a:t>
            </a:r>
            <a:r>
              <a:rPr lang="en-US" dirty="0" err="1"/>
              <a:t>cinayət</a:t>
            </a:r>
            <a:r>
              <a:rPr lang="en-US" dirty="0"/>
              <a:t> </a:t>
            </a:r>
            <a:r>
              <a:rPr lang="en-US" dirty="0" err="1"/>
              <a:t>məsuliyyəti</a:t>
            </a:r>
            <a:endParaRPr lang="en-US" dirty="0"/>
          </a:p>
          <a:p>
            <a:r>
              <a:rPr lang="en-US" dirty="0"/>
              <a:t>Hosting </a:t>
            </a:r>
            <a:r>
              <a:rPr lang="en-US" dirty="0" err="1"/>
              <a:t>və</a:t>
            </a:r>
            <a:r>
              <a:rPr lang="en-US" dirty="0"/>
              <a:t> internet </a:t>
            </a:r>
            <a:r>
              <a:rPr lang="en-US" dirty="0" err="1"/>
              <a:t>platformalarına</a:t>
            </a:r>
            <a:r>
              <a:rPr lang="en-US" dirty="0"/>
              <a:t> </a:t>
            </a:r>
            <a:r>
              <a:rPr lang="en-US" dirty="0" err="1"/>
              <a:t>müəllif</a:t>
            </a:r>
            <a:r>
              <a:rPr lang="en-US" dirty="0"/>
              <a:t> </a:t>
            </a:r>
            <a:r>
              <a:rPr lang="en-US" dirty="0" err="1"/>
              <a:t>hüquqlarını</a:t>
            </a:r>
            <a:r>
              <a:rPr lang="en-US" dirty="0"/>
              <a:t> </a:t>
            </a:r>
            <a:r>
              <a:rPr lang="en-US" dirty="0" err="1"/>
              <a:t>qoruma</a:t>
            </a:r>
            <a:r>
              <a:rPr lang="en-US" dirty="0"/>
              <a:t> </a:t>
            </a:r>
            <a:r>
              <a:rPr lang="en-US" dirty="0" err="1"/>
              <a:t>öhdəlikləri</a:t>
            </a:r>
            <a:endParaRPr lang="en-US" dirty="0"/>
          </a:p>
          <a:p>
            <a:r>
              <a:rPr lang="en-US" dirty="0" err="1"/>
              <a:t>Qanunsuz</a:t>
            </a:r>
            <a:r>
              <a:rPr lang="en-US" dirty="0"/>
              <a:t> </a:t>
            </a:r>
            <a:r>
              <a:rPr lang="en-US" dirty="0" err="1"/>
              <a:t>kontentin</a:t>
            </a:r>
            <a:r>
              <a:rPr lang="en-US" dirty="0"/>
              <a:t> </a:t>
            </a:r>
            <a:r>
              <a:rPr lang="en-US" dirty="0" err="1"/>
              <a:t>silinməsi</a:t>
            </a:r>
            <a:r>
              <a:rPr lang="en-US" dirty="0"/>
              <a:t> </a:t>
            </a:r>
            <a:r>
              <a:rPr lang="en-US" dirty="0" err="1"/>
              <a:t>prosedurları</a:t>
            </a:r>
            <a:r>
              <a:rPr lang="en-US" dirty="0"/>
              <a:t> (notice &amp; takedown)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err="1"/>
              <a:t>Pozuntular</a:t>
            </a:r>
            <a:r>
              <a:rPr b="1" dirty="0"/>
              <a:t> </a:t>
            </a:r>
            <a:r>
              <a:rPr b="1" dirty="0" err="1"/>
              <a:t>və</a:t>
            </a:r>
            <a:r>
              <a:rPr b="1" dirty="0"/>
              <a:t> </a:t>
            </a:r>
            <a:r>
              <a:rPr b="1" dirty="0" err="1"/>
              <a:t>məsuliyyət</a:t>
            </a:r>
            <a:endParaRPr b="1" dirty="0"/>
          </a:p>
        </p:txBody>
      </p:sp>
      <p:sp>
        <p:nvSpPr>
          <p:cNvPr id="3" name="Content Placeholder 2"/>
          <p:cNvSpPr>
            <a:spLocks noGrp="1"/>
          </p:cNvSpPr>
          <p:nvPr>
            <p:ph idx="1"/>
          </p:nvPr>
        </p:nvSpPr>
        <p:spPr>
          <a:xfrm>
            <a:off x="262328" y="1851130"/>
            <a:ext cx="4849318" cy="5580089"/>
          </a:xfrm>
        </p:spPr>
        <p:txBody>
          <a:bodyPr>
            <a:normAutofit/>
          </a:bodyPr>
          <a:lstStyle/>
          <a:p>
            <a:pPr marL="0" indent="0">
              <a:buNone/>
            </a:pPr>
            <a:r>
              <a:rPr lang="en-US" sz="1800" b="1" dirty="0"/>
              <a:t>1. </a:t>
            </a:r>
            <a:r>
              <a:rPr lang="en-US" sz="1800" b="1" dirty="0" err="1"/>
              <a:t>Pozuntu</a:t>
            </a:r>
            <a:r>
              <a:rPr lang="en-US" sz="1800" b="1" dirty="0"/>
              <a:t> </a:t>
            </a:r>
            <a:r>
              <a:rPr lang="en-US" sz="1800" b="1" dirty="0" err="1"/>
              <a:t>növləri</a:t>
            </a:r>
            <a:endParaRPr lang="en-US" sz="1800" b="1" dirty="0"/>
          </a:p>
          <a:p>
            <a:r>
              <a:rPr lang="en-US" sz="1800" b="1" dirty="0" err="1"/>
              <a:t>İcazəsiz</a:t>
            </a:r>
            <a:r>
              <a:rPr lang="en-US" sz="1800" b="1" dirty="0"/>
              <a:t> </a:t>
            </a:r>
            <a:r>
              <a:rPr lang="en-US" sz="1800" b="1" dirty="0" err="1"/>
              <a:t>çoxaltma</a:t>
            </a:r>
            <a:r>
              <a:rPr lang="en-US" sz="1800" dirty="0"/>
              <a:t> – kitab, </a:t>
            </a:r>
            <a:r>
              <a:rPr lang="en-US" sz="1800" dirty="0" err="1"/>
              <a:t>musiqi</a:t>
            </a:r>
            <a:r>
              <a:rPr lang="en-US" sz="1800" dirty="0"/>
              <a:t>, film, </a:t>
            </a:r>
            <a:endParaRPr lang="az-Latn-AZ" sz="1800" dirty="0"/>
          </a:p>
          <a:p>
            <a:pPr marL="0" indent="0">
              <a:buNone/>
            </a:pPr>
            <a:r>
              <a:rPr lang="en-US" sz="1800" dirty="0" err="1"/>
              <a:t>proqram</a:t>
            </a:r>
            <a:r>
              <a:rPr lang="en-US" sz="1800" dirty="0"/>
              <a:t> </a:t>
            </a:r>
            <a:r>
              <a:rPr lang="en-US" sz="1800" dirty="0" err="1"/>
              <a:t>təminatının</a:t>
            </a:r>
            <a:r>
              <a:rPr lang="en-US" sz="1800" dirty="0"/>
              <a:t> </a:t>
            </a:r>
            <a:r>
              <a:rPr lang="en-US" sz="1800" dirty="0" err="1"/>
              <a:t>kopyalanması</a:t>
            </a:r>
            <a:endParaRPr lang="en-US" sz="1800" dirty="0"/>
          </a:p>
          <a:p>
            <a:r>
              <a:rPr lang="en-US" sz="1800" b="1" dirty="0" err="1"/>
              <a:t>İcazəsiz</a:t>
            </a:r>
            <a:r>
              <a:rPr lang="en-US" sz="1800" b="1" dirty="0"/>
              <a:t> </a:t>
            </a:r>
            <a:r>
              <a:rPr lang="en-US" sz="1800" b="1" dirty="0" err="1"/>
              <a:t>yayım</a:t>
            </a:r>
            <a:r>
              <a:rPr lang="en-US" sz="1800" dirty="0"/>
              <a:t> – </a:t>
            </a:r>
            <a:r>
              <a:rPr lang="en-US" sz="1800" dirty="0" err="1"/>
              <a:t>internetdə</a:t>
            </a:r>
            <a:r>
              <a:rPr lang="en-US" sz="1800" dirty="0"/>
              <a:t>, </a:t>
            </a:r>
            <a:r>
              <a:rPr lang="en-US" sz="1800" dirty="0" err="1"/>
              <a:t>sosial</a:t>
            </a:r>
            <a:r>
              <a:rPr lang="en-US" sz="1800" dirty="0"/>
              <a:t> </a:t>
            </a:r>
            <a:r>
              <a:rPr lang="en-US" sz="1800" dirty="0" err="1"/>
              <a:t>şəbəkələrdə</a:t>
            </a:r>
            <a:r>
              <a:rPr lang="az-Latn-AZ" sz="1800" dirty="0"/>
              <a:t> </a:t>
            </a:r>
            <a:r>
              <a:rPr lang="en-US" sz="1800" dirty="0" err="1"/>
              <a:t>və</a:t>
            </a:r>
            <a:r>
              <a:rPr lang="en-US" sz="1800" dirty="0"/>
              <a:t> </a:t>
            </a:r>
            <a:r>
              <a:rPr lang="en-US" sz="1800" dirty="0" err="1"/>
              <a:t>ya</a:t>
            </a:r>
            <a:r>
              <a:rPr lang="en-US" sz="1800" dirty="0"/>
              <a:t> TV-</a:t>
            </a:r>
            <a:r>
              <a:rPr lang="en-US" sz="1800" dirty="0" err="1"/>
              <a:t>də</a:t>
            </a:r>
            <a:r>
              <a:rPr lang="en-US" sz="1800" dirty="0"/>
              <a:t> </a:t>
            </a:r>
            <a:r>
              <a:rPr lang="en-US" sz="1800" dirty="0" err="1"/>
              <a:t>müəllif</a:t>
            </a:r>
            <a:endParaRPr lang="az-Latn-AZ" sz="1800" dirty="0"/>
          </a:p>
          <a:p>
            <a:pPr marL="0" indent="0">
              <a:buNone/>
            </a:pPr>
            <a:r>
              <a:rPr lang="en-US" sz="1800" dirty="0"/>
              <a:t> </a:t>
            </a:r>
            <a:r>
              <a:rPr lang="en-US" sz="1800" dirty="0" err="1"/>
              <a:t>hüquqlu</a:t>
            </a:r>
            <a:r>
              <a:rPr lang="en-US" sz="1800" dirty="0"/>
              <a:t> </a:t>
            </a:r>
            <a:r>
              <a:rPr lang="en-US" sz="1800" dirty="0" err="1"/>
              <a:t>materialların</a:t>
            </a:r>
            <a:r>
              <a:rPr lang="en-US" sz="1800" dirty="0"/>
              <a:t> </a:t>
            </a:r>
            <a:r>
              <a:rPr lang="en-US" sz="1800" dirty="0" err="1"/>
              <a:t>paylaşılması</a:t>
            </a:r>
            <a:endParaRPr lang="en-US" sz="1800" dirty="0"/>
          </a:p>
          <a:p>
            <a:r>
              <a:rPr lang="en-US" sz="1800" b="1" dirty="0" err="1"/>
              <a:t>Plagiat</a:t>
            </a:r>
            <a:r>
              <a:rPr lang="en-US" sz="1800" dirty="0"/>
              <a:t> – </a:t>
            </a:r>
            <a:r>
              <a:rPr lang="en-US" sz="1800" dirty="0" err="1"/>
              <a:t>başqasının</a:t>
            </a:r>
            <a:r>
              <a:rPr lang="en-US" sz="1800" dirty="0"/>
              <a:t> </a:t>
            </a:r>
            <a:r>
              <a:rPr lang="en-US" sz="1800" dirty="0" err="1"/>
              <a:t>əsərini</a:t>
            </a:r>
            <a:r>
              <a:rPr lang="en-US" sz="1800" dirty="0"/>
              <a:t> </a:t>
            </a:r>
            <a:r>
              <a:rPr lang="en-US" sz="1800" dirty="0" err="1"/>
              <a:t>öz</a:t>
            </a:r>
            <a:r>
              <a:rPr lang="en-US" sz="1800" dirty="0"/>
              <a:t> </a:t>
            </a:r>
            <a:r>
              <a:rPr lang="en-US" sz="1800" dirty="0" err="1"/>
              <a:t>adı</a:t>
            </a:r>
            <a:endParaRPr lang="az-Latn-AZ" sz="1800" dirty="0"/>
          </a:p>
          <a:p>
            <a:pPr marL="0" indent="0">
              <a:buNone/>
            </a:pPr>
            <a:r>
              <a:rPr lang="en-US" sz="1800" dirty="0"/>
              <a:t> </a:t>
            </a:r>
            <a:r>
              <a:rPr lang="en-US" sz="1800" dirty="0" err="1"/>
              <a:t>ilə</a:t>
            </a:r>
            <a:r>
              <a:rPr lang="en-US" sz="1800" dirty="0"/>
              <a:t> </a:t>
            </a:r>
            <a:r>
              <a:rPr lang="en-US" sz="1800" dirty="0" err="1"/>
              <a:t>təqdim</a:t>
            </a:r>
            <a:r>
              <a:rPr lang="en-US" sz="1800" dirty="0"/>
              <a:t> </a:t>
            </a:r>
            <a:r>
              <a:rPr lang="en-US" sz="1800" dirty="0" err="1"/>
              <a:t>etmək</a:t>
            </a:r>
            <a:endParaRPr lang="en-US" sz="1800" dirty="0"/>
          </a:p>
          <a:p>
            <a:r>
              <a:rPr lang="en-US" sz="1800" b="1" dirty="0" err="1"/>
              <a:t>Fonoqram</a:t>
            </a:r>
            <a:r>
              <a:rPr lang="en-US" sz="1800" b="1" dirty="0"/>
              <a:t> </a:t>
            </a:r>
            <a:r>
              <a:rPr lang="en-US" sz="1800" b="1" dirty="0" err="1"/>
              <a:t>və</a:t>
            </a:r>
            <a:r>
              <a:rPr lang="en-US" sz="1800" b="1" dirty="0"/>
              <a:t> </a:t>
            </a:r>
            <a:r>
              <a:rPr lang="en-US" sz="1800" b="1" dirty="0" err="1"/>
              <a:t>ifaların</a:t>
            </a:r>
            <a:r>
              <a:rPr lang="en-US" sz="1800" b="1" dirty="0"/>
              <a:t> </a:t>
            </a:r>
            <a:r>
              <a:rPr lang="en-US" sz="1800" b="1" dirty="0" err="1"/>
              <a:t>icazəsiz</a:t>
            </a:r>
            <a:r>
              <a:rPr lang="en-US" sz="1800" b="1" dirty="0"/>
              <a:t> </a:t>
            </a:r>
            <a:r>
              <a:rPr lang="en-US" sz="1800" b="1" dirty="0" err="1"/>
              <a:t>istifadəsi</a:t>
            </a:r>
            <a:endParaRPr lang="en-US" sz="1800" dirty="0"/>
          </a:p>
          <a:p>
            <a:r>
              <a:rPr lang="en-US" sz="1800" b="1" dirty="0" err="1"/>
              <a:t>Müəllif</a:t>
            </a:r>
            <a:r>
              <a:rPr lang="en-US" sz="1800" b="1" dirty="0"/>
              <a:t> </a:t>
            </a:r>
            <a:r>
              <a:rPr lang="en-US" sz="1800" b="1" dirty="0" err="1"/>
              <a:t>adının</a:t>
            </a:r>
            <a:r>
              <a:rPr lang="en-US" sz="1800" b="1" dirty="0"/>
              <a:t> </a:t>
            </a:r>
            <a:r>
              <a:rPr lang="en-US" sz="1800" b="1" dirty="0" err="1"/>
              <a:t>silinməsi</a:t>
            </a:r>
            <a:r>
              <a:rPr lang="en-US" sz="1800" b="1" dirty="0"/>
              <a:t> </a:t>
            </a:r>
            <a:r>
              <a:rPr lang="en-US" sz="1800" b="1" dirty="0" err="1"/>
              <a:t>və</a:t>
            </a:r>
            <a:r>
              <a:rPr lang="en-US" sz="1800" b="1" dirty="0"/>
              <a:t> </a:t>
            </a:r>
            <a:r>
              <a:rPr lang="en-US" sz="1800" b="1" dirty="0" err="1"/>
              <a:t>ya</a:t>
            </a:r>
            <a:r>
              <a:rPr lang="en-US" sz="1800" b="1" dirty="0"/>
              <a:t> </a:t>
            </a:r>
            <a:endParaRPr lang="az-Latn-AZ" sz="1800" b="1" dirty="0"/>
          </a:p>
          <a:p>
            <a:pPr marL="0" indent="0">
              <a:buNone/>
            </a:pPr>
            <a:r>
              <a:rPr lang="en-US" sz="1800" b="1" dirty="0" err="1"/>
              <a:t>dəyişdirilməsi</a:t>
            </a:r>
            <a:endParaRPr lang="en-US" sz="1800" dirty="0"/>
          </a:p>
          <a:p>
            <a:r>
              <a:rPr lang="en-US" sz="1800" b="1" dirty="0" err="1"/>
              <a:t>Pirat</a:t>
            </a:r>
            <a:r>
              <a:rPr lang="en-US" sz="1800" b="1" dirty="0"/>
              <a:t> </a:t>
            </a:r>
            <a:r>
              <a:rPr lang="en-US" sz="1800" b="1" dirty="0" err="1"/>
              <a:t>məhsulların</a:t>
            </a:r>
            <a:r>
              <a:rPr lang="en-US" sz="1800" b="1" dirty="0"/>
              <a:t> </a:t>
            </a:r>
            <a:r>
              <a:rPr lang="en-US" sz="1800" b="1" dirty="0" err="1"/>
              <a:t>satışı</a:t>
            </a:r>
            <a:r>
              <a:rPr lang="en-US" sz="1800" b="1" dirty="0"/>
              <a:t> </a:t>
            </a:r>
            <a:r>
              <a:rPr lang="en-US" sz="1800" b="1" dirty="0" err="1"/>
              <a:t>və</a:t>
            </a:r>
            <a:r>
              <a:rPr lang="en-US" sz="1800" b="1" dirty="0"/>
              <a:t> </a:t>
            </a:r>
            <a:r>
              <a:rPr lang="en-US" sz="1800" b="1" dirty="0" err="1"/>
              <a:t>yayılması</a:t>
            </a:r>
            <a:endParaRPr lang="en-US" sz="1800" dirty="0"/>
          </a:p>
        </p:txBody>
      </p:sp>
      <p:sp>
        <p:nvSpPr>
          <p:cNvPr id="5" name="TextBox 4">
            <a:extLst>
              <a:ext uri="{FF2B5EF4-FFF2-40B4-BE49-F238E27FC236}">
                <a16:creationId xmlns:a16="http://schemas.microsoft.com/office/drawing/2014/main" id="{72879311-5815-71D0-978F-016227A403D3}"/>
              </a:ext>
            </a:extLst>
          </p:cNvPr>
          <p:cNvSpPr txBox="1"/>
          <p:nvPr/>
        </p:nvSpPr>
        <p:spPr>
          <a:xfrm>
            <a:off x="4309672" y="1823700"/>
            <a:ext cx="4572000" cy="4247317"/>
          </a:xfrm>
          <a:prstGeom prst="rect">
            <a:avLst/>
          </a:prstGeom>
          <a:noFill/>
        </p:spPr>
        <p:txBody>
          <a:bodyPr wrap="square">
            <a:spAutoFit/>
          </a:bodyPr>
          <a:lstStyle/>
          <a:p>
            <a:pPr>
              <a:buNone/>
            </a:pPr>
            <a:r>
              <a:rPr lang="en-US" b="1" dirty="0"/>
              <a:t>2. </a:t>
            </a:r>
            <a:r>
              <a:rPr lang="en-US" b="1" dirty="0" err="1"/>
              <a:t>Hüquqi</a:t>
            </a:r>
            <a:r>
              <a:rPr lang="en-US" b="1" dirty="0"/>
              <a:t> </a:t>
            </a:r>
            <a:r>
              <a:rPr lang="en-US" b="1" dirty="0" err="1"/>
              <a:t>məsuliyyətlər</a:t>
            </a:r>
            <a:endParaRPr lang="en-US" b="1" dirty="0"/>
          </a:p>
          <a:p>
            <a:r>
              <a:rPr lang="az-Latn-AZ" b="1" dirty="0"/>
              <a:t> </a:t>
            </a:r>
            <a:r>
              <a:rPr lang="en-US" b="1" dirty="0" err="1"/>
              <a:t>Mülki</a:t>
            </a:r>
            <a:r>
              <a:rPr lang="en-US" b="1" dirty="0"/>
              <a:t> </a:t>
            </a:r>
            <a:r>
              <a:rPr lang="en-US" b="1" dirty="0" err="1"/>
              <a:t>məsuliyyət</a:t>
            </a:r>
            <a:endParaRPr lang="en-US" dirty="0"/>
          </a:p>
          <a:p>
            <a:pPr marL="742950" lvl="1" indent="-285750">
              <a:buFont typeface="Arial" panose="020B0604020202020204" pitchFamily="34" charset="0"/>
              <a:buChar char="•"/>
            </a:pPr>
            <a:r>
              <a:rPr lang="en-US" dirty="0"/>
              <a:t>Maddi </a:t>
            </a:r>
            <a:r>
              <a:rPr lang="en-US" dirty="0" err="1"/>
              <a:t>zərərin</a:t>
            </a:r>
            <a:r>
              <a:rPr lang="en-US" dirty="0"/>
              <a:t> </a:t>
            </a:r>
            <a:r>
              <a:rPr lang="en-US" dirty="0" err="1"/>
              <a:t>ödənilməsi</a:t>
            </a:r>
            <a:endParaRPr lang="en-US" dirty="0"/>
          </a:p>
          <a:p>
            <a:pPr marL="742950" lvl="1" indent="-285750">
              <a:buFont typeface="Arial" panose="020B0604020202020204" pitchFamily="34" charset="0"/>
              <a:buChar char="•"/>
            </a:pPr>
            <a:r>
              <a:rPr lang="en-US" dirty="0" err="1"/>
              <a:t>Mənəvi</a:t>
            </a:r>
            <a:r>
              <a:rPr lang="en-US" dirty="0"/>
              <a:t> </a:t>
            </a:r>
            <a:r>
              <a:rPr lang="en-US" dirty="0" err="1"/>
              <a:t>ziyanın</a:t>
            </a:r>
            <a:r>
              <a:rPr lang="en-US" dirty="0"/>
              <a:t> </a:t>
            </a:r>
            <a:r>
              <a:rPr lang="en-US" dirty="0" err="1"/>
              <a:t>kompensasiyası</a:t>
            </a:r>
            <a:endParaRPr lang="en-US" dirty="0"/>
          </a:p>
          <a:p>
            <a:r>
              <a:rPr lang="az-Latn-AZ" b="1" dirty="0"/>
              <a:t> İ</a:t>
            </a:r>
            <a:r>
              <a:rPr lang="en-US" b="1" dirty="0" err="1"/>
              <a:t>nzibati</a:t>
            </a:r>
            <a:r>
              <a:rPr lang="en-US" b="1" dirty="0"/>
              <a:t> </a:t>
            </a:r>
            <a:r>
              <a:rPr lang="en-US" b="1" dirty="0" err="1"/>
              <a:t>məsuliyyət</a:t>
            </a:r>
            <a:endParaRPr lang="en-US" dirty="0"/>
          </a:p>
          <a:p>
            <a:pPr marL="742950" lvl="1" indent="-285750">
              <a:buFont typeface="Arial" panose="020B0604020202020204" pitchFamily="34" charset="0"/>
              <a:buChar char="•"/>
            </a:pPr>
            <a:r>
              <a:rPr lang="en-US" dirty="0" err="1"/>
              <a:t>Cərimələr</a:t>
            </a:r>
            <a:r>
              <a:rPr lang="en-US" dirty="0"/>
              <a:t>, </a:t>
            </a:r>
            <a:r>
              <a:rPr lang="en-US" dirty="0" err="1"/>
              <a:t>pirat</a:t>
            </a:r>
            <a:r>
              <a:rPr lang="en-US" dirty="0"/>
              <a:t> </a:t>
            </a:r>
            <a:r>
              <a:rPr lang="en-US" dirty="0" err="1"/>
              <a:t>məhsulların</a:t>
            </a:r>
            <a:r>
              <a:rPr lang="en-US" dirty="0"/>
              <a:t> </a:t>
            </a:r>
            <a:r>
              <a:rPr lang="en-US" dirty="0" err="1"/>
              <a:t>müsadirəsi</a:t>
            </a:r>
            <a:endParaRPr lang="en-US" dirty="0"/>
          </a:p>
          <a:p>
            <a:r>
              <a:rPr lang="az-Latn-AZ" b="1" dirty="0"/>
              <a:t> </a:t>
            </a:r>
            <a:r>
              <a:rPr lang="en-US" b="1" dirty="0" err="1"/>
              <a:t>Cinayət</a:t>
            </a:r>
            <a:r>
              <a:rPr lang="en-US" b="1" dirty="0"/>
              <a:t> </a:t>
            </a:r>
            <a:r>
              <a:rPr lang="en-US" b="1" dirty="0" err="1"/>
              <a:t>məsuliyyəti</a:t>
            </a:r>
            <a:endParaRPr lang="en-US" dirty="0"/>
          </a:p>
          <a:p>
            <a:pPr marL="742950" lvl="1" indent="-285750">
              <a:buFont typeface="Arial" panose="020B0604020202020204" pitchFamily="34" charset="0"/>
              <a:buChar char="•"/>
            </a:pPr>
            <a:r>
              <a:rPr lang="en-US" dirty="0" err="1"/>
              <a:t>Qəsdən</a:t>
            </a:r>
            <a:r>
              <a:rPr lang="en-US" dirty="0"/>
              <a:t> </a:t>
            </a:r>
            <a:r>
              <a:rPr lang="en-US" dirty="0" err="1"/>
              <a:t>və</a:t>
            </a:r>
            <a:r>
              <a:rPr lang="en-US" dirty="0"/>
              <a:t> </a:t>
            </a:r>
            <a:r>
              <a:rPr lang="en-US" dirty="0" err="1"/>
              <a:t>geniş</a:t>
            </a:r>
            <a:r>
              <a:rPr lang="en-US" dirty="0"/>
              <a:t> </a:t>
            </a:r>
            <a:r>
              <a:rPr lang="en-US" dirty="0" err="1"/>
              <a:t>miqyaslı</a:t>
            </a:r>
            <a:r>
              <a:rPr lang="en-US" dirty="0"/>
              <a:t> </a:t>
            </a:r>
            <a:r>
              <a:rPr lang="en-US" dirty="0" err="1"/>
              <a:t>pozuntu</a:t>
            </a:r>
            <a:r>
              <a:rPr lang="en-US" dirty="0"/>
              <a:t> </a:t>
            </a:r>
            <a:r>
              <a:rPr lang="en-US" dirty="0" err="1"/>
              <a:t>hallarında</a:t>
            </a:r>
            <a:r>
              <a:rPr lang="en-US" dirty="0"/>
              <a:t> </a:t>
            </a:r>
            <a:r>
              <a:rPr lang="en-US" dirty="0" err="1"/>
              <a:t>cərimə</a:t>
            </a:r>
            <a:r>
              <a:rPr lang="en-US" dirty="0"/>
              <a:t> </a:t>
            </a:r>
            <a:r>
              <a:rPr lang="en-US" dirty="0" err="1"/>
              <a:t>və</a:t>
            </a:r>
            <a:r>
              <a:rPr lang="en-US" dirty="0"/>
              <a:t> </a:t>
            </a:r>
            <a:r>
              <a:rPr lang="en-US" dirty="0" err="1"/>
              <a:t>ya</a:t>
            </a:r>
            <a:r>
              <a:rPr lang="en-US" dirty="0"/>
              <a:t> </a:t>
            </a:r>
            <a:r>
              <a:rPr lang="en-US" dirty="0" err="1"/>
              <a:t>hətta</a:t>
            </a:r>
            <a:r>
              <a:rPr lang="en-US" dirty="0"/>
              <a:t> </a:t>
            </a:r>
            <a:r>
              <a:rPr lang="en-US" dirty="0" err="1"/>
              <a:t>azadlıqdan</a:t>
            </a:r>
            <a:r>
              <a:rPr lang="en-US" dirty="0"/>
              <a:t> </a:t>
            </a:r>
            <a:r>
              <a:rPr lang="en-US" dirty="0" err="1"/>
              <a:t>məhrumetmə</a:t>
            </a:r>
            <a:endParaRPr lang="en-US" dirty="0"/>
          </a:p>
          <a:p>
            <a:r>
              <a:rPr lang="az-Latn-AZ" b="1" dirty="0"/>
              <a:t> </a:t>
            </a:r>
            <a:r>
              <a:rPr lang="en-US" b="1" dirty="0"/>
              <a:t>İnternet </a:t>
            </a:r>
            <a:r>
              <a:rPr lang="en-US" b="1" dirty="0" err="1"/>
              <a:t>platformalarında</a:t>
            </a:r>
            <a:r>
              <a:rPr lang="en-US" b="1" dirty="0"/>
              <a:t> </a:t>
            </a:r>
            <a:r>
              <a:rPr lang="en-US" b="1" dirty="0" err="1"/>
              <a:t>məsuliyyət</a:t>
            </a:r>
            <a:endParaRPr lang="en-US" dirty="0"/>
          </a:p>
          <a:p>
            <a:pPr marL="742950" lvl="1" indent="-285750">
              <a:buFont typeface="Arial" panose="020B0604020202020204" pitchFamily="34" charset="0"/>
              <a:buChar char="•"/>
            </a:pPr>
            <a:r>
              <a:rPr lang="en-US" dirty="0" err="1"/>
              <a:t>Qanunsuz</a:t>
            </a:r>
            <a:r>
              <a:rPr lang="en-US" dirty="0"/>
              <a:t> </a:t>
            </a:r>
            <a:r>
              <a:rPr lang="en-US" dirty="0" err="1"/>
              <a:t>kontentin</a:t>
            </a:r>
            <a:r>
              <a:rPr lang="en-US" dirty="0"/>
              <a:t> </a:t>
            </a:r>
            <a:r>
              <a:rPr lang="en-US" dirty="0" err="1"/>
              <a:t>silinməsi</a:t>
            </a:r>
            <a:r>
              <a:rPr lang="en-US" dirty="0"/>
              <a:t> (notice &amp; takedown)</a:t>
            </a:r>
          </a:p>
          <a:p>
            <a:pPr marL="742950" lvl="1" indent="-285750">
              <a:buFont typeface="Arial" panose="020B0604020202020204" pitchFamily="34" charset="0"/>
              <a:buChar char="•"/>
            </a:pPr>
            <a:r>
              <a:rPr lang="en-US" dirty="0" err="1"/>
              <a:t>Platformaların</a:t>
            </a:r>
            <a:r>
              <a:rPr lang="en-US" dirty="0"/>
              <a:t> </a:t>
            </a:r>
            <a:r>
              <a:rPr lang="en-US" dirty="0" err="1"/>
              <a:t>hüquqları</a:t>
            </a:r>
            <a:r>
              <a:rPr lang="en-US" dirty="0"/>
              <a:t> </a:t>
            </a:r>
            <a:r>
              <a:rPr lang="en-US" dirty="0" err="1"/>
              <a:t>qoruma</a:t>
            </a:r>
            <a:r>
              <a:rPr lang="en-US" dirty="0"/>
              <a:t> </a:t>
            </a:r>
            <a:r>
              <a:rPr lang="en-US" dirty="0" err="1"/>
              <a:t>öhdəlikləri</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Müəllif</a:t>
            </a:r>
            <a:r>
              <a:rPr lang="en-US" b="1" dirty="0"/>
              <a:t> </a:t>
            </a:r>
            <a:r>
              <a:rPr lang="en-US" b="1" dirty="0" err="1"/>
              <a:t>hüququ</a:t>
            </a:r>
            <a:r>
              <a:rPr lang="en-US" b="1" dirty="0"/>
              <a:t> </a:t>
            </a:r>
            <a:r>
              <a:rPr lang="en-US" b="1" dirty="0" err="1"/>
              <a:t>və</a:t>
            </a:r>
            <a:r>
              <a:rPr lang="en-US" b="1" dirty="0"/>
              <a:t> </a:t>
            </a:r>
            <a:r>
              <a:rPr lang="en-US" b="1" dirty="0" err="1"/>
              <a:t>əlaqəli</a:t>
            </a:r>
            <a:r>
              <a:rPr lang="en-US" b="1" dirty="0"/>
              <a:t> </a:t>
            </a:r>
            <a:r>
              <a:rPr lang="en-US" b="1" dirty="0" err="1"/>
              <a:t>hüquqlar</a:t>
            </a:r>
            <a:r>
              <a:rPr lang="az-Latn-AZ" b="1" dirty="0"/>
              <a:t>ı haqqda nəticə və təkliflər</a:t>
            </a:r>
            <a:endParaRPr dirty="0"/>
          </a:p>
        </p:txBody>
      </p:sp>
      <p:sp>
        <p:nvSpPr>
          <p:cNvPr id="3" name="Content Placeholder 2"/>
          <p:cNvSpPr>
            <a:spLocks noGrp="1"/>
          </p:cNvSpPr>
          <p:nvPr>
            <p:ph idx="1"/>
          </p:nvPr>
        </p:nvSpPr>
        <p:spPr>
          <a:xfrm>
            <a:off x="457200" y="1618938"/>
            <a:ext cx="8229600" cy="4964424"/>
          </a:xfrm>
        </p:spPr>
        <p:txBody>
          <a:bodyPr>
            <a:normAutofit fontScale="47500" lnSpcReduction="20000"/>
          </a:bodyPr>
          <a:lstStyle/>
          <a:p>
            <a:pPr marL="0" indent="0">
              <a:buNone/>
            </a:pPr>
            <a:r>
              <a:rPr lang="en-US" sz="5100" b="1" dirty="0" err="1">
                <a:solidFill>
                  <a:schemeClr val="accent2">
                    <a:lumMod val="75000"/>
                  </a:schemeClr>
                </a:solidFill>
              </a:rPr>
              <a:t>Nəticə</a:t>
            </a:r>
            <a:endParaRPr lang="en-US" sz="5100" b="1" dirty="0">
              <a:solidFill>
                <a:schemeClr val="accent2">
                  <a:lumMod val="75000"/>
                </a:schemeClr>
              </a:solidFill>
            </a:endParaRPr>
          </a:p>
          <a:p>
            <a:r>
              <a:rPr lang="en-US" dirty="0" err="1"/>
              <a:t>Müəlliflik</a:t>
            </a:r>
            <a:r>
              <a:rPr lang="en-US" dirty="0"/>
              <a:t> </a:t>
            </a:r>
            <a:r>
              <a:rPr lang="en-US" dirty="0" err="1"/>
              <a:t>və</a:t>
            </a:r>
            <a:r>
              <a:rPr lang="en-US" dirty="0"/>
              <a:t> </a:t>
            </a:r>
            <a:r>
              <a:rPr lang="en-US" dirty="0" err="1"/>
              <a:t>əlaqəli</a:t>
            </a:r>
            <a:r>
              <a:rPr lang="en-US" dirty="0"/>
              <a:t> </a:t>
            </a:r>
            <a:r>
              <a:rPr lang="en-US" dirty="0" err="1"/>
              <a:t>hüquqlar</a:t>
            </a:r>
            <a:r>
              <a:rPr lang="en-US" dirty="0"/>
              <a:t> </a:t>
            </a:r>
            <a:r>
              <a:rPr lang="en-US" dirty="0" err="1"/>
              <a:t>yaradıcı</a:t>
            </a:r>
            <a:r>
              <a:rPr lang="en-US" dirty="0"/>
              <a:t> </a:t>
            </a:r>
            <a:r>
              <a:rPr lang="en-US" dirty="0" err="1"/>
              <a:t>şəxslərin</a:t>
            </a:r>
            <a:r>
              <a:rPr lang="en-US" dirty="0"/>
              <a:t>, </a:t>
            </a:r>
            <a:r>
              <a:rPr lang="en-US" dirty="0" err="1"/>
              <a:t>ifaçıların</a:t>
            </a:r>
            <a:r>
              <a:rPr lang="en-US" dirty="0"/>
              <a:t> </a:t>
            </a:r>
            <a:r>
              <a:rPr lang="en-US" dirty="0" err="1"/>
              <a:t>və</a:t>
            </a:r>
            <a:r>
              <a:rPr lang="en-US" dirty="0"/>
              <a:t> </a:t>
            </a:r>
            <a:r>
              <a:rPr lang="en-US" dirty="0" err="1"/>
              <a:t>istehsalçıların</a:t>
            </a:r>
            <a:r>
              <a:rPr lang="en-US" dirty="0"/>
              <a:t> </a:t>
            </a:r>
            <a:r>
              <a:rPr lang="en-US" dirty="0" err="1"/>
              <a:t>hüquqi</a:t>
            </a:r>
            <a:r>
              <a:rPr lang="en-US" dirty="0"/>
              <a:t> </a:t>
            </a:r>
            <a:r>
              <a:rPr lang="en-US" dirty="0" err="1"/>
              <a:t>və</a:t>
            </a:r>
            <a:r>
              <a:rPr lang="en-US" dirty="0"/>
              <a:t> </a:t>
            </a:r>
            <a:r>
              <a:rPr lang="en-US" dirty="0" err="1"/>
              <a:t>iqtisadi</a:t>
            </a:r>
            <a:r>
              <a:rPr lang="en-US" dirty="0"/>
              <a:t> </a:t>
            </a:r>
            <a:r>
              <a:rPr lang="en-US" dirty="0" err="1"/>
              <a:t>maraqlarını</a:t>
            </a:r>
            <a:r>
              <a:rPr lang="en-US" dirty="0"/>
              <a:t> </a:t>
            </a:r>
            <a:r>
              <a:rPr lang="en-US" dirty="0" err="1"/>
              <a:t>qoruyan</a:t>
            </a:r>
            <a:r>
              <a:rPr lang="en-US" dirty="0"/>
              <a:t> </a:t>
            </a:r>
            <a:r>
              <a:rPr lang="en-US" dirty="0" err="1"/>
              <a:t>mühüm</a:t>
            </a:r>
            <a:r>
              <a:rPr lang="en-US" dirty="0"/>
              <a:t> </a:t>
            </a:r>
            <a:r>
              <a:rPr lang="en-US" dirty="0" err="1"/>
              <a:t>mexanizmdir</a:t>
            </a:r>
            <a:r>
              <a:rPr lang="en-US" dirty="0"/>
              <a:t>.</a:t>
            </a:r>
          </a:p>
          <a:p>
            <a:r>
              <a:rPr lang="en-US" dirty="0" err="1"/>
              <a:t>Rəqəmsal</a:t>
            </a:r>
            <a:r>
              <a:rPr lang="en-US" dirty="0"/>
              <a:t> </a:t>
            </a:r>
            <a:r>
              <a:rPr lang="en-US" dirty="0" err="1"/>
              <a:t>dövrdə</a:t>
            </a:r>
            <a:r>
              <a:rPr lang="en-US" dirty="0"/>
              <a:t> </a:t>
            </a:r>
            <a:r>
              <a:rPr lang="en-US" dirty="0" err="1"/>
              <a:t>hüquqların</a:t>
            </a:r>
            <a:r>
              <a:rPr lang="en-US" dirty="0"/>
              <a:t> </a:t>
            </a:r>
            <a:r>
              <a:rPr lang="en-US" dirty="0" err="1"/>
              <a:t>pozulma</a:t>
            </a:r>
            <a:r>
              <a:rPr lang="en-US" dirty="0"/>
              <a:t> </a:t>
            </a:r>
            <a:r>
              <a:rPr lang="en-US" dirty="0" err="1"/>
              <a:t>riski</a:t>
            </a:r>
            <a:r>
              <a:rPr lang="en-US" dirty="0"/>
              <a:t> </a:t>
            </a:r>
            <a:r>
              <a:rPr lang="en-US" dirty="0" err="1"/>
              <a:t>artdığı</a:t>
            </a:r>
            <a:r>
              <a:rPr lang="en-US" dirty="0"/>
              <a:t> </a:t>
            </a:r>
            <a:r>
              <a:rPr lang="en-US" dirty="0" err="1"/>
              <a:t>üçün</a:t>
            </a:r>
            <a:r>
              <a:rPr lang="en-US" dirty="0"/>
              <a:t> </a:t>
            </a:r>
            <a:r>
              <a:rPr lang="en-US" dirty="0" err="1"/>
              <a:t>həm</a:t>
            </a:r>
            <a:r>
              <a:rPr lang="en-US" dirty="0"/>
              <a:t> </a:t>
            </a:r>
            <a:r>
              <a:rPr lang="en-US" dirty="0" err="1"/>
              <a:t>hüquqi</a:t>
            </a:r>
            <a:r>
              <a:rPr lang="en-US" dirty="0"/>
              <a:t>, </a:t>
            </a:r>
            <a:r>
              <a:rPr lang="en-US" dirty="0" err="1"/>
              <a:t>həm</a:t>
            </a:r>
            <a:r>
              <a:rPr lang="en-US" dirty="0"/>
              <a:t> </a:t>
            </a:r>
            <a:r>
              <a:rPr lang="en-US" dirty="0" err="1"/>
              <a:t>də</a:t>
            </a:r>
            <a:r>
              <a:rPr lang="en-US" dirty="0"/>
              <a:t> </a:t>
            </a:r>
            <a:r>
              <a:rPr lang="en-US" dirty="0" err="1"/>
              <a:t>texnoloji</a:t>
            </a:r>
            <a:r>
              <a:rPr lang="en-US" dirty="0"/>
              <a:t> </a:t>
            </a:r>
            <a:r>
              <a:rPr lang="en-US" dirty="0" err="1"/>
              <a:t>müdafiə</a:t>
            </a:r>
            <a:r>
              <a:rPr lang="en-US" dirty="0"/>
              <a:t> </a:t>
            </a:r>
            <a:r>
              <a:rPr lang="en-US" dirty="0" err="1"/>
              <a:t>vasitələrinin</a:t>
            </a:r>
            <a:r>
              <a:rPr lang="en-US" dirty="0"/>
              <a:t> </a:t>
            </a:r>
            <a:r>
              <a:rPr lang="en-US" dirty="0" err="1"/>
              <a:t>gücləndirilməsi</a:t>
            </a:r>
            <a:r>
              <a:rPr lang="en-US" dirty="0"/>
              <a:t> </a:t>
            </a:r>
            <a:r>
              <a:rPr lang="en-US" dirty="0" err="1"/>
              <a:t>vacibdir</a:t>
            </a:r>
            <a:r>
              <a:rPr lang="en-US" dirty="0"/>
              <a:t>.</a:t>
            </a:r>
          </a:p>
          <a:p>
            <a:r>
              <a:rPr lang="en-US" dirty="0" err="1"/>
              <a:t>Hüquqların</a:t>
            </a:r>
            <a:r>
              <a:rPr lang="en-US" dirty="0"/>
              <a:t> </a:t>
            </a:r>
            <a:r>
              <a:rPr lang="en-US" dirty="0" err="1"/>
              <a:t>effektiv</a:t>
            </a:r>
            <a:r>
              <a:rPr lang="en-US" dirty="0"/>
              <a:t> </a:t>
            </a:r>
            <a:r>
              <a:rPr lang="en-US" dirty="0" err="1"/>
              <a:t>qorunması</a:t>
            </a:r>
            <a:r>
              <a:rPr lang="en-US" dirty="0"/>
              <a:t> </a:t>
            </a:r>
            <a:r>
              <a:rPr lang="en-US" dirty="0" err="1"/>
              <a:t>mədəniyyətin</a:t>
            </a:r>
            <a:r>
              <a:rPr lang="en-US" dirty="0"/>
              <a:t>, </a:t>
            </a:r>
            <a:r>
              <a:rPr lang="en-US" dirty="0" err="1"/>
              <a:t>kreativ</a:t>
            </a:r>
            <a:r>
              <a:rPr lang="en-US" dirty="0"/>
              <a:t> </a:t>
            </a:r>
            <a:r>
              <a:rPr lang="en-US" dirty="0" err="1"/>
              <a:t>sənayenin</a:t>
            </a:r>
            <a:r>
              <a:rPr lang="en-US" dirty="0"/>
              <a:t> </a:t>
            </a:r>
            <a:r>
              <a:rPr lang="en-US" dirty="0" err="1"/>
              <a:t>və</a:t>
            </a:r>
            <a:r>
              <a:rPr lang="en-US" dirty="0"/>
              <a:t> </a:t>
            </a:r>
            <a:r>
              <a:rPr lang="en-US" dirty="0" err="1"/>
              <a:t>iqtisadiyyatın</a:t>
            </a:r>
            <a:r>
              <a:rPr lang="en-US" dirty="0"/>
              <a:t> </a:t>
            </a:r>
            <a:r>
              <a:rPr lang="en-US" dirty="0" err="1"/>
              <a:t>inkişafına</a:t>
            </a:r>
            <a:r>
              <a:rPr lang="en-US" dirty="0"/>
              <a:t> </a:t>
            </a:r>
            <a:r>
              <a:rPr lang="en-US" dirty="0" err="1"/>
              <a:t>müsbət</a:t>
            </a:r>
            <a:r>
              <a:rPr lang="en-US" dirty="0"/>
              <a:t> </a:t>
            </a:r>
            <a:r>
              <a:rPr lang="en-US" dirty="0" err="1"/>
              <a:t>təsir</a:t>
            </a:r>
            <a:r>
              <a:rPr lang="en-US" dirty="0"/>
              <a:t> </a:t>
            </a:r>
            <a:r>
              <a:rPr lang="en-US" dirty="0" err="1"/>
              <a:t>göstərir</a:t>
            </a:r>
            <a:r>
              <a:rPr lang="en-US" dirty="0"/>
              <a:t>.</a:t>
            </a:r>
          </a:p>
          <a:p>
            <a:pPr marL="0" indent="0">
              <a:buNone/>
            </a:pPr>
            <a:br>
              <a:rPr lang="en-US" dirty="0"/>
            </a:br>
            <a:endParaRPr lang="en-US" dirty="0"/>
          </a:p>
          <a:p>
            <a:pPr marL="0" indent="0">
              <a:buNone/>
            </a:pPr>
            <a:r>
              <a:rPr lang="en-US" sz="5100" b="1" dirty="0" err="1">
                <a:solidFill>
                  <a:schemeClr val="tx2">
                    <a:lumMod val="60000"/>
                    <a:lumOff val="40000"/>
                  </a:schemeClr>
                </a:solidFill>
              </a:rPr>
              <a:t>Təkliflər</a:t>
            </a:r>
            <a:endParaRPr lang="en-US" sz="5100" b="1" dirty="0">
              <a:solidFill>
                <a:schemeClr val="tx2">
                  <a:lumMod val="60000"/>
                  <a:lumOff val="40000"/>
                </a:schemeClr>
              </a:solidFill>
            </a:endParaRPr>
          </a:p>
          <a:p>
            <a:r>
              <a:rPr lang="en-US" b="1" dirty="0" err="1"/>
              <a:t>Maarifləndirmə</a:t>
            </a:r>
            <a:r>
              <a:rPr lang="en-US" b="1" dirty="0"/>
              <a:t> </a:t>
            </a:r>
            <a:r>
              <a:rPr lang="en-US" b="1" dirty="0" err="1"/>
              <a:t>artırılmalıdır</a:t>
            </a:r>
            <a:r>
              <a:rPr lang="en-US" b="1" dirty="0"/>
              <a:t>:</a:t>
            </a:r>
            <a:r>
              <a:rPr lang="en-US" dirty="0"/>
              <a:t> </a:t>
            </a:r>
            <a:r>
              <a:rPr lang="en-US" dirty="0" err="1"/>
              <a:t>İstifadəçilər</a:t>
            </a:r>
            <a:r>
              <a:rPr lang="en-US" dirty="0"/>
              <a:t>, </a:t>
            </a:r>
            <a:r>
              <a:rPr lang="en-US" dirty="0" err="1"/>
              <a:t>tələbələr</a:t>
            </a:r>
            <a:r>
              <a:rPr lang="en-US" dirty="0"/>
              <a:t> </a:t>
            </a:r>
            <a:r>
              <a:rPr lang="en-US" dirty="0" err="1"/>
              <a:t>və</a:t>
            </a:r>
            <a:r>
              <a:rPr lang="en-US" dirty="0"/>
              <a:t> </a:t>
            </a:r>
            <a:r>
              <a:rPr lang="en-US" dirty="0" err="1"/>
              <a:t>yaradıcı</a:t>
            </a:r>
            <a:r>
              <a:rPr lang="en-US" dirty="0"/>
              <a:t> </a:t>
            </a:r>
            <a:r>
              <a:rPr lang="en-US" dirty="0" err="1"/>
              <a:t>şəxslər</a:t>
            </a:r>
            <a:r>
              <a:rPr lang="en-US" dirty="0"/>
              <a:t> </a:t>
            </a:r>
            <a:r>
              <a:rPr lang="en-US" dirty="0" err="1"/>
              <a:t>müəlliflik</a:t>
            </a:r>
            <a:r>
              <a:rPr lang="en-US" dirty="0"/>
              <a:t> </a:t>
            </a:r>
            <a:r>
              <a:rPr lang="en-US" dirty="0" err="1"/>
              <a:t>hüquqları</a:t>
            </a:r>
            <a:r>
              <a:rPr lang="en-US" dirty="0"/>
              <a:t> </a:t>
            </a:r>
            <a:r>
              <a:rPr lang="en-US" dirty="0" err="1"/>
              <a:t>barədə</a:t>
            </a:r>
            <a:r>
              <a:rPr lang="en-US" dirty="0"/>
              <a:t> </a:t>
            </a:r>
            <a:r>
              <a:rPr lang="en-US" dirty="0" err="1"/>
              <a:t>məlumatlandırılmalıdır</a:t>
            </a:r>
            <a:r>
              <a:rPr lang="en-US" dirty="0"/>
              <a:t>.</a:t>
            </a:r>
          </a:p>
          <a:p>
            <a:r>
              <a:rPr lang="en-US" b="1" dirty="0" err="1"/>
              <a:t>Rəqəmsal</a:t>
            </a:r>
            <a:r>
              <a:rPr lang="en-US" b="1" dirty="0"/>
              <a:t> </a:t>
            </a:r>
            <a:r>
              <a:rPr lang="en-US" b="1" dirty="0" err="1"/>
              <a:t>nəzarət</a:t>
            </a:r>
            <a:r>
              <a:rPr lang="en-US" b="1" dirty="0"/>
              <a:t> </a:t>
            </a:r>
            <a:r>
              <a:rPr lang="en-US" b="1" dirty="0" err="1"/>
              <a:t>sistemləri</a:t>
            </a:r>
            <a:r>
              <a:rPr lang="en-US" b="1" dirty="0"/>
              <a:t> </a:t>
            </a:r>
            <a:r>
              <a:rPr lang="en-US" b="1" dirty="0" err="1"/>
              <a:t>gücləndirilməlidir</a:t>
            </a:r>
            <a:r>
              <a:rPr lang="en-US" b="1" dirty="0"/>
              <a:t>:</a:t>
            </a:r>
            <a:r>
              <a:rPr lang="en-US" dirty="0"/>
              <a:t> </a:t>
            </a:r>
            <a:r>
              <a:rPr lang="en-US" dirty="0" err="1"/>
              <a:t>Antipirat</a:t>
            </a:r>
            <a:r>
              <a:rPr lang="en-US" dirty="0"/>
              <a:t> </a:t>
            </a:r>
            <a:r>
              <a:rPr lang="en-US" dirty="0" err="1"/>
              <a:t>platformaları</a:t>
            </a:r>
            <a:r>
              <a:rPr lang="en-US" dirty="0"/>
              <a:t>, DRM </a:t>
            </a:r>
            <a:r>
              <a:rPr lang="en-US" dirty="0" err="1"/>
              <a:t>və</a:t>
            </a:r>
            <a:r>
              <a:rPr lang="en-US" dirty="0"/>
              <a:t> </a:t>
            </a:r>
            <a:r>
              <a:rPr lang="en-US" dirty="0" err="1"/>
              <a:t>su</a:t>
            </a:r>
            <a:r>
              <a:rPr lang="en-US" dirty="0"/>
              <a:t> </a:t>
            </a:r>
            <a:r>
              <a:rPr lang="en-US" dirty="0" err="1"/>
              <a:t>nişanı</a:t>
            </a:r>
            <a:r>
              <a:rPr lang="en-US" dirty="0"/>
              <a:t> </a:t>
            </a:r>
            <a:r>
              <a:rPr lang="en-US" dirty="0" err="1"/>
              <a:t>texnologiyaları</a:t>
            </a:r>
            <a:r>
              <a:rPr lang="en-US" dirty="0"/>
              <a:t> </a:t>
            </a:r>
            <a:r>
              <a:rPr lang="en-US" dirty="0" err="1"/>
              <a:t>geniş</a:t>
            </a:r>
            <a:r>
              <a:rPr lang="en-US" dirty="0"/>
              <a:t> </a:t>
            </a:r>
            <a:r>
              <a:rPr lang="en-US" dirty="0" err="1"/>
              <a:t>tətbiq</a:t>
            </a:r>
            <a:r>
              <a:rPr lang="en-US" dirty="0"/>
              <a:t> </a:t>
            </a:r>
            <a:r>
              <a:rPr lang="en-US" dirty="0" err="1"/>
              <a:t>olunmalıdır</a:t>
            </a:r>
            <a:r>
              <a:rPr lang="en-US" dirty="0"/>
              <a:t>.</a:t>
            </a:r>
          </a:p>
          <a:p>
            <a:r>
              <a:rPr lang="en-US" b="1" dirty="0" err="1"/>
              <a:t>Qanunvericilik</a:t>
            </a:r>
            <a:r>
              <a:rPr lang="en-US" b="1" dirty="0"/>
              <a:t> </a:t>
            </a:r>
            <a:r>
              <a:rPr lang="en-US" b="1" dirty="0" err="1"/>
              <a:t>yenilənməlidir</a:t>
            </a:r>
            <a:r>
              <a:rPr lang="en-US" b="1" dirty="0"/>
              <a:t>:</a:t>
            </a:r>
            <a:r>
              <a:rPr lang="en-US" dirty="0"/>
              <a:t> </a:t>
            </a:r>
            <a:r>
              <a:rPr lang="en-US" dirty="0" err="1"/>
              <a:t>Rəqəmsal</a:t>
            </a:r>
            <a:r>
              <a:rPr lang="en-US" dirty="0"/>
              <a:t> </a:t>
            </a:r>
            <a:r>
              <a:rPr lang="en-US" dirty="0" err="1"/>
              <a:t>mühitin</a:t>
            </a:r>
            <a:r>
              <a:rPr lang="en-US" dirty="0"/>
              <a:t> </a:t>
            </a:r>
            <a:r>
              <a:rPr lang="en-US" dirty="0" err="1"/>
              <a:t>inkişafına</a:t>
            </a:r>
            <a:r>
              <a:rPr lang="en-US" dirty="0"/>
              <a:t> </a:t>
            </a:r>
            <a:r>
              <a:rPr lang="en-US" dirty="0" err="1"/>
              <a:t>uyğun</a:t>
            </a:r>
            <a:r>
              <a:rPr lang="en-US" dirty="0"/>
              <a:t> yeni </a:t>
            </a:r>
            <a:r>
              <a:rPr lang="en-US" dirty="0" err="1"/>
              <a:t>hüquqi</a:t>
            </a:r>
            <a:r>
              <a:rPr lang="en-US" dirty="0"/>
              <a:t> </a:t>
            </a:r>
            <a:r>
              <a:rPr lang="en-US" dirty="0" err="1"/>
              <a:t>mexanizmlər</a:t>
            </a:r>
            <a:r>
              <a:rPr lang="en-US" dirty="0"/>
              <a:t> </a:t>
            </a:r>
            <a:r>
              <a:rPr lang="en-US" dirty="0" err="1"/>
              <a:t>hazırlanmalıdır</a:t>
            </a:r>
            <a:r>
              <a:rPr lang="en-US" dirty="0"/>
              <a:t>.</a:t>
            </a:r>
          </a:p>
          <a:p>
            <a:r>
              <a:rPr lang="en-US" b="1" dirty="0" err="1"/>
              <a:t>Beynəlxalq</a:t>
            </a:r>
            <a:r>
              <a:rPr lang="en-US" b="1" dirty="0"/>
              <a:t> </a:t>
            </a:r>
            <a:r>
              <a:rPr lang="en-US" b="1" dirty="0" err="1"/>
              <a:t>əməkdaşlıq</a:t>
            </a:r>
            <a:r>
              <a:rPr lang="en-US" b="1" dirty="0"/>
              <a:t> </a:t>
            </a:r>
            <a:r>
              <a:rPr lang="en-US" b="1" dirty="0" err="1"/>
              <a:t>genişləndirilməlidir</a:t>
            </a:r>
            <a:r>
              <a:rPr lang="en-US" b="1" dirty="0"/>
              <a:t>:</a:t>
            </a:r>
            <a:r>
              <a:rPr lang="en-US" dirty="0"/>
              <a:t> </a:t>
            </a:r>
            <a:r>
              <a:rPr lang="en-US" dirty="0" err="1"/>
              <a:t>Piratçılığa</a:t>
            </a:r>
            <a:r>
              <a:rPr lang="en-US" dirty="0"/>
              <a:t> </a:t>
            </a:r>
            <a:r>
              <a:rPr lang="en-US" dirty="0" err="1"/>
              <a:t>qarşı</a:t>
            </a:r>
            <a:r>
              <a:rPr lang="en-US" dirty="0"/>
              <a:t> </a:t>
            </a:r>
            <a:r>
              <a:rPr lang="en-US" dirty="0" err="1"/>
              <a:t>transsərhəd</a:t>
            </a:r>
            <a:r>
              <a:rPr lang="en-US" dirty="0"/>
              <a:t> </a:t>
            </a:r>
            <a:r>
              <a:rPr lang="en-US" dirty="0" err="1"/>
              <a:t>tədbirlərin</a:t>
            </a:r>
            <a:r>
              <a:rPr lang="en-US" dirty="0"/>
              <a:t> </a:t>
            </a:r>
            <a:r>
              <a:rPr lang="en-US" dirty="0" err="1"/>
              <a:t>gücləndirilməsi</a:t>
            </a:r>
            <a:r>
              <a:rPr lang="en-US" dirty="0"/>
              <a:t> </a:t>
            </a:r>
            <a:r>
              <a:rPr lang="en-US" dirty="0" err="1"/>
              <a:t>vacibdir</a:t>
            </a:r>
            <a:r>
              <a:rPr lang="en-US" dirty="0"/>
              <a:t>.</a:t>
            </a:r>
          </a:p>
          <a:p>
            <a:r>
              <a:rPr lang="en-US" b="1" dirty="0" err="1"/>
              <a:t>İnkişaf</a:t>
            </a:r>
            <a:r>
              <a:rPr lang="en-US" b="1" dirty="0"/>
              <a:t> </a:t>
            </a:r>
            <a:r>
              <a:rPr lang="en-US" b="1" dirty="0" err="1"/>
              <a:t>proqramları</a:t>
            </a:r>
            <a:r>
              <a:rPr lang="en-US" b="1" dirty="0"/>
              <a:t> </a:t>
            </a:r>
            <a:r>
              <a:rPr lang="en-US" b="1" dirty="0" err="1"/>
              <a:t>dəstəklənməlidir</a:t>
            </a:r>
            <a:r>
              <a:rPr lang="en-US" b="1" dirty="0"/>
              <a:t>:</a:t>
            </a:r>
            <a:r>
              <a:rPr lang="en-US" dirty="0"/>
              <a:t> </a:t>
            </a:r>
            <a:r>
              <a:rPr lang="en-US" dirty="0" err="1"/>
              <a:t>Yaradıcı</a:t>
            </a:r>
            <a:r>
              <a:rPr lang="en-US" dirty="0"/>
              <a:t> </a:t>
            </a:r>
            <a:r>
              <a:rPr lang="en-US" dirty="0" err="1"/>
              <a:t>şəxslərə</a:t>
            </a:r>
            <a:r>
              <a:rPr lang="en-US" dirty="0"/>
              <a:t> </a:t>
            </a:r>
            <a:r>
              <a:rPr lang="en-US" dirty="0" err="1"/>
              <a:t>dövlət</a:t>
            </a:r>
            <a:r>
              <a:rPr lang="en-US" dirty="0"/>
              <a:t> </a:t>
            </a:r>
            <a:r>
              <a:rPr lang="en-US" dirty="0" err="1"/>
              <a:t>dəstəyi</a:t>
            </a:r>
            <a:r>
              <a:rPr lang="en-US" dirty="0"/>
              <a:t>, </a:t>
            </a:r>
            <a:r>
              <a:rPr lang="en-US" dirty="0" err="1"/>
              <a:t>qrantlar</a:t>
            </a:r>
            <a:r>
              <a:rPr lang="en-US" dirty="0"/>
              <a:t> </a:t>
            </a:r>
            <a:r>
              <a:rPr lang="en-US" dirty="0" err="1"/>
              <a:t>və</a:t>
            </a:r>
            <a:r>
              <a:rPr lang="en-US" dirty="0"/>
              <a:t> </a:t>
            </a:r>
            <a:r>
              <a:rPr lang="en-US" dirty="0" err="1"/>
              <a:t>layihələr</a:t>
            </a:r>
            <a:r>
              <a:rPr lang="en-US" dirty="0"/>
              <a:t> </a:t>
            </a:r>
            <a:r>
              <a:rPr lang="en-US" dirty="0" err="1"/>
              <a:t>artırılmalıdır</a:t>
            </a:r>
            <a:r>
              <a:rPr lang="en-US"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az-Latn-AZ" b="1" dirty="0">
                <a:latin typeface="Book Antiqua" panose="02040602050305030304" pitchFamily="18" charset="0"/>
              </a:rPr>
            </a:br>
            <a:r>
              <a:rPr lang="az-Latn-AZ" b="1" dirty="0">
                <a:latin typeface="Book Antiqua" panose="02040602050305030304" pitchFamily="18" charset="0"/>
              </a:rPr>
              <a:t>İstifadə olunan sayt və ədəbiyyatların siyahısı</a:t>
            </a:r>
            <a:endParaRPr b="1" dirty="0">
              <a:latin typeface="Book Antiqua" panose="02040602050305030304" pitchFamily="18" charset="0"/>
            </a:endParaRPr>
          </a:p>
        </p:txBody>
      </p:sp>
      <p:sp>
        <p:nvSpPr>
          <p:cNvPr id="3" name="Content Placeholder 2"/>
          <p:cNvSpPr>
            <a:spLocks noGrp="1"/>
          </p:cNvSpPr>
          <p:nvPr>
            <p:ph idx="1"/>
          </p:nvPr>
        </p:nvSpPr>
        <p:spPr>
          <a:xfrm>
            <a:off x="457200" y="1795072"/>
            <a:ext cx="8229600" cy="4525963"/>
          </a:xfrm>
        </p:spPr>
        <p:txBody>
          <a:bodyPr/>
          <a:lstStyle/>
          <a:p>
            <a:pPr marL="0" indent="0">
              <a:buNone/>
              <a:defRPr sz="2000"/>
            </a:pPr>
            <a:endParaRPr lang="en-US" dirty="0"/>
          </a:p>
          <a:p>
            <a:pPr>
              <a:defRPr sz="2000"/>
            </a:pPr>
            <a:r>
              <a:rPr lang="en-US" b="1" dirty="0" err="1"/>
              <a:t>Azərbaycan</a:t>
            </a:r>
            <a:r>
              <a:rPr lang="en-US" b="1" dirty="0"/>
              <a:t> </a:t>
            </a:r>
            <a:r>
              <a:rPr lang="en-US" b="1" dirty="0" err="1"/>
              <a:t>Respublikasının</a:t>
            </a:r>
            <a:r>
              <a:rPr lang="en-US" b="1" dirty="0"/>
              <a:t> </a:t>
            </a:r>
            <a:r>
              <a:rPr lang="en-US" dirty="0" err="1"/>
              <a:t>qanunvericiliyi</a:t>
            </a:r>
            <a:r>
              <a:rPr lang="az-Latn-AZ" dirty="0"/>
              <a:t> (</a:t>
            </a:r>
            <a:r>
              <a:rPr lang="en-US" dirty="0"/>
              <a:t>“</a:t>
            </a:r>
            <a:r>
              <a:rPr lang="en-US" dirty="0" err="1"/>
              <a:t>Müəlliflik</a:t>
            </a:r>
            <a:r>
              <a:rPr lang="en-US" dirty="0"/>
              <a:t> </a:t>
            </a:r>
            <a:r>
              <a:rPr lang="en-US" dirty="0" err="1"/>
              <a:t>hüququ</a:t>
            </a:r>
            <a:r>
              <a:rPr lang="en-US" dirty="0"/>
              <a:t> </a:t>
            </a:r>
            <a:r>
              <a:rPr lang="en-US" dirty="0" err="1"/>
              <a:t>və</a:t>
            </a:r>
            <a:r>
              <a:rPr lang="en-US" dirty="0"/>
              <a:t> </a:t>
            </a:r>
            <a:r>
              <a:rPr lang="en-US" dirty="0" err="1"/>
              <a:t>əlaqəli</a:t>
            </a:r>
            <a:r>
              <a:rPr lang="en-US" dirty="0"/>
              <a:t> </a:t>
            </a:r>
            <a:r>
              <a:rPr lang="en-US" dirty="0" err="1"/>
              <a:t>hüquqlar</a:t>
            </a:r>
            <a:r>
              <a:rPr lang="en-US" dirty="0"/>
              <a:t> </a:t>
            </a:r>
            <a:r>
              <a:rPr lang="en-US" dirty="0" err="1"/>
              <a:t>haqqında</a:t>
            </a:r>
            <a:r>
              <a:rPr lang="en-US" dirty="0"/>
              <a:t>” </a:t>
            </a:r>
            <a:r>
              <a:rPr lang="en-US" dirty="0" err="1"/>
              <a:t>Azərbaycan</a:t>
            </a:r>
            <a:r>
              <a:rPr lang="en-US" dirty="0"/>
              <a:t> </a:t>
            </a:r>
            <a:r>
              <a:rPr lang="en-US" dirty="0" err="1"/>
              <a:t>Respublikasının</a:t>
            </a:r>
            <a:r>
              <a:rPr lang="en-US" dirty="0"/>
              <a:t> </a:t>
            </a:r>
            <a:r>
              <a:rPr lang="en-US" dirty="0" err="1"/>
              <a:t>Qanunu</a:t>
            </a:r>
            <a:r>
              <a:rPr lang="az-Latn-AZ" dirty="0"/>
              <a:t>)</a:t>
            </a:r>
          </a:p>
          <a:p>
            <a:pPr>
              <a:defRPr sz="2000"/>
            </a:pPr>
            <a:r>
              <a:rPr lang="en-US" b="1" dirty="0" err="1"/>
              <a:t>Azərbaycan</a:t>
            </a:r>
            <a:r>
              <a:rPr lang="en-US" b="1" dirty="0"/>
              <a:t> </a:t>
            </a:r>
            <a:r>
              <a:rPr lang="en-US" b="1" dirty="0" err="1"/>
              <a:t>Respublikasının</a:t>
            </a:r>
            <a:r>
              <a:rPr lang="en-US" b="1" dirty="0"/>
              <a:t> </a:t>
            </a:r>
            <a:r>
              <a:rPr lang="en-US" dirty="0" err="1"/>
              <a:t>Mülki</a:t>
            </a:r>
            <a:r>
              <a:rPr lang="en-US" dirty="0"/>
              <a:t> </a:t>
            </a:r>
            <a:r>
              <a:rPr lang="en-US" dirty="0" err="1"/>
              <a:t>Məcəlləsi</a:t>
            </a:r>
            <a:endParaRPr lang="az-Latn-AZ" dirty="0"/>
          </a:p>
          <a:p>
            <a:pPr>
              <a:defRPr sz="2000"/>
            </a:pPr>
            <a:r>
              <a:rPr lang="en-US" dirty="0" err="1"/>
              <a:t>İnzibati</a:t>
            </a:r>
            <a:r>
              <a:rPr lang="en-US" dirty="0"/>
              <a:t> </a:t>
            </a:r>
            <a:r>
              <a:rPr lang="en-US" dirty="0" err="1"/>
              <a:t>Xətalar</a:t>
            </a:r>
            <a:r>
              <a:rPr lang="en-US" dirty="0"/>
              <a:t> </a:t>
            </a:r>
            <a:r>
              <a:rPr lang="en-US" dirty="0" err="1"/>
              <a:t>Məcəlləsi</a:t>
            </a:r>
            <a:endParaRPr lang="az-Latn-AZ" dirty="0"/>
          </a:p>
          <a:p>
            <a:pPr>
              <a:defRPr sz="2000"/>
            </a:pPr>
            <a:r>
              <a:rPr lang="en-US" b="1" dirty="0"/>
              <a:t>Bern </a:t>
            </a:r>
            <a:r>
              <a:rPr lang="en-US" b="1" dirty="0" err="1"/>
              <a:t>Konvensiyası</a:t>
            </a:r>
            <a:r>
              <a:rPr lang="en-US" dirty="0"/>
              <a:t> (Literary and Artistic Works</a:t>
            </a:r>
            <a:r>
              <a:rPr lang="az-Latn-AZ" dirty="0"/>
              <a:t>)</a:t>
            </a:r>
          </a:p>
          <a:p>
            <a:pPr>
              <a:defRPr sz="2000"/>
            </a:pPr>
            <a:r>
              <a:rPr lang="en-US" b="1" dirty="0"/>
              <a:t>Roma </a:t>
            </a:r>
            <a:r>
              <a:rPr lang="en-US" b="1" dirty="0" err="1"/>
              <a:t>Konvensiyası</a:t>
            </a:r>
            <a:r>
              <a:rPr lang="en-US" dirty="0"/>
              <a:t> (International Convention for the Protection of Performers, Producers of Phonograms and Broadcasting Organizations)</a:t>
            </a:r>
            <a:endParaRPr lang="az-Latn-AZ" dirty="0"/>
          </a:p>
          <a:p>
            <a:pPr>
              <a:defRPr sz="2000"/>
            </a:pPr>
            <a:r>
              <a:rPr lang="en-US" dirty="0"/>
              <a:t> ÜƏMT </a:t>
            </a:r>
            <a:r>
              <a:rPr lang="en-US" dirty="0" err="1"/>
              <a:t>sənədləri</a:t>
            </a:r>
            <a:endParaRPr lang="en-US" dirty="0"/>
          </a:p>
          <a:p>
            <a:pPr>
              <a:defRPr sz="2000"/>
            </a:pPr>
            <a:r>
              <a:rPr lang="en-US" b="1" dirty="0"/>
              <a:t>World Intellectual Property Organization (WIPO)</a:t>
            </a:r>
            <a:r>
              <a:rPr lang="en-US" dirty="0"/>
              <a:t> </a:t>
            </a:r>
            <a:endParaRPr lang="az-Latn-AZ" dirty="0"/>
          </a:p>
          <a:p>
            <a:pPr>
              <a:defRPr sz="2000"/>
            </a:pPr>
            <a:r>
              <a:rPr lang="en-US" b="1" dirty="0"/>
              <a:t>Azerbaijan Copyright Agency</a:t>
            </a:r>
            <a:r>
              <a:rPr lang="en-US" dirty="0"/>
              <a:t> (</a:t>
            </a:r>
            <a:r>
              <a:rPr lang="en-US" dirty="0" err="1"/>
              <a:t>Azərbaycan</a:t>
            </a:r>
            <a:r>
              <a:rPr lang="en-US" dirty="0"/>
              <a:t> </a:t>
            </a:r>
            <a:r>
              <a:rPr lang="en-US" dirty="0" err="1"/>
              <a:t>Respublikası</a:t>
            </a:r>
            <a:r>
              <a:rPr lang="en-US" dirty="0"/>
              <a:t> </a:t>
            </a:r>
            <a:r>
              <a:rPr lang="en-US" dirty="0" err="1"/>
              <a:t>Əqli</a:t>
            </a:r>
            <a:r>
              <a:rPr lang="en-US" dirty="0"/>
              <a:t> </a:t>
            </a:r>
            <a:r>
              <a:rPr lang="en-US" dirty="0" err="1"/>
              <a:t>Mülkiyyət</a:t>
            </a:r>
            <a:r>
              <a:rPr lang="en-US" dirty="0"/>
              <a:t> </a:t>
            </a:r>
            <a:r>
              <a:rPr lang="en-US" dirty="0" err="1"/>
              <a:t>Agentliyi</a:t>
            </a:r>
            <a:r>
              <a:rPr lang="en-US" dirty="0"/>
              <a:t>)</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4085</TotalTime>
  <Words>1436</Words>
  <Application>Microsoft Office PowerPoint</Application>
  <PresentationFormat>On-screen Show (4:3)</PresentationFormat>
  <Paragraphs>187</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Arial Black</vt:lpstr>
      <vt:lpstr>Bell MT</vt:lpstr>
      <vt:lpstr>Book Antiqua</vt:lpstr>
      <vt:lpstr>Calibri</vt:lpstr>
      <vt:lpstr>Ink Free</vt:lpstr>
      <vt:lpstr>Lucida Calligraphy</vt:lpstr>
      <vt:lpstr>Vladimir Script</vt:lpstr>
      <vt:lpstr>Office Theme</vt:lpstr>
      <vt:lpstr>Title: Müəlliflik hüququ və əlaqəli hüquqların qarşılıqlı əlaqəsi</vt:lpstr>
      <vt:lpstr>Giriş</vt:lpstr>
      <vt:lpstr>Müəllif hüququnun məqsədi və prinsipləri</vt:lpstr>
      <vt:lpstr>Müəllif hüququnun subyektləri </vt:lpstr>
      <vt:lpstr> Müəlliflik hüququnun obyektləri </vt:lpstr>
      <vt:lpstr>Əlaqəli hüquqların növləri</vt:lpstr>
      <vt:lpstr>Müəllif hüququ və əlaqəli hüquqların fərqləri</vt:lpstr>
      <vt:lpstr>Müəllif hüququ və əlaqəli hüquqların oxşar cəhətləri </vt:lpstr>
      <vt:lpstr>Müəllif hüququ və əlaqəli hüquqların qanunvericilikde tenzimlenmesi</vt:lpstr>
      <vt:lpstr>Müəllif hüququ və əlaqəli hüquqların texnoloji mühitdə qoruma</vt:lpstr>
      <vt:lpstr>Pozuntular və məsuliyyət</vt:lpstr>
      <vt:lpstr>Müəllif hüququ və əlaqəli hüquqları haqqda nəticə və təkliflər</vt:lpstr>
      <vt:lpstr> İstifadə olunan sayt və ədəbiyyatların siyahısı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zahra</dc:creator>
  <cp:keywords/>
  <dc:description>generated using python-pptx</dc:description>
  <cp:lastModifiedBy>zahra</cp:lastModifiedBy>
  <cp:revision>5</cp:revision>
  <dcterms:created xsi:type="dcterms:W3CDTF">2013-01-27T09:14:16Z</dcterms:created>
  <dcterms:modified xsi:type="dcterms:W3CDTF">2025-11-25T04:48:52Z</dcterms:modified>
  <cp:category/>
</cp:coreProperties>
</file>