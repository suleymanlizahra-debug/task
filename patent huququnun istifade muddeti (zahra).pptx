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4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6498-A8E8-4473-8FF2-0120FD006F5E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A5208-6C2F-4F26-AF21-802586DD7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3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A5208-6C2F-4F26-AF21-802586DD75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0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6573" y="2971680"/>
            <a:ext cx="6633149" cy="3170184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Tələbə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: Süleymanlı Zəhr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akültə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Mexanika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ə informasiya texnologiyaları (MİT)</a:t>
            </a:r>
          </a:p>
          <a:p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İxtisas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 İnformasiya texnologiyaları</a:t>
            </a:r>
          </a:p>
          <a:p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Grup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 845a2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ənn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Əqli mülkiyyətin əsasları</a:t>
            </a:r>
          </a:p>
          <a:p>
            <a:r>
              <a:rPr lang="az-Latn-AZ" b="1" dirty="0">
                <a:latin typeface="Arial" panose="020B0604020202020204" pitchFamily="34" charset="0"/>
                <a:cs typeface="Arial" panose="020B0604020202020204" pitchFamily="34" charset="0"/>
              </a:rPr>
              <a:t>İxtisas müəlliməsi</a:t>
            </a:r>
            <a:r>
              <a:rPr lang="az-Latn-AZ" dirty="0">
                <a:latin typeface="Arial" panose="020B0604020202020204" pitchFamily="34" charset="0"/>
                <a:cs typeface="Arial" panose="020B0604020202020204" pitchFamily="34" charset="0"/>
              </a:rPr>
              <a:t>: Qeribova İnci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Azərbaycan Memarlıq və İnşaat Universiteti | Baku">
            <a:extLst>
              <a:ext uri="{FF2B5EF4-FFF2-40B4-BE49-F238E27FC236}">
                <a16:creationId xmlns:a16="http://schemas.microsoft.com/office/drawing/2014/main" id="{94BD9A0F-ECB6-685B-F33C-548A8E978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4" b="22581"/>
          <a:stretch>
            <a:fillRect/>
          </a:stretch>
        </p:blipFill>
        <p:spPr bwMode="auto">
          <a:xfrm>
            <a:off x="442443" y="103678"/>
            <a:ext cx="3410028" cy="317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50A2347-ACC8-5C49-68F9-2A1BE508E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2688" y="551244"/>
            <a:ext cx="5268808" cy="2281897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Vladimir Script" panose="03050402040407070305" pitchFamily="66" charset="0"/>
              </a:rPr>
              <a:t>Title</a:t>
            </a:r>
            <a:r>
              <a:rPr lang="en-US" sz="3200" dirty="0">
                <a:latin typeface="Vladimir Script" panose="03050402040407070305" pitchFamily="66" charset="0"/>
              </a:rPr>
              <a:t>: </a:t>
            </a:r>
            <a:r>
              <a:rPr lang="az-Latn-AZ" sz="2800" dirty="0">
                <a:solidFill>
                  <a:schemeClr val="tx2">
                    <a:lumMod val="75000"/>
                  </a:schemeClr>
                </a:solidFill>
                <a:latin typeface="Bell MT" panose="02020503060305020303" pitchFamily="18" charset="0"/>
              </a:rPr>
              <a:t>Patent hüququnun fəaliyyət müddəti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D2DD-79A4-52AB-779F-8D94FED0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Patent </a:t>
            </a:r>
            <a:r>
              <a:rPr lang="en-US" b="1" dirty="0" err="1"/>
              <a:t>Nədir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5C13-DE7E-6480-002D-AAD7CAD53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52666"/>
          </a:xfrm>
        </p:spPr>
        <p:txBody>
          <a:bodyPr>
            <a:normAutofit/>
          </a:bodyPr>
          <a:lstStyle/>
          <a:p>
            <a:r>
              <a:rPr lang="en-US" sz="2000" b="1" dirty="0"/>
              <a:t>Patent</a:t>
            </a:r>
            <a:r>
              <a:rPr lang="en-US" sz="2000" dirty="0"/>
              <a:t> — </a:t>
            </a:r>
            <a:r>
              <a:rPr lang="en-US" sz="2000" dirty="0" err="1"/>
              <a:t>ixtiraçıya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hüquq</a:t>
            </a:r>
            <a:r>
              <a:rPr lang="en-US" sz="2000" dirty="0"/>
              <a:t> </a:t>
            </a:r>
            <a:r>
              <a:rPr lang="en-US" sz="2000" dirty="0" err="1"/>
              <a:t>sahibinə</a:t>
            </a:r>
            <a:r>
              <a:rPr lang="en-US" sz="2000" dirty="0"/>
              <a:t> </a:t>
            </a:r>
            <a:r>
              <a:rPr lang="en-US" sz="2000" dirty="0" err="1"/>
              <a:t>müəyyən</a:t>
            </a:r>
            <a:r>
              <a:rPr lang="en-US" sz="2000" dirty="0"/>
              <a:t> </a:t>
            </a:r>
            <a:r>
              <a:rPr lang="en-US" sz="2000" dirty="0" err="1"/>
              <a:t>müddətə</a:t>
            </a:r>
            <a:r>
              <a:rPr lang="en-US" sz="2000" dirty="0"/>
              <a:t> </a:t>
            </a:r>
            <a:r>
              <a:rPr lang="en-US" sz="2000" dirty="0" err="1"/>
              <a:t>verilən</a:t>
            </a:r>
            <a:r>
              <a:rPr lang="en-US" sz="2000" dirty="0"/>
              <a:t> </a:t>
            </a:r>
            <a:r>
              <a:rPr lang="en-US" sz="2000" b="1" dirty="0" err="1"/>
              <a:t>müstəsna</a:t>
            </a:r>
            <a:r>
              <a:rPr lang="en-US" sz="2000" b="1" dirty="0"/>
              <a:t> </a:t>
            </a:r>
            <a:r>
              <a:rPr lang="en-US" sz="2000" b="1" dirty="0" err="1"/>
              <a:t>hüquqdur</a:t>
            </a:r>
            <a:r>
              <a:rPr lang="en-US" sz="2000" dirty="0"/>
              <a:t>. Patent </a:t>
            </a:r>
            <a:r>
              <a:rPr lang="en-US" sz="2000" dirty="0" err="1"/>
              <a:t>texniki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yaradıcı</a:t>
            </a:r>
            <a:r>
              <a:rPr lang="en-US" sz="2000" dirty="0"/>
              <a:t> </a:t>
            </a:r>
            <a:r>
              <a:rPr lang="en-US" sz="2000" dirty="0" err="1"/>
              <a:t>həllin</a:t>
            </a:r>
            <a:r>
              <a:rPr lang="en-US" sz="2000" dirty="0"/>
              <a:t> </a:t>
            </a:r>
            <a:r>
              <a:rPr lang="en-US" sz="2000" dirty="0" err="1"/>
              <a:t>yeniliyini</a:t>
            </a:r>
            <a:r>
              <a:rPr lang="en-US" sz="2000" dirty="0"/>
              <a:t>, </a:t>
            </a:r>
            <a:r>
              <a:rPr lang="en-US" sz="2000" dirty="0" err="1"/>
              <a:t>faydalılığını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sənaye</a:t>
            </a:r>
            <a:r>
              <a:rPr lang="en-US" sz="2000" dirty="0"/>
              <a:t> </a:t>
            </a:r>
            <a:r>
              <a:rPr lang="en-US" sz="2000" dirty="0" err="1"/>
              <a:t>tətbiqini</a:t>
            </a:r>
            <a:r>
              <a:rPr lang="en-US" sz="2000" dirty="0"/>
              <a:t> </a:t>
            </a:r>
            <a:r>
              <a:rPr lang="en-US" sz="2000" dirty="0" err="1"/>
              <a:t>təsdiqləyərək</a:t>
            </a:r>
            <a:r>
              <a:rPr lang="en-US" sz="2000" dirty="0"/>
              <a:t> </a:t>
            </a:r>
            <a:r>
              <a:rPr lang="en-US" sz="2000" dirty="0" err="1"/>
              <a:t>onun</a:t>
            </a:r>
            <a:r>
              <a:rPr lang="en-US" sz="2000" dirty="0"/>
              <a:t> </a:t>
            </a:r>
            <a:r>
              <a:rPr lang="en-US" sz="2000" b="1" dirty="0" err="1"/>
              <a:t>icazəsiz</a:t>
            </a:r>
            <a:r>
              <a:rPr lang="en-US" sz="2000" b="1" dirty="0"/>
              <a:t> </a:t>
            </a:r>
            <a:r>
              <a:rPr lang="en-US" sz="2000" b="1" dirty="0" err="1"/>
              <a:t>istifadə</a:t>
            </a:r>
            <a:r>
              <a:rPr lang="en-US" sz="2000" b="1" dirty="0"/>
              <a:t>, </a:t>
            </a:r>
            <a:r>
              <a:rPr lang="en-US" sz="2000" b="1" dirty="0" err="1"/>
              <a:t>istehsal</a:t>
            </a:r>
            <a:r>
              <a:rPr lang="en-US" sz="2000" b="1" dirty="0"/>
              <a:t>, </a:t>
            </a:r>
            <a:r>
              <a:rPr lang="en-US" sz="2000" b="1" dirty="0" err="1"/>
              <a:t>satılma</a:t>
            </a:r>
            <a:r>
              <a:rPr lang="en-US" sz="2000" b="1" dirty="0"/>
              <a:t> </a:t>
            </a:r>
            <a:r>
              <a:rPr lang="en-US" sz="2000" b="1" dirty="0" err="1"/>
              <a:t>və</a:t>
            </a:r>
            <a:r>
              <a:rPr lang="en-US" sz="2000" b="1" dirty="0"/>
              <a:t> </a:t>
            </a:r>
            <a:r>
              <a:rPr lang="en-US" sz="2000" b="1" dirty="0" err="1"/>
              <a:t>ya</a:t>
            </a:r>
            <a:r>
              <a:rPr lang="en-US" sz="2000" b="1" dirty="0"/>
              <a:t> </a:t>
            </a:r>
            <a:r>
              <a:rPr lang="en-US" sz="2000" b="1" dirty="0" err="1"/>
              <a:t>yayılmadan</a:t>
            </a:r>
            <a:r>
              <a:rPr lang="en-US" sz="2000" dirty="0"/>
              <a:t> </a:t>
            </a:r>
            <a:r>
              <a:rPr lang="en-US" sz="2000" dirty="0" err="1"/>
              <a:t>qorunmasını</a:t>
            </a:r>
            <a:r>
              <a:rPr lang="en-US" sz="2000" dirty="0"/>
              <a:t> </a:t>
            </a:r>
            <a:r>
              <a:rPr lang="en-US" sz="2000" dirty="0" err="1"/>
              <a:t>təmin</a:t>
            </a:r>
            <a:r>
              <a:rPr lang="en-US" sz="2000" dirty="0"/>
              <a:t> </a:t>
            </a:r>
            <a:r>
              <a:rPr lang="en-US" sz="2000" dirty="0" err="1"/>
              <a:t>edir</a:t>
            </a:r>
            <a:r>
              <a:rPr lang="en-US" sz="2000" dirty="0"/>
              <a:t>. Patent </a:t>
            </a:r>
            <a:r>
              <a:rPr lang="en-US" sz="2000" dirty="0" err="1"/>
              <a:t>sahibi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hüquqları</a:t>
            </a:r>
            <a:r>
              <a:rPr lang="en-US" sz="2000" dirty="0"/>
              <a:t> </a:t>
            </a:r>
            <a:r>
              <a:rPr lang="en-US" sz="2000" dirty="0" err="1"/>
              <a:t>başqalarına</a:t>
            </a:r>
            <a:r>
              <a:rPr lang="en-US" sz="2000" dirty="0"/>
              <a:t> </a:t>
            </a:r>
            <a:r>
              <a:rPr lang="en-US" sz="2000" dirty="0" err="1"/>
              <a:t>qadağan</a:t>
            </a:r>
            <a:r>
              <a:rPr lang="en-US" sz="2000" dirty="0"/>
              <a:t> </a:t>
            </a:r>
            <a:r>
              <a:rPr lang="en-US" sz="2000" dirty="0" err="1"/>
              <a:t>edə</a:t>
            </a:r>
            <a:r>
              <a:rPr lang="en-US" sz="2000" dirty="0"/>
              <a:t>, </a:t>
            </a:r>
            <a:r>
              <a:rPr lang="en-US" sz="2000" dirty="0" err="1"/>
              <a:t>sata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lisenziya</a:t>
            </a:r>
            <a:r>
              <a:rPr lang="en-US" sz="2000" dirty="0"/>
              <a:t> </a:t>
            </a:r>
            <a:r>
              <a:rPr lang="en-US" sz="2000" dirty="0" err="1"/>
              <a:t>verə</a:t>
            </a:r>
            <a:r>
              <a:rPr lang="en-US" sz="2000" dirty="0"/>
              <a:t> </a:t>
            </a:r>
            <a:r>
              <a:rPr lang="en-US" sz="2000" dirty="0" err="1"/>
              <a:t>bilər</a:t>
            </a:r>
            <a:r>
              <a:rPr lang="en-US" sz="2000" dirty="0"/>
              <a:t>.</a:t>
            </a:r>
          </a:p>
        </p:txBody>
      </p:sp>
      <p:pic>
        <p:nvPicPr>
          <p:cNvPr id="1026" name="Picture 2" descr="Hüquq xidmətləri – C&amp;S Group">
            <a:extLst>
              <a:ext uri="{FF2B5EF4-FFF2-40B4-BE49-F238E27FC236}">
                <a16:creationId xmlns:a16="http://schemas.microsoft.com/office/drawing/2014/main" id="{C2892457-DDE7-9D96-4B76-9EB9D910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948" y="3443990"/>
            <a:ext cx="5786203" cy="315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06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B764-977B-43DC-3D6E-87783B55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Lucida Calligraphy" panose="03010101010101010101" pitchFamily="66" charset="0"/>
              </a:rPr>
              <a:t>Patent Hüququnun </a:t>
            </a:r>
            <a:r>
              <a:rPr lang="en-US" sz="3600" b="1" dirty="0" err="1">
                <a:solidFill>
                  <a:schemeClr val="accent2">
                    <a:lumMod val="50000"/>
                  </a:schemeClr>
                </a:solidFill>
                <a:latin typeface="Lucida Calligraphy" panose="03010101010101010101" pitchFamily="66" charset="0"/>
              </a:rPr>
              <a:t>Fəaliyyət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sz="3600" b="1" dirty="0" err="1">
                <a:solidFill>
                  <a:schemeClr val="accent2">
                    <a:lumMod val="50000"/>
                  </a:schemeClr>
                </a:solidFill>
                <a:latin typeface="Lucida Calligraphy" panose="03010101010101010101" pitchFamily="66" charset="0"/>
              </a:rPr>
              <a:t>Müddətləri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E7ED0-DB92-DDCC-6960-BAD1F9F8D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Patent </a:t>
            </a:r>
            <a:r>
              <a:rPr lang="en-US" sz="3000" dirty="0" err="1"/>
              <a:t>hüququnun</a:t>
            </a:r>
            <a:r>
              <a:rPr lang="en-US" sz="3000" dirty="0"/>
              <a:t> </a:t>
            </a:r>
            <a:r>
              <a:rPr lang="en-US" sz="3000" dirty="0" err="1"/>
              <a:t>fəaliyyət</a:t>
            </a:r>
            <a:r>
              <a:rPr lang="en-US" sz="3000" dirty="0"/>
              <a:t> </a:t>
            </a:r>
            <a:r>
              <a:rPr lang="en-US" sz="3000" dirty="0" err="1"/>
              <a:t>müddəti</a:t>
            </a:r>
            <a:r>
              <a:rPr lang="en-US" sz="3000" dirty="0"/>
              <a:t> </a:t>
            </a:r>
            <a:r>
              <a:rPr lang="en-US" sz="3000" dirty="0" err="1"/>
              <a:t>patentin</a:t>
            </a:r>
            <a:r>
              <a:rPr lang="en-US" sz="3000" dirty="0"/>
              <a:t> </a:t>
            </a:r>
            <a:r>
              <a:rPr lang="en-US" sz="3000" dirty="0" err="1"/>
              <a:t>növündən</a:t>
            </a:r>
            <a:r>
              <a:rPr lang="en-US" sz="3000" dirty="0"/>
              <a:t> </a:t>
            </a:r>
            <a:r>
              <a:rPr lang="en-US" sz="3000" dirty="0" err="1"/>
              <a:t>asılıdır</a:t>
            </a:r>
            <a:r>
              <a:rPr lang="en-US" sz="3000" dirty="0"/>
              <a:t>:</a:t>
            </a:r>
          </a:p>
          <a:p>
            <a:r>
              <a:rPr lang="en-US" sz="3000" b="1" dirty="0" err="1"/>
              <a:t>İxtira</a:t>
            </a:r>
            <a:r>
              <a:rPr lang="en-US" sz="3000" b="1" dirty="0"/>
              <a:t> </a:t>
            </a:r>
            <a:r>
              <a:rPr lang="en-US" sz="3000" b="1" dirty="0" err="1"/>
              <a:t>patenti</a:t>
            </a:r>
            <a:r>
              <a:rPr lang="en-US" sz="3000" b="1" dirty="0"/>
              <a:t>:</a:t>
            </a:r>
            <a:r>
              <a:rPr lang="en-US" sz="3000" dirty="0"/>
              <a:t> </a:t>
            </a:r>
            <a:r>
              <a:rPr lang="en-US" sz="3000" dirty="0" err="1"/>
              <a:t>adətən</a:t>
            </a:r>
            <a:r>
              <a:rPr lang="en-US" sz="3000" dirty="0"/>
              <a:t> </a:t>
            </a:r>
            <a:r>
              <a:rPr lang="en-US" sz="3000" b="1" dirty="0"/>
              <a:t>20 il</a:t>
            </a:r>
            <a:r>
              <a:rPr lang="en-US" sz="3000" dirty="0"/>
              <a:t> (</a:t>
            </a:r>
            <a:r>
              <a:rPr lang="en-US" sz="3000" dirty="0" err="1"/>
              <a:t>ərizə</a:t>
            </a:r>
            <a:r>
              <a:rPr lang="en-US" sz="3000" dirty="0"/>
              <a:t> </a:t>
            </a:r>
            <a:r>
              <a:rPr lang="en-US" sz="3000" dirty="0" err="1"/>
              <a:t>verildiyi</a:t>
            </a:r>
            <a:r>
              <a:rPr lang="en-US" sz="3000" dirty="0"/>
              <a:t> </a:t>
            </a:r>
            <a:r>
              <a:rPr lang="en-US" sz="3000" dirty="0" err="1"/>
              <a:t>tarixdən</a:t>
            </a:r>
            <a:r>
              <a:rPr lang="en-US" sz="3000" dirty="0"/>
              <a:t> </a:t>
            </a:r>
            <a:r>
              <a:rPr lang="en-US" sz="3000" dirty="0" err="1"/>
              <a:t>hesablanır</a:t>
            </a:r>
            <a:r>
              <a:rPr lang="en-US" sz="3000" dirty="0"/>
              <a:t>).</a:t>
            </a:r>
          </a:p>
          <a:p>
            <a:r>
              <a:rPr lang="en-US" sz="3000" b="1" dirty="0" err="1"/>
              <a:t>Faydalı</a:t>
            </a:r>
            <a:r>
              <a:rPr lang="en-US" sz="3000" b="1" dirty="0"/>
              <a:t> model:</a:t>
            </a:r>
            <a:r>
              <a:rPr lang="en-US" sz="3000" dirty="0"/>
              <a:t> </a:t>
            </a:r>
            <a:r>
              <a:rPr lang="en-US" sz="3000" dirty="0" err="1"/>
              <a:t>təxminən</a:t>
            </a:r>
            <a:r>
              <a:rPr lang="en-US" sz="3000" dirty="0"/>
              <a:t> </a:t>
            </a:r>
            <a:r>
              <a:rPr lang="en-US" sz="3000" b="1" dirty="0"/>
              <a:t>10 il</a:t>
            </a:r>
            <a:r>
              <a:rPr lang="en-US" sz="3000" dirty="0"/>
              <a:t>.</a:t>
            </a:r>
          </a:p>
          <a:p>
            <a:r>
              <a:rPr lang="en-US" sz="3000" b="1" dirty="0" err="1"/>
              <a:t>Sənaye</a:t>
            </a:r>
            <a:r>
              <a:rPr lang="en-US" sz="3000" b="1" dirty="0"/>
              <a:t> </a:t>
            </a:r>
            <a:r>
              <a:rPr lang="en-US" sz="3000" b="1" dirty="0" err="1"/>
              <a:t>nümunəsi</a:t>
            </a:r>
            <a:r>
              <a:rPr lang="en-US" sz="3000" b="1" dirty="0"/>
              <a:t>:</a:t>
            </a:r>
            <a:r>
              <a:rPr lang="en-US" sz="3000" dirty="0"/>
              <a:t> </a:t>
            </a:r>
            <a:r>
              <a:rPr lang="en-US" sz="3000" b="1" dirty="0"/>
              <a:t>10–15 il</a:t>
            </a:r>
            <a:r>
              <a:rPr lang="en-US" sz="3000" dirty="0"/>
              <a:t> </a:t>
            </a:r>
            <a:r>
              <a:rPr lang="en-US" sz="3000" dirty="0" err="1"/>
              <a:t>arası</a:t>
            </a:r>
            <a:r>
              <a:rPr lang="en-US" sz="3000" dirty="0"/>
              <a:t> (</a:t>
            </a:r>
            <a:r>
              <a:rPr lang="en-US" sz="3000" dirty="0" err="1"/>
              <a:t>ölkələrə</a:t>
            </a:r>
            <a:r>
              <a:rPr lang="en-US" sz="3000" dirty="0"/>
              <a:t> </a:t>
            </a:r>
            <a:r>
              <a:rPr lang="en-US" sz="3000" dirty="0" err="1"/>
              <a:t>görə</a:t>
            </a:r>
            <a:r>
              <a:rPr lang="en-US" sz="3000" dirty="0"/>
              <a:t> </a:t>
            </a:r>
            <a:r>
              <a:rPr lang="en-US" sz="3000" dirty="0" err="1"/>
              <a:t>dəyişə</a:t>
            </a:r>
            <a:r>
              <a:rPr lang="en-US" sz="3000" dirty="0"/>
              <a:t> </a:t>
            </a:r>
            <a:r>
              <a:rPr lang="en-US" sz="3000" dirty="0" err="1"/>
              <a:t>bilər</a:t>
            </a:r>
            <a:r>
              <a:rPr lang="en-US" sz="3000" dirty="0"/>
              <a:t>).</a:t>
            </a:r>
          </a:p>
          <a:p>
            <a:pPr marL="0" indent="0">
              <a:buNone/>
            </a:pPr>
            <a:r>
              <a:rPr lang="en-US" sz="3000" dirty="0" err="1"/>
              <a:t>Müddətin</a:t>
            </a:r>
            <a:r>
              <a:rPr lang="en-US" sz="3000" dirty="0"/>
              <a:t> </a:t>
            </a:r>
            <a:r>
              <a:rPr lang="en-US" sz="3000" dirty="0" err="1"/>
              <a:t>qüvvədə</a:t>
            </a:r>
            <a:r>
              <a:rPr lang="en-US" sz="3000" dirty="0"/>
              <a:t> </a:t>
            </a:r>
            <a:r>
              <a:rPr lang="en-US" sz="3000" dirty="0" err="1"/>
              <a:t>qalması</a:t>
            </a:r>
            <a:r>
              <a:rPr lang="en-US" sz="3000" dirty="0"/>
              <a:t> </a:t>
            </a:r>
            <a:r>
              <a:rPr lang="en-US" sz="3000" dirty="0" err="1"/>
              <a:t>üçün</a:t>
            </a:r>
            <a:r>
              <a:rPr lang="en-US" sz="3000" dirty="0"/>
              <a:t> patent </a:t>
            </a:r>
            <a:r>
              <a:rPr lang="en-US" sz="3000" dirty="0" err="1"/>
              <a:t>sahibi</a:t>
            </a:r>
            <a:r>
              <a:rPr lang="en-US" sz="3000" dirty="0"/>
              <a:t> </a:t>
            </a:r>
            <a:r>
              <a:rPr lang="en-US" sz="3000" b="1" dirty="0" err="1"/>
              <a:t>illik</a:t>
            </a:r>
            <a:r>
              <a:rPr lang="en-US" sz="3000" b="1" dirty="0"/>
              <a:t> </a:t>
            </a:r>
            <a:r>
              <a:rPr lang="en-US" sz="3000" b="1" dirty="0" err="1"/>
              <a:t>rüsumları</a:t>
            </a:r>
            <a:r>
              <a:rPr lang="en-US" sz="3000" b="1" dirty="0"/>
              <a:t> </a:t>
            </a:r>
            <a:r>
              <a:rPr lang="en-US" sz="3000" b="1" dirty="0" err="1"/>
              <a:t>vaxtında</a:t>
            </a:r>
            <a:r>
              <a:rPr lang="en-US" sz="3000" b="1" dirty="0"/>
              <a:t> </a:t>
            </a:r>
            <a:r>
              <a:rPr lang="en-US" sz="3000" b="1" dirty="0" err="1"/>
              <a:t>ödəməlidir</a:t>
            </a:r>
            <a:r>
              <a:rPr lang="en-US" sz="3000" dirty="0"/>
              <a:t>. </a:t>
            </a:r>
            <a:r>
              <a:rPr lang="en-US" sz="3000" dirty="0" err="1"/>
              <a:t>Müddət</a:t>
            </a:r>
            <a:r>
              <a:rPr lang="en-US" sz="3000" dirty="0"/>
              <a:t> </a:t>
            </a:r>
            <a:r>
              <a:rPr lang="en-US" sz="3000" dirty="0" err="1"/>
              <a:t>bitdikdən</a:t>
            </a:r>
            <a:r>
              <a:rPr lang="en-US" sz="3000" dirty="0"/>
              <a:t> </a:t>
            </a:r>
            <a:r>
              <a:rPr lang="en-US" sz="3000" dirty="0" err="1"/>
              <a:t>və</a:t>
            </a:r>
            <a:r>
              <a:rPr lang="en-US" sz="3000" dirty="0"/>
              <a:t> </a:t>
            </a:r>
            <a:r>
              <a:rPr lang="en-US" sz="3000" dirty="0" err="1"/>
              <a:t>ya</a:t>
            </a:r>
            <a:r>
              <a:rPr lang="en-US" sz="3000" dirty="0"/>
              <a:t> </a:t>
            </a:r>
            <a:r>
              <a:rPr lang="en-US" sz="3000" dirty="0" err="1"/>
              <a:t>rüsum</a:t>
            </a:r>
            <a:r>
              <a:rPr lang="en-US" sz="3000" dirty="0"/>
              <a:t> </a:t>
            </a:r>
            <a:r>
              <a:rPr lang="en-US" sz="3000" dirty="0" err="1"/>
              <a:t>ödənmədikdə</a:t>
            </a:r>
            <a:r>
              <a:rPr lang="en-US" sz="3000" dirty="0"/>
              <a:t>, patent </a:t>
            </a:r>
            <a:r>
              <a:rPr lang="en-US" sz="3000" dirty="0" err="1"/>
              <a:t>qüvvədən</a:t>
            </a:r>
            <a:r>
              <a:rPr lang="en-US" sz="3000" dirty="0"/>
              <a:t> </a:t>
            </a:r>
            <a:r>
              <a:rPr lang="en-US" sz="3000" dirty="0" err="1"/>
              <a:t>düşür</a:t>
            </a:r>
            <a:r>
              <a:rPr lang="en-US" sz="3000" dirty="0"/>
              <a:t> </a:t>
            </a:r>
            <a:r>
              <a:rPr lang="en-US" sz="3000" dirty="0" err="1"/>
              <a:t>və</a:t>
            </a:r>
            <a:r>
              <a:rPr lang="en-US" sz="3000" dirty="0"/>
              <a:t> </a:t>
            </a:r>
            <a:r>
              <a:rPr lang="en-US" sz="3000" dirty="0" err="1"/>
              <a:t>texniki</a:t>
            </a:r>
            <a:r>
              <a:rPr lang="en-US" sz="3000" dirty="0"/>
              <a:t> </a:t>
            </a:r>
            <a:r>
              <a:rPr lang="en-US" sz="3000" dirty="0" err="1"/>
              <a:t>həll</a:t>
            </a:r>
            <a:r>
              <a:rPr lang="en-US" sz="3000" dirty="0"/>
              <a:t> </a:t>
            </a:r>
            <a:r>
              <a:rPr lang="en-US" sz="3000" b="1" dirty="0" err="1"/>
              <a:t>ictimai</a:t>
            </a:r>
            <a:r>
              <a:rPr lang="en-US" sz="3000" b="1" dirty="0"/>
              <a:t> </a:t>
            </a:r>
            <a:r>
              <a:rPr lang="en-US" sz="3000" b="1" dirty="0" err="1"/>
              <a:t>mülkiyyətə</a:t>
            </a:r>
            <a:r>
              <a:rPr lang="en-US" sz="3000" b="1" dirty="0"/>
              <a:t> </a:t>
            </a:r>
            <a:r>
              <a:rPr lang="en-US" sz="3000" b="1" dirty="0" err="1"/>
              <a:t>keçir</a:t>
            </a:r>
            <a:r>
              <a:rPr lang="en-US" sz="3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7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7DAA-991C-5B3C-2F96-96BF5EA0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Patent Hüququnun </a:t>
            </a:r>
            <a:r>
              <a:rPr lang="en-US" b="1" dirty="0" err="1"/>
              <a:t>Əsas</a:t>
            </a:r>
            <a:r>
              <a:rPr lang="en-US" b="1" dirty="0"/>
              <a:t> </a:t>
            </a:r>
            <a:r>
              <a:rPr lang="en-US" b="1" dirty="0" err="1"/>
              <a:t>Məqsədləri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0A351-7D52-F249-CB62-3263C4F97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sz="2700" b="1" dirty="0" err="1"/>
              <a:t>İxtiraçıların</a:t>
            </a:r>
            <a:r>
              <a:rPr lang="en-US" sz="2700" b="1" dirty="0"/>
              <a:t> </a:t>
            </a:r>
            <a:r>
              <a:rPr lang="en-US" sz="2700" b="1" dirty="0" err="1"/>
              <a:t>hüquqlarını</a:t>
            </a:r>
            <a:r>
              <a:rPr lang="en-US" sz="2700" b="1" dirty="0"/>
              <a:t> </a:t>
            </a:r>
            <a:r>
              <a:rPr lang="en-US" sz="2700" b="1" dirty="0" err="1"/>
              <a:t>qorumaq</a:t>
            </a:r>
            <a:r>
              <a:rPr lang="en-US" sz="2700" b="1" dirty="0"/>
              <a:t>:</a:t>
            </a:r>
            <a:r>
              <a:rPr lang="en-US" sz="2700" dirty="0"/>
              <a:t> Yeni </a:t>
            </a:r>
            <a:r>
              <a:rPr lang="en-US" sz="2700" dirty="0" err="1"/>
              <a:t>texniki</a:t>
            </a:r>
            <a:r>
              <a:rPr lang="en-US" sz="2700" dirty="0"/>
              <a:t> </a:t>
            </a:r>
            <a:r>
              <a:rPr lang="en-US" sz="2700" dirty="0" err="1"/>
              <a:t>həllərin</a:t>
            </a:r>
            <a:r>
              <a:rPr lang="en-US" sz="2700" dirty="0"/>
              <a:t> </a:t>
            </a:r>
            <a:r>
              <a:rPr lang="en-US" sz="2700" dirty="0" err="1"/>
              <a:t>icazəsiz</a:t>
            </a:r>
            <a:r>
              <a:rPr lang="en-US" sz="2700" dirty="0"/>
              <a:t> </a:t>
            </a:r>
            <a:r>
              <a:rPr lang="en-US" sz="2700" dirty="0" err="1"/>
              <a:t>istifadə</a:t>
            </a:r>
            <a:r>
              <a:rPr lang="en-US" sz="2700" dirty="0"/>
              <a:t> </a:t>
            </a:r>
            <a:r>
              <a:rPr lang="en-US" sz="2700" dirty="0" err="1"/>
              <a:t>olunmasının</a:t>
            </a:r>
            <a:r>
              <a:rPr lang="en-US" sz="2700" dirty="0"/>
              <a:t> </a:t>
            </a:r>
            <a:r>
              <a:rPr lang="en-US" sz="2700" dirty="0" err="1"/>
              <a:t>qarşısını</a:t>
            </a:r>
            <a:r>
              <a:rPr lang="en-US" sz="2700" dirty="0"/>
              <a:t> </a:t>
            </a:r>
            <a:r>
              <a:rPr lang="en-US" sz="2700" dirty="0" err="1"/>
              <a:t>almaq</a:t>
            </a:r>
            <a:r>
              <a:rPr lang="en-US" sz="2700" dirty="0"/>
              <a:t>.</a:t>
            </a:r>
          </a:p>
          <a:p>
            <a:r>
              <a:rPr lang="en-US" sz="2700" b="1" dirty="0" err="1"/>
              <a:t>İnnovasiyanı</a:t>
            </a:r>
            <a:r>
              <a:rPr lang="en-US" sz="2700" b="1" dirty="0"/>
              <a:t> </a:t>
            </a:r>
            <a:r>
              <a:rPr lang="en-US" sz="2700" b="1" dirty="0" err="1"/>
              <a:t>təşviq</a:t>
            </a:r>
            <a:r>
              <a:rPr lang="en-US" sz="2700" b="1" dirty="0"/>
              <a:t> </a:t>
            </a:r>
            <a:r>
              <a:rPr lang="en-US" sz="2700" b="1" dirty="0" err="1"/>
              <a:t>etmək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Tədqiqat</a:t>
            </a:r>
            <a:r>
              <a:rPr lang="en-US" sz="2700" dirty="0"/>
              <a:t> </a:t>
            </a:r>
            <a:r>
              <a:rPr lang="en-US" sz="2700" dirty="0" err="1"/>
              <a:t>və</a:t>
            </a:r>
            <a:r>
              <a:rPr lang="en-US" sz="2700" dirty="0"/>
              <a:t> </a:t>
            </a:r>
            <a:r>
              <a:rPr lang="en-US" sz="2700" dirty="0" err="1"/>
              <a:t>inkişaf</a:t>
            </a:r>
            <a:r>
              <a:rPr lang="en-US" sz="2700" dirty="0"/>
              <a:t> </a:t>
            </a:r>
            <a:r>
              <a:rPr lang="en-US" sz="2700" dirty="0" err="1"/>
              <a:t>işlərinə</a:t>
            </a:r>
            <a:r>
              <a:rPr lang="en-US" sz="2700" dirty="0"/>
              <a:t> </a:t>
            </a:r>
            <a:r>
              <a:rPr lang="en-US" sz="2700" dirty="0" err="1"/>
              <a:t>marağı</a:t>
            </a:r>
            <a:r>
              <a:rPr lang="en-US" sz="2700" dirty="0"/>
              <a:t> </a:t>
            </a:r>
            <a:r>
              <a:rPr lang="en-US" sz="2700" dirty="0" err="1"/>
              <a:t>artırmaq</a:t>
            </a:r>
            <a:r>
              <a:rPr lang="en-US" sz="2700" dirty="0"/>
              <a:t>.</a:t>
            </a:r>
          </a:p>
          <a:p>
            <a:r>
              <a:rPr lang="en-US" sz="2700" b="1" dirty="0"/>
              <a:t>Elmi–</a:t>
            </a:r>
            <a:r>
              <a:rPr lang="en-US" sz="2700" b="1" dirty="0" err="1"/>
              <a:t>texniki</a:t>
            </a:r>
            <a:r>
              <a:rPr lang="en-US" sz="2700" b="1" dirty="0"/>
              <a:t> </a:t>
            </a:r>
            <a:r>
              <a:rPr lang="en-US" sz="2700" b="1" dirty="0" err="1"/>
              <a:t>tərəqqini</a:t>
            </a:r>
            <a:r>
              <a:rPr lang="en-US" sz="2700" b="1" dirty="0"/>
              <a:t> </a:t>
            </a:r>
            <a:r>
              <a:rPr lang="en-US" sz="2700" b="1" dirty="0" err="1"/>
              <a:t>sürətləndirmək</a:t>
            </a:r>
            <a:r>
              <a:rPr lang="en-US" sz="2700" b="1" dirty="0"/>
              <a:t>:</a:t>
            </a:r>
            <a:r>
              <a:rPr lang="en-US" sz="2700" dirty="0"/>
              <a:t> Yeni </a:t>
            </a:r>
            <a:r>
              <a:rPr lang="en-US" sz="2700" dirty="0" err="1"/>
              <a:t>texnologiyaların</a:t>
            </a:r>
            <a:r>
              <a:rPr lang="en-US" sz="2700" dirty="0"/>
              <a:t> </a:t>
            </a:r>
            <a:r>
              <a:rPr lang="en-US" sz="2700" dirty="0" err="1"/>
              <a:t>meydana</a:t>
            </a:r>
            <a:r>
              <a:rPr lang="en-US" sz="2700" dirty="0"/>
              <a:t> </a:t>
            </a:r>
            <a:r>
              <a:rPr lang="en-US" sz="2700" dirty="0" err="1"/>
              <a:t>çıxmasına</a:t>
            </a:r>
            <a:r>
              <a:rPr lang="en-US" sz="2700" dirty="0"/>
              <a:t> </a:t>
            </a:r>
            <a:r>
              <a:rPr lang="en-US" sz="2700" dirty="0" err="1"/>
              <a:t>şərait</a:t>
            </a:r>
            <a:r>
              <a:rPr lang="en-US" sz="2700" dirty="0"/>
              <a:t> </a:t>
            </a:r>
            <a:r>
              <a:rPr lang="en-US" sz="2700" dirty="0" err="1"/>
              <a:t>yaratmaq</a:t>
            </a:r>
            <a:r>
              <a:rPr lang="en-US" sz="2700" dirty="0"/>
              <a:t>.</a:t>
            </a:r>
          </a:p>
          <a:p>
            <a:r>
              <a:rPr lang="en-US" sz="2700" b="1" dirty="0" err="1"/>
              <a:t>Rəqabət</a:t>
            </a:r>
            <a:r>
              <a:rPr lang="en-US" sz="2700" b="1" dirty="0"/>
              <a:t> </a:t>
            </a:r>
            <a:r>
              <a:rPr lang="en-US" sz="2700" b="1" dirty="0" err="1"/>
              <a:t>qabiliyyətini</a:t>
            </a:r>
            <a:r>
              <a:rPr lang="en-US" sz="2700" b="1" dirty="0"/>
              <a:t> </a:t>
            </a:r>
            <a:r>
              <a:rPr lang="en-US" sz="2700" b="1" dirty="0" err="1"/>
              <a:t>gücləndirmək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Şirkətlər</a:t>
            </a:r>
            <a:r>
              <a:rPr lang="en-US" sz="2700" dirty="0"/>
              <a:t> </a:t>
            </a:r>
            <a:r>
              <a:rPr lang="en-US" sz="2700" dirty="0" err="1"/>
              <a:t>və</a:t>
            </a:r>
            <a:r>
              <a:rPr lang="en-US" sz="2700" dirty="0"/>
              <a:t> </a:t>
            </a:r>
            <a:r>
              <a:rPr lang="en-US" sz="2700" dirty="0" err="1"/>
              <a:t>müəssisələr</a:t>
            </a:r>
            <a:r>
              <a:rPr lang="en-US" sz="2700" dirty="0"/>
              <a:t> </a:t>
            </a:r>
            <a:r>
              <a:rPr lang="en-US" sz="2700" dirty="0" err="1"/>
              <a:t>arasında</a:t>
            </a:r>
            <a:r>
              <a:rPr lang="en-US" sz="2700" dirty="0"/>
              <a:t> </a:t>
            </a:r>
            <a:r>
              <a:rPr lang="en-US" sz="2700" dirty="0" err="1"/>
              <a:t>sağlam</a:t>
            </a:r>
            <a:r>
              <a:rPr lang="en-US" sz="2700" dirty="0"/>
              <a:t> </a:t>
            </a:r>
            <a:r>
              <a:rPr lang="en-US" sz="2700" dirty="0" err="1"/>
              <a:t>rəqabəti</a:t>
            </a:r>
            <a:r>
              <a:rPr lang="en-US" sz="2700" dirty="0"/>
              <a:t> </a:t>
            </a:r>
            <a:r>
              <a:rPr lang="en-US" sz="2700" dirty="0" err="1"/>
              <a:t>artırmaq</a:t>
            </a:r>
            <a:r>
              <a:rPr lang="en-US" sz="2700" dirty="0"/>
              <a:t>.</a:t>
            </a:r>
          </a:p>
          <a:p>
            <a:r>
              <a:rPr lang="en-US" sz="2700" b="1" dirty="0" err="1"/>
              <a:t>İqtisadi</a:t>
            </a:r>
            <a:r>
              <a:rPr lang="en-US" sz="2700" b="1" dirty="0"/>
              <a:t> </a:t>
            </a:r>
            <a:r>
              <a:rPr lang="en-US" sz="2700" b="1" dirty="0" err="1"/>
              <a:t>dəyər</a:t>
            </a:r>
            <a:r>
              <a:rPr lang="en-US" sz="2700" b="1" dirty="0"/>
              <a:t> </a:t>
            </a:r>
            <a:r>
              <a:rPr lang="en-US" sz="2700" b="1" dirty="0" err="1"/>
              <a:t>yaratmaq</a:t>
            </a:r>
            <a:r>
              <a:rPr lang="en-US" sz="2700" b="1" dirty="0"/>
              <a:t>:</a:t>
            </a:r>
            <a:r>
              <a:rPr lang="en-US" sz="2700" dirty="0"/>
              <a:t> </a:t>
            </a:r>
            <a:r>
              <a:rPr lang="en-US" sz="2700" dirty="0" err="1"/>
              <a:t>Patentlərin</a:t>
            </a:r>
            <a:r>
              <a:rPr lang="en-US" sz="2700" dirty="0"/>
              <a:t> </a:t>
            </a:r>
            <a:r>
              <a:rPr lang="en-US" sz="2700" dirty="0" err="1"/>
              <a:t>lisenziya</a:t>
            </a:r>
            <a:r>
              <a:rPr lang="en-US" sz="2700" dirty="0"/>
              <a:t> </a:t>
            </a:r>
            <a:r>
              <a:rPr lang="en-US" sz="2700" dirty="0" err="1"/>
              <a:t>verilməsi</a:t>
            </a:r>
            <a:r>
              <a:rPr lang="en-US" sz="2700" dirty="0"/>
              <a:t> </a:t>
            </a:r>
            <a:r>
              <a:rPr lang="en-US" sz="2700" dirty="0" err="1"/>
              <a:t>və</a:t>
            </a:r>
            <a:r>
              <a:rPr lang="en-US" sz="2700" dirty="0"/>
              <a:t> </a:t>
            </a:r>
            <a:r>
              <a:rPr lang="en-US" sz="2700" dirty="0" err="1"/>
              <a:t>satışı</a:t>
            </a:r>
            <a:r>
              <a:rPr lang="en-US" sz="2700" dirty="0"/>
              <a:t> </a:t>
            </a:r>
            <a:r>
              <a:rPr lang="en-US" sz="2700" dirty="0" err="1"/>
              <a:t>ilə</a:t>
            </a:r>
            <a:r>
              <a:rPr lang="en-US" sz="2700" dirty="0"/>
              <a:t> </a:t>
            </a:r>
            <a:r>
              <a:rPr lang="en-US" sz="2700" dirty="0" err="1"/>
              <a:t>iqtisadi</a:t>
            </a:r>
            <a:r>
              <a:rPr lang="en-US" sz="2700" dirty="0"/>
              <a:t> </a:t>
            </a:r>
            <a:r>
              <a:rPr lang="en-US" sz="2700" dirty="0" err="1"/>
              <a:t>gəlir</a:t>
            </a:r>
            <a:r>
              <a:rPr lang="en-US" sz="2700" dirty="0"/>
              <a:t> </a:t>
            </a:r>
            <a:r>
              <a:rPr lang="en-US" sz="2700" dirty="0" err="1"/>
              <a:t>əldə</a:t>
            </a:r>
            <a:r>
              <a:rPr lang="en-US" sz="2700" dirty="0"/>
              <a:t> </a:t>
            </a:r>
            <a:r>
              <a:rPr lang="en-US" sz="2700" dirty="0" err="1"/>
              <a:t>etmək</a:t>
            </a:r>
            <a:r>
              <a:rPr lang="en-US" sz="2700" dirty="0"/>
              <a:t>.</a:t>
            </a:r>
          </a:p>
          <a:p>
            <a:r>
              <a:rPr lang="en-US" sz="2700" b="1" dirty="0" err="1"/>
              <a:t>Bilginin</a:t>
            </a:r>
            <a:r>
              <a:rPr lang="en-US" sz="2700" b="1" dirty="0"/>
              <a:t> </a:t>
            </a:r>
            <a:r>
              <a:rPr lang="en-US" sz="2700" b="1" dirty="0" err="1"/>
              <a:t>cəmiyyətə</a:t>
            </a:r>
            <a:r>
              <a:rPr lang="en-US" sz="2700" b="1" dirty="0"/>
              <a:t> </a:t>
            </a:r>
            <a:r>
              <a:rPr lang="en-US" sz="2700" b="1" dirty="0" err="1"/>
              <a:t>ötürülməsi</a:t>
            </a:r>
            <a:r>
              <a:rPr lang="en-US" sz="2700" b="1" dirty="0"/>
              <a:t>:</a:t>
            </a:r>
            <a:r>
              <a:rPr lang="en-US" sz="2700" dirty="0"/>
              <a:t> Patent </a:t>
            </a:r>
            <a:r>
              <a:rPr lang="en-US" sz="2700" dirty="0" err="1"/>
              <a:t>müddəti</a:t>
            </a:r>
            <a:r>
              <a:rPr lang="en-US" sz="2700" dirty="0"/>
              <a:t> </a:t>
            </a:r>
            <a:r>
              <a:rPr lang="en-US" sz="2700" dirty="0" err="1"/>
              <a:t>bitdikdən</a:t>
            </a:r>
            <a:r>
              <a:rPr lang="en-US" sz="2700" dirty="0"/>
              <a:t> </a:t>
            </a:r>
            <a:r>
              <a:rPr lang="en-US" sz="2700" dirty="0" err="1"/>
              <a:t>sonra</a:t>
            </a:r>
            <a:r>
              <a:rPr lang="en-US" sz="2700" dirty="0"/>
              <a:t> </a:t>
            </a:r>
            <a:r>
              <a:rPr lang="en-US" sz="2700" dirty="0" err="1"/>
              <a:t>texnologiyanın</a:t>
            </a:r>
            <a:r>
              <a:rPr lang="en-US" sz="2700" dirty="0"/>
              <a:t> </a:t>
            </a:r>
            <a:r>
              <a:rPr lang="en-US" sz="2700" dirty="0" err="1"/>
              <a:t>ictimai</a:t>
            </a:r>
            <a:r>
              <a:rPr lang="en-US" sz="2700" dirty="0"/>
              <a:t> </a:t>
            </a:r>
            <a:r>
              <a:rPr lang="en-US" sz="2700" dirty="0" err="1"/>
              <a:t>istifadəyə</a:t>
            </a:r>
            <a:r>
              <a:rPr lang="en-US" sz="2700" dirty="0"/>
              <a:t> </a:t>
            </a:r>
            <a:r>
              <a:rPr lang="en-US" sz="2700" dirty="0" err="1"/>
              <a:t>açılmasını</a:t>
            </a:r>
            <a:r>
              <a:rPr lang="en-US" sz="2700" dirty="0"/>
              <a:t> </a:t>
            </a:r>
            <a:r>
              <a:rPr lang="en-US" sz="2700" dirty="0" err="1"/>
              <a:t>təmin</a:t>
            </a:r>
            <a:r>
              <a:rPr lang="en-US" sz="2700" dirty="0"/>
              <a:t> </a:t>
            </a:r>
            <a:r>
              <a:rPr lang="en-US" sz="2700" dirty="0" err="1"/>
              <a:t>etmək</a:t>
            </a:r>
            <a:r>
              <a:rPr lang="en-US" sz="27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8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736C-6C85-9C6B-5E45-073DCE9A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15106"/>
            <a:ext cx="8229600" cy="1143000"/>
          </a:xfrm>
        </p:spPr>
        <p:txBody>
          <a:bodyPr>
            <a:normAutofit/>
          </a:bodyPr>
          <a:lstStyle/>
          <a:p>
            <a:r>
              <a:rPr lang="en-US" sz="4200" b="1" dirty="0" err="1"/>
              <a:t>Patentlərin</a:t>
            </a:r>
            <a:r>
              <a:rPr lang="en-US" sz="4200" b="1" dirty="0"/>
              <a:t> </a:t>
            </a:r>
            <a:r>
              <a:rPr lang="en-US" sz="4200" b="1" dirty="0" err="1"/>
              <a:t>Növləri</a:t>
            </a:r>
            <a:endParaRPr lang="en-US" sz="4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8BC6-58C3-4006-7F07-098D9CA37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78" y="734518"/>
            <a:ext cx="8851692" cy="5793698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1. </a:t>
            </a:r>
            <a:r>
              <a:rPr lang="en-US" sz="6400" b="1" dirty="0" err="1"/>
              <a:t>İxtira</a:t>
            </a:r>
            <a:r>
              <a:rPr lang="en-US" sz="6400" b="1" dirty="0"/>
              <a:t> </a:t>
            </a:r>
            <a:r>
              <a:rPr lang="en-US" sz="6400" b="1" dirty="0" err="1"/>
              <a:t>Patenti</a:t>
            </a:r>
            <a:r>
              <a:rPr lang="en-US" sz="6400" b="1" dirty="0"/>
              <a:t> (Invention Patent)</a:t>
            </a:r>
          </a:p>
          <a:p>
            <a:r>
              <a:rPr lang="en-US" sz="6400" dirty="0" err="1"/>
              <a:t>Texniki</a:t>
            </a:r>
            <a:r>
              <a:rPr lang="en-US" sz="6400" dirty="0"/>
              <a:t> </a:t>
            </a:r>
            <a:r>
              <a:rPr lang="en-US" sz="6400" dirty="0" err="1"/>
              <a:t>problemlərə</a:t>
            </a:r>
            <a:r>
              <a:rPr lang="en-US" sz="6400" dirty="0"/>
              <a:t> yeni, </a:t>
            </a:r>
            <a:r>
              <a:rPr lang="en-US" sz="6400" dirty="0" err="1"/>
              <a:t>yaradıcı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sənaye</a:t>
            </a:r>
            <a:r>
              <a:rPr lang="en-US" sz="6400" dirty="0"/>
              <a:t> </a:t>
            </a:r>
            <a:r>
              <a:rPr lang="en-US" sz="6400" dirty="0" err="1"/>
              <a:t>tətbiqi</a:t>
            </a:r>
            <a:r>
              <a:rPr lang="en-US" sz="6400" dirty="0"/>
              <a:t> </a:t>
            </a:r>
            <a:r>
              <a:rPr lang="en-US" sz="6400" dirty="0" err="1"/>
              <a:t>olan</a:t>
            </a:r>
            <a:r>
              <a:rPr lang="en-US" sz="6400" dirty="0"/>
              <a:t> </a:t>
            </a:r>
            <a:r>
              <a:rPr lang="en-US" sz="6400" dirty="0" err="1"/>
              <a:t>həllərin</a:t>
            </a:r>
            <a:r>
              <a:rPr lang="en-US" sz="6400" dirty="0"/>
              <a:t> </a:t>
            </a:r>
            <a:r>
              <a:rPr lang="en-US" sz="6400" dirty="0" err="1"/>
              <a:t>qorunması</a:t>
            </a:r>
            <a:r>
              <a:rPr lang="en-US" sz="6400" dirty="0"/>
              <a:t> </a:t>
            </a:r>
            <a:r>
              <a:rPr lang="en-US" sz="6400" dirty="0" err="1"/>
              <a:t>üçün</a:t>
            </a:r>
            <a:r>
              <a:rPr lang="en-US" sz="6400" dirty="0"/>
              <a:t> </a:t>
            </a:r>
            <a:r>
              <a:rPr lang="en-US" sz="6400" dirty="0" err="1"/>
              <a:t>verilir</a:t>
            </a:r>
            <a:r>
              <a:rPr lang="en-US" sz="6400" dirty="0"/>
              <a:t>.</a:t>
            </a:r>
          </a:p>
          <a:p>
            <a:r>
              <a:rPr lang="en-US" sz="6400" b="1" dirty="0" err="1"/>
              <a:t>Xüsusiyyətləri</a:t>
            </a:r>
            <a:r>
              <a:rPr lang="en-US" sz="6400" b="1" dirty="0"/>
              <a:t>:</a:t>
            </a:r>
          </a:p>
          <a:p>
            <a:r>
              <a:rPr lang="en-US" sz="6400" dirty="0" err="1"/>
              <a:t>Ən</a:t>
            </a:r>
            <a:r>
              <a:rPr lang="en-US" sz="6400" dirty="0"/>
              <a:t> </a:t>
            </a:r>
            <a:r>
              <a:rPr lang="en-US" sz="6400" dirty="0" err="1"/>
              <a:t>güclü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dərin</a:t>
            </a:r>
            <a:r>
              <a:rPr lang="en-US" sz="6400" dirty="0"/>
              <a:t> </a:t>
            </a:r>
            <a:r>
              <a:rPr lang="en-US" sz="6400" dirty="0" err="1"/>
              <a:t>hüquqi</a:t>
            </a:r>
            <a:r>
              <a:rPr lang="en-US" sz="6400" dirty="0"/>
              <a:t> </a:t>
            </a:r>
            <a:r>
              <a:rPr lang="en-US" sz="6400" dirty="0" err="1"/>
              <a:t>qoruma</a:t>
            </a:r>
            <a:r>
              <a:rPr lang="en-US" sz="6400" dirty="0"/>
              <a:t> </a:t>
            </a:r>
            <a:r>
              <a:rPr lang="en-US" sz="6400" dirty="0" err="1"/>
              <a:t>təmin</a:t>
            </a:r>
            <a:r>
              <a:rPr lang="en-US" sz="6400" dirty="0"/>
              <a:t> </a:t>
            </a:r>
            <a:r>
              <a:rPr lang="en-US" sz="6400" dirty="0" err="1"/>
              <a:t>edir</a:t>
            </a:r>
            <a:endParaRPr lang="en-US" sz="6400" dirty="0"/>
          </a:p>
          <a:p>
            <a:r>
              <a:rPr lang="en-US" sz="6400" dirty="0" err="1"/>
              <a:t>Yüksək</a:t>
            </a:r>
            <a:r>
              <a:rPr lang="en-US" sz="6400" dirty="0"/>
              <a:t> </a:t>
            </a:r>
            <a:r>
              <a:rPr lang="en-US" sz="6400" dirty="0" err="1"/>
              <a:t>səviyyəli</a:t>
            </a:r>
            <a:r>
              <a:rPr lang="en-US" sz="6400" dirty="0"/>
              <a:t> </a:t>
            </a:r>
            <a:r>
              <a:rPr lang="en-US" sz="6400" dirty="0" err="1"/>
              <a:t>texnoloji</a:t>
            </a:r>
            <a:r>
              <a:rPr lang="en-US" sz="6400" dirty="0"/>
              <a:t> </a:t>
            </a:r>
            <a:r>
              <a:rPr lang="en-US" sz="6400" dirty="0" err="1"/>
              <a:t>yenilik</a:t>
            </a:r>
            <a:r>
              <a:rPr lang="en-US" sz="6400" dirty="0"/>
              <a:t> </a:t>
            </a:r>
            <a:r>
              <a:rPr lang="en-US" sz="6400" dirty="0" err="1"/>
              <a:t>tələb</a:t>
            </a:r>
            <a:r>
              <a:rPr lang="en-US" sz="6400" dirty="0"/>
              <a:t> </a:t>
            </a:r>
            <a:r>
              <a:rPr lang="en-US" sz="6400" dirty="0" err="1"/>
              <a:t>olunur</a:t>
            </a:r>
            <a:endParaRPr lang="en-US" sz="6400" dirty="0"/>
          </a:p>
          <a:p>
            <a:r>
              <a:rPr lang="en-US" sz="6400" dirty="0" err="1"/>
              <a:t>Tələblər</a:t>
            </a:r>
            <a:r>
              <a:rPr lang="en-US" sz="6400" dirty="0"/>
              <a:t>: </a:t>
            </a:r>
            <a:r>
              <a:rPr lang="en-US" sz="6400" b="1" dirty="0" err="1"/>
              <a:t>yenilik</a:t>
            </a:r>
            <a:r>
              <a:rPr lang="en-US" sz="6400" dirty="0"/>
              <a:t>, </a:t>
            </a:r>
            <a:r>
              <a:rPr lang="en-US" sz="6400" b="1" dirty="0" err="1"/>
              <a:t>ixtira</a:t>
            </a:r>
            <a:r>
              <a:rPr lang="en-US" sz="6400" b="1" dirty="0"/>
              <a:t> </a:t>
            </a:r>
            <a:r>
              <a:rPr lang="en-US" sz="6400" b="1" dirty="0" err="1"/>
              <a:t>səviyyəsi</a:t>
            </a:r>
            <a:r>
              <a:rPr lang="en-US" sz="6400" dirty="0"/>
              <a:t>, </a:t>
            </a:r>
            <a:r>
              <a:rPr lang="en-US" sz="6400" b="1" dirty="0" err="1"/>
              <a:t>sənaye</a:t>
            </a:r>
            <a:r>
              <a:rPr lang="en-US" sz="6400" b="1" dirty="0"/>
              <a:t> </a:t>
            </a:r>
            <a:r>
              <a:rPr lang="en-US" sz="6400" b="1" dirty="0" err="1"/>
              <a:t>tətbiqi</a:t>
            </a:r>
            <a:endParaRPr lang="en-US" sz="6400" dirty="0"/>
          </a:p>
          <a:p>
            <a:r>
              <a:rPr lang="en-US" sz="6400" b="1" dirty="0" err="1"/>
              <a:t>Müddəti</a:t>
            </a:r>
            <a:r>
              <a:rPr lang="en-US" sz="6400" b="1" dirty="0"/>
              <a:t>:</a:t>
            </a:r>
            <a:r>
              <a:rPr lang="az-Latn-AZ" sz="6400" b="1" dirty="0"/>
              <a:t> </a:t>
            </a:r>
            <a:r>
              <a:rPr lang="en-US" sz="6400" dirty="0" err="1"/>
              <a:t>Adətən</a:t>
            </a:r>
            <a:r>
              <a:rPr lang="en-US" sz="6400" dirty="0"/>
              <a:t> </a:t>
            </a:r>
            <a:r>
              <a:rPr lang="en-US" sz="6400" b="1" dirty="0"/>
              <a:t>20 </a:t>
            </a:r>
            <a:r>
              <a:rPr lang="en-US" sz="6400" b="1" dirty="0" err="1"/>
              <a:t>i</a:t>
            </a:r>
            <a:r>
              <a:rPr lang="az-Latn-AZ" sz="6400" b="1" dirty="0"/>
              <a:t>l</a:t>
            </a:r>
          </a:p>
          <a:p>
            <a:endParaRPr lang="az-Latn-AZ" sz="6400" b="1" dirty="0"/>
          </a:p>
          <a:p>
            <a:r>
              <a:rPr lang="en-US" sz="6400" b="1" dirty="0"/>
              <a:t>🟢 2. </a:t>
            </a:r>
            <a:r>
              <a:rPr lang="en-US" sz="6400" b="1" dirty="0" err="1"/>
              <a:t>Faydalı</a:t>
            </a:r>
            <a:r>
              <a:rPr lang="en-US" sz="6400" b="1" dirty="0"/>
              <a:t> Model </a:t>
            </a:r>
            <a:r>
              <a:rPr lang="en-US" sz="6400" b="1" dirty="0" err="1"/>
              <a:t>Patenti</a:t>
            </a:r>
            <a:r>
              <a:rPr lang="en-US" sz="6400" b="1" dirty="0"/>
              <a:t> (Utility Model)</a:t>
            </a:r>
          </a:p>
          <a:p>
            <a:r>
              <a:rPr lang="en-US" sz="6400" dirty="0" err="1"/>
              <a:t>Texniki</a:t>
            </a:r>
            <a:r>
              <a:rPr lang="en-US" sz="6400" dirty="0"/>
              <a:t> </a:t>
            </a:r>
            <a:r>
              <a:rPr lang="en-US" sz="6400" dirty="0" err="1"/>
              <a:t>həllərin</a:t>
            </a:r>
            <a:r>
              <a:rPr lang="en-US" sz="6400" dirty="0"/>
              <a:t> </a:t>
            </a:r>
            <a:r>
              <a:rPr lang="en-US" sz="6400" dirty="0" err="1"/>
              <a:t>sadələşdirilmiş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daha</a:t>
            </a:r>
            <a:r>
              <a:rPr lang="en-US" sz="6400" dirty="0"/>
              <a:t> </a:t>
            </a:r>
            <a:r>
              <a:rPr lang="en-US" sz="6400" dirty="0" err="1"/>
              <a:t>tez</a:t>
            </a:r>
            <a:r>
              <a:rPr lang="en-US" sz="6400" dirty="0"/>
              <a:t> </a:t>
            </a:r>
            <a:r>
              <a:rPr lang="en-US" sz="6400" dirty="0" err="1"/>
              <a:t>qeydiyyatdan</a:t>
            </a:r>
            <a:r>
              <a:rPr lang="en-US" sz="6400" dirty="0"/>
              <a:t> </a:t>
            </a:r>
            <a:r>
              <a:rPr lang="en-US" sz="6400" dirty="0" err="1"/>
              <a:t>keçən</a:t>
            </a:r>
            <a:r>
              <a:rPr lang="en-US" sz="6400" dirty="0"/>
              <a:t> </a:t>
            </a:r>
            <a:r>
              <a:rPr lang="en-US" sz="6400" dirty="0" err="1"/>
              <a:t>qorunma</a:t>
            </a:r>
            <a:r>
              <a:rPr lang="en-US" sz="6400" dirty="0"/>
              <a:t> </a:t>
            </a:r>
            <a:r>
              <a:rPr lang="en-US" sz="6400" dirty="0" err="1"/>
              <a:t>növüdür</a:t>
            </a:r>
            <a:r>
              <a:rPr lang="en-US" sz="6400" dirty="0"/>
              <a:t>.</a:t>
            </a:r>
          </a:p>
          <a:p>
            <a:r>
              <a:rPr lang="en-US" sz="6400" b="1" dirty="0" err="1"/>
              <a:t>Xüsusiyyətləri</a:t>
            </a:r>
            <a:r>
              <a:rPr lang="en-US" sz="6400" b="1" dirty="0"/>
              <a:t>:</a:t>
            </a:r>
          </a:p>
          <a:p>
            <a:r>
              <a:rPr lang="en-US" sz="6400" dirty="0" err="1"/>
              <a:t>Tələblər</a:t>
            </a:r>
            <a:r>
              <a:rPr lang="en-US" sz="6400" dirty="0"/>
              <a:t> </a:t>
            </a:r>
            <a:r>
              <a:rPr lang="en-US" sz="6400" dirty="0" err="1"/>
              <a:t>daha</a:t>
            </a:r>
            <a:r>
              <a:rPr lang="en-US" sz="6400" dirty="0"/>
              <a:t> </a:t>
            </a:r>
            <a:r>
              <a:rPr lang="en-US" sz="6400" dirty="0" err="1"/>
              <a:t>az</a:t>
            </a:r>
            <a:r>
              <a:rPr lang="en-US" sz="6400" dirty="0"/>
              <a:t> </a:t>
            </a:r>
            <a:r>
              <a:rPr lang="en-US" sz="6400" dirty="0" err="1"/>
              <a:t>sərtdir</a:t>
            </a:r>
            <a:endParaRPr lang="en-US" sz="6400" dirty="0"/>
          </a:p>
          <a:p>
            <a:r>
              <a:rPr lang="en-US" sz="6400" dirty="0" err="1"/>
              <a:t>Yenilik</a:t>
            </a:r>
            <a:r>
              <a:rPr lang="en-US" sz="6400" dirty="0"/>
              <a:t> </a:t>
            </a:r>
            <a:r>
              <a:rPr lang="en-US" sz="6400" dirty="0" err="1"/>
              <a:t>lazımdır</a:t>
            </a:r>
            <a:r>
              <a:rPr lang="en-US" sz="6400" dirty="0"/>
              <a:t>, </a:t>
            </a:r>
            <a:r>
              <a:rPr lang="en-US" sz="6400" dirty="0" err="1"/>
              <a:t>lakin</a:t>
            </a:r>
            <a:r>
              <a:rPr lang="en-US" sz="6400" dirty="0"/>
              <a:t> </a:t>
            </a:r>
            <a:r>
              <a:rPr lang="en-US" sz="6400" dirty="0" err="1"/>
              <a:t>ixtira</a:t>
            </a:r>
            <a:r>
              <a:rPr lang="en-US" sz="6400" dirty="0"/>
              <a:t> </a:t>
            </a:r>
            <a:r>
              <a:rPr lang="en-US" sz="6400" dirty="0" err="1"/>
              <a:t>səviyyəsi</a:t>
            </a:r>
            <a:r>
              <a:rPr lang="en-US" sz="6400" dirty="0"/>
              <a:t> </a:t>
            </a:r>
            <a:r>
              <a:rPr lang="en-US" sz="6400" dirty="0" err="1"/>
              <a:t>tələb</a:t>
            </a:r>
            <a:r>
              <a:rPr lang="en-US" sz="6400" dirty="0"/>
              <a:t> </a:t>
            </a:r>
            <a:r>
              <a:rPr lang="en-US" sz="6400" dirty="0" err="1"/>
              <a:t>olunmaya</a:t>
            </a:r>
            <a:r>
              <a:rPr lang="en-US" sz="6400" dirty="0"/>
              <a:t> </a:t>
            </a:r>
            <a:r>
              <a:rPr lang="en-US" sz="6400" dirty="0" err="1"/>
              <a:t>bilər</a:t>
            </a:r>
            <a:endParaRPr lang="en-US" sz="6400" dirty="0"/>
          </a:p>
          <a:p>
            <a:r>
              <a:rPr lang="en-US" sz="6400" dirty="0" err="1"/>
              <a:t>Kiçik</a:t>
            </a:r>
            <a:r>
              <a:rPr lang="en-US" sz="6400" dirty="0"/>
              <a:t> </a:t>
            </a:r>
            <a:r>
              <a:rPr lang="en-US" sz="6400" dirty="0" err="1"/>
              <a:t>dəyişiklik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təkmilləşdirmələr</a:t>
            </a:r>
            <a:r>
              <a:rPr lang="en-US" sz="6400" dirty="0"/>
              <a:t> </a:t>
            </a:r>
            <a:r>
              <a:rPr lang="en-US" sz="6400" dirty="0" err="1"/>
              <a:t>üçün</a:t>
            </a:r>
            <a:r>
              <a:rPr lang="en-US" sz="6400" dirty="0"/>
              <a:t> </a:t>
            </a:r>
            <a:r>
              <a:rPr lang="en-US" sz="6400" dirty="0" err="1"/>
              <a:t>uyğundur</a:t>
            </a:r>
            <a:endParaRPr lang="en-US" sz="6400" dirty="0"/>
          </a:p>
          <a:p>
            <a:r>
              <a:rPr lang="en-US" sz="6400" dirty="0" err="1"/>
              <a:t>Çox</a:t>
            </a:r>
            <a:r>
              <a:rPr lang="en-US" sz="6400" dirty="0"/>
              <a:t> </a:t>
            </a:r>
            <a:r>
              <a:rPr lang="en-US" sz="6400" dirty="0" err="1"/>
              <a:t>vaxt</a:t>
            </a:r>
            <a:r>
              <a:rPr lang="en-US" sz="6400" dirty="0"/>
              <a:t> “</a:t>
            </a:r>
            <a:r>
              <a:rPr lang="en-US" sz="6400" dirty="0" err="1"/>
              <a:t>kiçik</a:t>
            </a:r>
            <a:r>
              <a:rPr lang="en-US" sz="6400" dirty="0"/>
              <a:t> </a:t>
            </a:r>
            <a:r>
              <a:rPr lang="en-US" sz="6400" dirty="0" err="1"/>
              <a:t>ixtira</a:t>
            </a:r>
            <a:r>
              <a:rPr lang="en-US" sz="6400" dirty="0"/>
              <a:t>” </a:t>
            </a:r>
            <a:r>
              <a:rPr lang="en-US" sz="6400" dirty="0" err="1"/>
              <a:t>adlanır</a:t>
            </a:r>
            <a:endParaRPr lang="en-US" sz="6400" dirty="0"/>
          </a:p>
          <a:p>
            <a:r>
              <a:rPr lang="en-US" sz="6400" b="1" dirty="0" err="1"/>
              <a:t>Müddəti</a:t>
            </a:r>
            <a:r>
              <a:rPr lang="en-US" sz="6400" b="1" dirty="0"/>
              <a:t>:</a:t>
            </a:r>
            <a:r>
              <a:rPr lang="az-Latn-AZ" sz="6400" b="1" dirty="0"/>
              <a:t> </a:t>
            </a:r>
            <a:r>
              <a:rPr lang="en-US" sz="6400" dirty="0" err="1"/>
              <a:t>Təxminən</a:t>
            </a:r>
            <a:r>
              <a:rPr lang="en-US" sz="6400" dirty="0"/>
              <a:t> </a:t>
            </a:r>
            <a:r>
              <a:rPr lang="en-US" sz="6400" b="1" dirty="0"/>
              <a:t>10 il</a:t>
            </a:r>
            <a:endParaRPr lang="en-US" sz="6400" dirty="0"/>
          </a:p>
          <a:p>
            <a:endParaRPr lang="en-US" sz="6400" dirty="0"/>
          </a:p>
          <a:p>
            <a:r>
              <a:rPr lang="en-US" sz="6400" b="1" dirty="0"/>
              <a:t>🟣 3. </a:t>
            </a:r>
            <a:r>
              <a:rPr lang="en-US" sz="6400" b="1" dirty="0" err="1"/>
              <a:t>Sənaye</a:t>
            </a:r>
            <a:r>
              <a:rPr lang="en-US" sz="6400" b="1" dirty="0"/>
              <a:t> </a:t>
            </a:r>
            <a:r>
              <a:rPr lang="en-US" sz="6400" b="1" dirty="0" err="1"/>
              <a:t>Nümunəsi</a:t>
            </a:r>
            <a:r>
              <a:rPr lang="en-US" sz="6400" b="1" dirty="0"/>
              <a:t> (Industrial Design)</a:t>
            </a:r>
          </a:p>
          <a:p>
            <a:r>
              <a:rPr lang="en-US" sz="6400" dirty="0" err="1"/>
              <a:t>Məhsulun</a:t>
            </a:r>
            <a:r>
              <a:rPr lang="en-US" sz="6400" dirty="0"/>
              <a:t> </a:t>
            </a:r>
            <a:r>
              <a:rPr lang="en-US" sz="6400" dirty="0" err="1"/>
              <a:t>xarici</a:t>
            </a:r>
            <a:r>
              <a:rPr lang="en-US" sz="6400" dirty="0"/>
              <a:t> </a:t>
            </a:r>
            <a:r>
              <a:rPr lang="en-US" sz="6400" dirty="0" err="1"/>
              <a:t>görünüşünün</a:t>
            </a:r>
            <a:r>
              <a:rPr lang="en-US" sz="6400" dirty="0"/>
              <a:t> – </a:t>
            </a:r>
            <a:r>
              <a:rPr lang="en-US" sz="6400" dirty="0" err="1"/>
              <a:t>formanın</a:t>
            </a:r>
            <a:r>
              <a:rPr lang="en-US" sz="6400" dirty="0"/>
              <a:t>, </a:t>
            </a:r>
            <a:r>
              <a:rPr lang="en-US" sz="6400" dirty="0" err="1"/>
              <a:t>xəttlərin</a:t>
            </a:r>
            <a:r>
              <a:rPr lang="en-US" sz="6400" dirty="0"/>
              <a:t>, </a:t>
            </a:r>
            <a:r>
              <a:rPr lang="en-US" sz="6400" dirty="0" err="1"/>
              <a:t>ornamentin</a:t>
            </a:r>
            <a:r>
              <a:rPr lang="en-US" sz="6400" dirty="0"/>
              <a:t>, </a:t>
            </a:r>
            <a:r>
              <a:rPr lang="en-US" sz="6400" dirty="0" err="1"/>
              <a:t>rənglərin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dizayn</a:t>
            </a:r>
            <a:r>
              <a:rPr lang="en-US" sz="6400" dirty="0"/>
              <a:t> </a:t>
            </a:r>
            <a:r>
              <a:rPr lang="en-US" sz="6400" dirty="0" err="1"/>
              <a:t>elementlərinin</a:t>
            </a:r>
            <a:r>
              <a:rPr lang="en-US" sz="6400" dirty="0"/>
              <a:t> </a:t>
            </a:r>
            <a:r>
              <a:rPr lang="en-US" sz="6400" dirty="0" err="1"/>
              <a:t>qorunmasıdır</a:t>
            </a:r>
            <a:r>
              <a:rPr lang="en-US" sz="6400" dirty="0"/>
              <a:t>.</a:t>
            </a:r>
          </a:p>
          <a:p>
            <a:r>
              <a:rPr lang="en-US" sz="6400" b="1" dirty="0" err="1"/>
              <a:t>Xüsusiyyətləri</a:t>
            </a:r>
            <a:r>
              <a:rPr lang="en-US" sz="6400" b="1" dirty="0"/>
              <a:t>:</a:t>
            </a:r>
          </a:p>
          <a:p>
            <a:r>
              <a:rPr lang="en-US" sz="6400" dirty="0" err="1"/>
              <a:t>Məhsulun</a:t>
            </a:r>
            <a:r>
              <a:rPr lang="en-US" sz="6400" dirty="0"/>
              <a:t> </a:t>
            </a:r>
            <a:r>
              <a:rPr lang="en-US" sz="6400" dirty="0" err="1"/>
              <a:t>funksiyası</a:t>
            </a:r>
            <a:r>
              <a:rPr lang="en-US" sz="6400" dirty="0"/>
              <a:t> </a:t>
            </a:r>
            <a:r>
              <a:rPr lang="en-US" sz="6400" dirty="0" err="1"/>
              <a:t>yox</a:t>
            </a:r>
            <a:r>
              <a:rPr lang="en-US" sz="6400" dirty="0"/>
              <a:t>, </a:t>
            </a:r>
            <a:r>
              <a:rPr lang="en-US" sz="6400" b="1" dirty="0" err="1"/>
              <a:t>görünüşü</a:t>
            </a:r>
            <a:r>
              <a:rPr lang="en-US" sz="6400" dirty="0"/>
              <a:t> </a:t>
            </a:r>
            <a:r>
              <a:rPr lang="en-US" sz="6400" dirty="0" err="1"/>
              <a:t>qorunur</a:t>
            </a:r>
            <a:endParaRPr lang="en-US" sz="6400" dirty="0"/>
          </a:p>
          <a:p>
            <a:r>
              <a:rPr lang="en-US" sz="6400" dirty="0" err="1"/>
              <a:t>Məsələn</a:t>
            </a:r>
            <a:r>
              <a:rPr lang="en-US" sz="6400" dirty="0"/>
              <a:t>: </a:t>
            </a:r>
            <a:r>
              <a:rPr lang="en-US" sz="6400" dirty="0" err="1"/>
              <a:t>telefon</a:t>
            </a:r>
            <a:r>
              <a:rPr lang="en-US" sz="6400" dirty="0"/>
              <a:t> </a:t>
            </a:r>
            <a:r>
              <a:rPr lang="en-US" sz="6400" dirty="0" err="1"/>
              <a:t>korpusunun</a:t>
            </a:r>
            <a:r>
              <a:rPr lang="en-US" sz="6400" dirty="0"/>
              <a:t> </a:t>
            </a:r>
            <a:r>
              <a:rPr lang="en-US" sz="6400" dirty="0" err="1"/>
              <a:t>dizaynı</a:t>
            </a:r>
            <a:r>
              <a:rPr lang="en-US" sz="6400" dirty="0"/>
              <a:t>, </a:t>
            </a:r>
            <a:r>
              <a:rPr lang="en-US" sz="6400" dirty="0" err="1"/>
              <a:t>çanta</a:t>
            </a:r>
            <a:r>
              <a:rPr lang="en-US" sz="6400" dirty="0"/>
              <a:t> </a:t>
            </a:r>
            <a:r>
              <a:rPr lang="en-US" sz="6400" dirty="0" err="1"/>
              <a:t>modeli</a:t>
            </a:r>
            <a:r>
              <a:rPr lang="en-US" sz="6400" dirty="0"/>
              <a:t>, </a:t>
            </a:r>
            <a:r>
              <a:rPr lang="en-US" sz="6400" dirty="0" err="1"/>
              <a:t>mebel</a:t>
            </a:r>
            <a:r>
              <a:rPr lang="en-US" sz="6400" dirty="0"/>
              <a:t> </a:t>
            </a:r>
            <a:r>
              <a:rPr lang="en-US" sz="6400" dirty="0" err="1"/>
              <a:t>forması</a:t>
            </a:r>
            <a:endParaRPr lang="en-US" sz="6400" dirty="0"/>
          </a:p>
          <a:p>
            <a:r>
              <a:rPr lang="en-US" sz="6400" dirty="0" err="1"/>
              <a:t>Tələblər</a:t>
            </a:r>
            <a:r>
              <a:rPr lang="en-US" sz="6400" dirty="0"/>
              <a:t>: </a:t>
            </a:r>
            <a:r>
              <a:rPr lang="en-US" sz="6400" dirty="0" err="1"/>
              <a:t>yenilik</a:t>
            </a:r>
            <a:r>
              <a:rPr lang="en-US" sz="6400" dirty="0"/>
              <a:t> </a:t>
            </a:r>
            <a:r>
              <a:rPr lang="en-US" sz="6400" dirty="0" err="1"/>
              <a:t>və</a:t>
            </a:r>
            <a:r>
              <a:rPr lang="en-US" sz="6400" dirty="0"/>
              <a:t> </a:t>
            </a:r>
            <a:r>
              <a:rPr lang="en-US" sz="6400" dirty="0" err="1"/>
              <a:t>orijinallıq</a:t>
            </a:r>
            <a:endParaRPr lang="en-US" sz="6400" dirty="0"/>
          </a:p>
          <a:p>
            <a:r>
              <a:rPr lang="en-US" sz="6400" b="1" dirty="0" err="1"/>
              <a:t>Müddəti</a:t>
            </a:r>
            <a:r>
              <a:rPr lang="en-US" sz="6400" b="1" dirty="0"/>
              <a:t>:</a:t>
            </a:r>
            <a:r>
              <a:rPr lang="az-Latn-AZ" sz="6400" b="1" dirty="0"/>
              <a:t> </a:t>
            </a:r>
            <a:r>
              <a:rPr lang="en-US" sz="6400" dirty="0" err="1"/>
              <a:t>Adətən</a:t>
            </a:r>
            <a:r>
              <a:rPr lang="en-US" sz="6400" dirty="0"/>
              <a:t> </a:t>
            </a:r>
            <a:r>
              <a:rPr lang="en-US" sz="6400" b="1" dirty="0"/>
              <a:t>10–15 il</a:t>
            </a:r>
            <a:endParaRPr lang="en-US" sz="6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1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06E9DC-ABA7-920C-01FD-7D622AD1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56388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🟠 4. Bitki </a:t>
            </a:r>
            <a:r>
              <a:rPr lang="en-US" sz="2000" b="1" dirty="0" err="1"/>
              <a:t>Sortları</a:t>
            </a:r>
            <a:r>
              <a:rPr lang="en-US" sz="2000" b="1" dirty="0"/>
              <a:t> </a:t>
            </a:r>
            <a:r>
              <a:rPr lang="en-US" sz="2000" b="1" dirty="0" err="1"/>
              <a:t>və</a:t>
            </a:r>
            <a:r>
              <a:rPr lang="en-US" sz="2000" b="1" dirty="0"/>
              <a:t> </a:t>
            </a:r>
            <a:r>
              <a:rPr lang="en-US" sz="2000" b="1" dirty="0" err="1"/>
              <a:t>Heyvan</a:t>
            </a:r>
            <a:r>
              <a:rPr lang="en-US" sz="2000" b="1" dirty="0"/>
              <a:t> </a:t>
            </a:r>
            <a:r>
              <a:rPr lang="en-US" sz="2000" b="1" dirty="0" err="1"/>
              <a:t>Cinsləri</a:t>
            </a:r>
            <a:r>
              <a:rPr lang="en-US" sz="2000" b="1" dirty="0"/>
              <a:t> </a:t>
            </a:r>
            <a:r>
              <a:rPr lang="en-US" sz="2000" b="1" dirty="0" err="1"/>
              <a:t>Üzrə</a:t>
            </a:r>
            <a:r>
              <a:rPr lang="en-US" sz="2000" b="1" dirty="0"/>
              <a:t> </a:t>
            </a:r>
            <a:r>
              <a:rPr lang="en-US" sz="2000" b="1" dirty="0" err="1"/>
              <a:t>Patentlər</a:t>
            </a:r>
            <a:br>
              <a:rPr lang="en-US" sz="2000" b="1" dirty="0"/>
            </a:br>
            <a:r>
              <a:rPr lang="en-US" sz="2000" dirty="0"/>
              <a:t>Yeni </a:t>
            </a:r>
            <a:r>
              <a:rPr lang="en-US" sz="2000" dirty="0" err="1"/>
              <a:t>yaradılmış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kəşf</a:t>
            </a:r>
            <a:r>
              <a:rPr lang="en-US" sz="2000" dirty="0"/>
              <a:t> </a:t>
            </a:r>
            <a:r>
              <a:rPr lang="en-US" sz="2000" dirty="0" err="1"/>
              <a:t>edilmiş</a:t>
            </a:r>
            <a:r>
              <a:rPr lang="en-US" sz="2000" dirty="0"/>
              <a:t> bitki </a:t>
            </a:r>
            <a:r>
              <a:rPr lang="en-US" sz="2000" dirty="0" err="1"/>
              <a:t>sortları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heyvan</a:t>
            </a:r>
            <a:r>
              <a:rPr lang="en-US" sz="2000" dirty="0"/>
              <a:t> </a:t>
            </a:r>
            <a:r>
              <a:rPr lang="en-US" sz="2000" dirty="0" err="1"/>
              <a:t>cinslərinin</a:t>
            </a:r>
            <a:r>
              <a:rPr lang="en-US" sz="2000" dirty="0"/>
              <a:t> </a:t>
            </a:r>
            <a:r>
              <a:rPr lang="en-US" sz="2000" dirty="0" err="1"/>
              <a:t>qorunması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 err="1"/>
              <a:t>Xüsusiyyətləri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sz="2000" dirty="0" err="1"/>
              <a:t>Yalnız</a:t>
            </a:r>
            <a:r>
              <a:rPr lang="en-US" sz="2000" dirty="0"/>
              <a:t> </a:t>
            </a:r>
            <a:r>
              <a:rPr lang="en-US" sz="2000" dirty="0" err="1"/>
              <a:t>xüsusi</a:t>
            </a:r>
            <a:r>
              <a:rPr lang="en-US" sz="2000" dirty="0"/>
              <a:t> </a:t>
            </a:r>
            <a:r>
              <a:rPr lang="en-US" sz="2000" dirty="0" err="1"/>
              <a:t>texniki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bioloji</a:t>
            </a:r>
            <a:r>
              <a:rPr lang="en-US" sz="2000" dirty="0"/>
              <a:t> </a:t>
            </a:r>
            <a:r>
              <a:rPr lang="en-US" sz="2000" dirty="0" err="1"/>
              <a:t>tələblərə</a:t>
            </a:r>
            <a:r>
              <a:rPr lang="en-US" sz="2000" dirty="0"/>
              <a:t> </a:t>
            </a:r>
            <a:r>
              <a:rPr lang="en-US" sz="2000" dirty="0" err="1"/>
              <a:t>cavab</a:t>
            </a:r>
            <a:r>
              <a:rPr lang="en-US" sz="2000" dirty="0"/>
              <a:t> </a:t>
            </a:r>
            <a:r>
              <a:rPr lang="en-US" sz="2000" dirty="0" err="1"/>
              <a:t>verən</a:t>
            </a:r>
            <a:r>
              <a:rPr lang="en-US" sz="2000" dirty="0"/>
              <a:t> </a:t>
            </a:r>
            <a:r>
              <a:rPr lang="en-US" sz="2000" dirty="0" err="1"/>
              <a:t>növlər</a:t>
            </a:r>
            <a:r>
              <a:rPr lang="en-US" sz="2000" dirty="0"/>
              <a:t> </a:t>
            </a:r>
            <a:r>
              <a:rPr lang="en-US" sz="2000" dirty="0" err="1"/>
              <a:t>qorunur</a:t>
            </a:r>
            <a:br>
              <a:rPr lang="en-US" sz="2000" dirty="0"/>
            </a:br>
            <a:r>
              <a:rPr lang="en-US" sz="2000" dirty="0" err="1"/>
              <a:t>Seçmə</a:t>
            </a:r>
            <a:r>
              <a:rPr lang="en-US" sz="2000" dirty="0"/>
              <a:t> (</a:t>
            </a:r>
            <a:r>
              <a:rPr lang="en-US" sz="2000" dirty="0" err="1"/>
              <a:t>seleksiya</a:t>
            </a:r>
            <a:r>
              <a:rPr lang="en-US" sz="2000" dirty="0"/>
              <a:t>) </a:t>
            </a:r>
            <a:r>
              <a:rPr lang="en-US" sz="2000" dirty="0" err="1"/>
              <a:t>yolu</a:t>
            </a:r>
            <a:r>
              <a:rPr lang="en-US" sz="2000" dirty="0"/>
              <a:t> </a:t>
            </a:r>
            <a:r>
              <a:rPr lang="en-US" sz="2000" dirty="0" err="1"/>
              <a:t>ilə</a:t>
            </a:r>
            <a:r>
              <a:rPr lang="en-US" sz="2000" dirty="0"/>
              <a:t> </a:t>
            </a:r>
            <a:r>
              <a:rPr lang="en-US" sz="2000" dirty="0" err="1"/>
              <a:t>əldə</a:t>
            </a:r>
            <a:r>
              <a:rPr lang="en-US" sz="2000" dirty="0"/>
              <a:t> </a:t>
            </a:r>
            <a:r>
              <a:rPr lang="en-US" sz="2000" dirty="0" err="1"/>
              <a:t>olunan</a:t>
            </a:r>
            <a:r>
              <a:rPr lang="en-US" sz="2000" dirty="0"/>
              <a:t> </a:t>
            </a:r>
            <a:r>
              <a:rPr lang="en-US" sz="2000" dirty="0" err="1"/>
              <a:t>yeniliklər</a:t>
            </a:r>
            <a:r>
              <a:rPr lang="en-US" sz="2000" dirty="0"/>
              <a:t> </a:t>
            </a:r>
            <a:r>
              <a:rPr lang="en-US" sz="2000" dirty="0" err="1"/>
              <a:t>üçün</a:t>
            </a:r>
            <a:r>
              <a:rPr lang="en-US" sz="2000" dirty="0"/>
              <a:t> </a:t>
            </a:r>
            <a:r>
              <a:rPr lang="en-US" sz="2000" dirty="0" err="1"/>
              <a:t>nəzərdə</a:t>
            </a:r>
            <a:r>
              <a:rPr lang="en-US" sz="2000" dirty="0"/>
              <a:t> </a:t>
            </a:r>
            <a:r>
              <a:rPr lang="en-US" sz="2000" dirty="0" err="1"/>
              <a:t>tutulur</a:t>
            </a:r>
            <a:br>
              <a:rPr lang="en-US" sz="2000" dirty="0"/>
            </a:br>
            <a:r>
              <a:rPr lang="en-US" sz="2000" b="1" dirty="0" err="1"/>
              <a:t>Müddəti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sz="2000" dirty="0" err="1"/>
              <a:t>Adətən</a:t>
            </a:r>
            <a:r>
              <a:rPr lang="en-US" sz="2000" dirty="0"/>
              <a:t> </a:t>
            </a:r>
            <a:r>
              <a:rPr lang="en-US" sz="2000" b="1" dirty="0"/>
              <a:t>20–25 il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🟡 5. </a:t>
            </a:r>
            <a:r>
              <a:rPr lang="en-US" sz="2000" b="1" dirty="0" err="1"/>
              <a:t>Əczaçılıq</a:t>
            </a:r>
            <a:r>
              <a:rPr lang="en-US" sz="2000" b="1" dirty="0"/>
              <a:t> </a:t>
            </a:r>
            <a:r>
              <a:rPr lang="en-US" sz="2000" b="1" dirty="0" err="1"/>
              <a:t>və</a:t>
            </a:r>
            <a:r>
              <a:rPr lang="en-US" sz="2000" b="1" dirty="0"/>
              <a:t> </a:t>
            </a:r>
            <a:r>
              <a:rPr lang="en-US" sz="2000" b="1" dirty="0" err="1"/>
              <a:t>Biotexnologiya</a:t>
            </a:r>
            <a:r>
              <a:rPr lang="en-US" sz="2000" b="1" dirty="0"/>
              <a:t> </a:t>
            </a:r>
            <a:r>
              <a:rPr lang="en-US" sz="2000" b="1" dirty="0" err="1"/>
              <a:t>üzrə</a:t>
            </a:r>
            <a:r>
              <a:rPr lang="en-US" sz="2000" b="1" dirty="0"/>
              <a:t> </a:t>
            </a:r>
            <a:r>
              <a:rPr lang="en-US" sz="2000" b="1" dirty="0" err="1"/>
              <a:t>Patentlər</a:t>
            </a:r>
            <a:br>
              <a:rPr lang="en-US" sz="2000" b="1" dirty="0"/>
            </a:br>
            <a:r>
              <a:rPr lang="en-US" sz="2000" dirty="0" err="1"/>
              <a:t>Dərman</a:t>
            </a:r>
            <a:r>
              <a:rPr lang="en-US" sz="2000" dirty="0"/>
              <a:t> </a:t>
            </a:r>
            <a:r>
              <a:rPr lang="en-US" sz="2000" dirty="0" err="1"/>
              <a:t>maddələri</a:t>
            </a:r>
            <a:r>
              <a:rPr lang="en-US" sz="2000" dirty="0"/>
              <a:t>, </a:t>
            </a:r>
            <a:r>
              <a:rPr lang="en-US" sz="2000" dirty="0" err="1"/>
              <a:t>biotexnoloji</a:t>
            </a:r>
            <a:r>
              <a:rPr lang="en-US" sz="2000" dirty="0"/>
              <a:t> </a:t>
            </a:r>
            <a:r>
              <a:rPr lang="en-US" sz="2000" dirty="0" err="1"/>
              <a:t>proseslər</a:t>
            </a:r>
            <a:r>
              <a:rPr lang="en-US" sz="2000" dirty="0"/>
              <a:t> </a:t>
            </a:r>
            <a:r>
              <a:rPr lang="en-US" sz="2000" dirty="0" err="1"/>
              <a:t>və</a:t>
            </a:r>
            <a:r>
              <a:rPr lang="en-US" sz="2000" dirty="0"/>
              <a:t> </a:t>
            </a:r>
            <a:r>
              <a:rPr lang="en-US" sz="2000" dirty="0" err="1"/>
              <a:t>tibbi</a:t>
            </a:r>
            <a:r>
              <a:rPr lang="en-US" sz="2000" dirty="0"/>
              <a:t> </a:t>
            </a:r>
            <a:r>
              <a:rPr lang="en-US" sz="2000" dirty="0" err="1"/>
              <a:t>icadlar</a:t>
            </a:r>
            <a:r>
              <a:rPr lang="en-US" sz="2000" dirty="0"/>
              <a:t> </a:t>
            </a:r>
            <a:r>
              <a:rPr lang="en-US" sz="2000" dirty="0" err="1"/>
              <a:t>üçün</a:t>
            </a:r>
            <a:r>
              <a:rPr lang="en-US" sz="2000" dirty="0"/>
              <a:t> </a:t>
            </a:r>
            <a:r>
              <a:rPr lang="en-US" sz="2000" dirty="0" err="1"/>
              <a:t>tətbiq</a:t>
            </a:r>
            <a:r>
              <a:rPr lang="en-US" sz="2000" dirty="0"/>
              <a:t> </a:t>
            </a:r>
            <a:r>
              <a:rPr lang="en-US" sz="2000" dirty="0" err="1"/>
              <a:t>edilir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 err="1"/>
              <a:t>Xüsusiyyətləri</a:t>
            </a:r>
            <a:r>
              <a:rPr lang="en-US" sz="2000" b="1" dirty="0"/>
              <a:t>:</a:t>
            </a:r>
            <a:br>
              <a:rPr lang="en-US" sz="2000" b="1" dirty="0"/>
            </a:br>
            <a:r>
              <a:rPr lang="en-US" sz="2000" dirty="0" err="1"/>
              <a:t>Ən</a:t>
            </a:r>
            <a:r>
              <a:rPr lang="en-US" sz="2000" dirty="0"/>
              <a:t> </a:t>
            </a:r>
            <a:r>
              <a:rPr lang="en-US" sz="2000" dirty="0" err="1"/>
              <a:t>sərt</a:t>
            </a:r>
            <a:r>
              <a:rPr lang="en-US" sz="2000" dirty="0"/>
              <a:t> patent </a:t>
            </a:r>
            <a:r>
              <a:rPr lang="en-US" sz="2000" dirty="0" err="1"/>
              <a:t>tələbləri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sahədədir</a:t>
            </a:r>
            <a:br>
              <a:rPr lang="en-US" sz="2000" dirty="0"/>
            </a:br>
            <a:r>
              <a:rPr lang="en-US" sz="2000" dirty="0" err="1"/>
              <a:t>Bəzən</a:t>
            </a:r>
            <a:r>
              <a:rPr lang="en-US" sz="2000" dirty="0"/>
              <a:t> </a:t>
            </a:r>
            <a:r>
              <a:rPr lang="en-US" sz="2000" dirty="0" err="1"/>
              <a:t>əlavə</a:t>
            </a:r>
            <a:r>
              <a:rPr lang="en-US" sz="2000" dirty="0"/>
              <a:t> </a:t>
            </a:r>
            <a:r>
              <a:rPr lang="en-US" sz="2000" dirty="0" err="1"/>
              <a:t>qorunma</a:t>
            </a:r>
            <a:r>
              <a:rPr lang="en-US" sz="2000" dirty="0"/>
              <a:t> </a:t>
            </a:r>
            <a:r>
              <a:rPr lang="en-US" sz="2000" dirty="0" err="1"/>
              <a:t>müddəti</a:t>
            </a:r>
            <a:r>
              <a:rPr lang="en-US" sz="2000" dirty="0"/>
              <a:t> (SPC – Supplementary Protection Certificate) </a:t>
            </a:r>
            <a:r>
              <a:rPr lang="en-US" sz="2000" dirty="0" err="1"/>
              <a:t>tətbiq</a:t>
            </a:r>
            <a:r>
              <a:rPr lang="en-US" sz="2000" dirty="0"/>
              <a:t> </a:t>
            </a:r>
            <a:r>
              <a:rPr lang="en-US" sz="2000" dirty="0" err="1"/>
              <a:t>edilə</a:t>
            </a:r>
            <a:r>
              <a:rPr lang="en-US" sz="2000" dirty="0"/>
              <a:t> </a:t>
            </a:r>
            <a:r>
              <a:rPr lang="en-US" sz="2000" dirty="0" err="1"/>
              <a:t>bilər</a:t>
            </a:r>
            <a:br>
              <a:rPr lang="en-US" sz="2000" dirty="0"/>
            </a:br>
            <a:r>
              <a:rPr lang="en-US" sz="2000" dirty="0"/>
              <a:t>Klinik </a:t>
            </a:r>
            <a:r>
              <a:rPr lang="en-US" sz="2000" dirty="0" err="1"/>
              <a:t>sınaqların</a:t>
            </a:r>
            <a:r>
              <a:rPr lang="en-US" sz="2000" dirty="0"/>
              <a:t> </a:t>
            </a:r>
            <a:r>
              <a:rPr lang="en-US" sz="2000" dirty="0" err="1"/>
              <a:t>uzunluğu</a:t>
            </a:r>
            <a:r>
              <a:rPr lang="en-US" sz="2000" dirty="0"/>
              <a:t> </a:t>
            </a:r>
            <a:r>
              <a:rPr lang="en-US" sz="2000" dirty="0" err="1"/>
              <a:t>səbəbindən</a:t>
            </a:r>
            <a:r>
              <a:rPr lang="en-US" sz="2000" dirty="0"/>
              <a:t> </a:t>
            </a:r>
            <a:r>
              <a:rPr lang="en-US" sz="2000" dirty="0" err="1"/>
              <a:t>xüsusi</a:t>
            </a:r>
            <a:r>
              <a:rPr lang="en-US" sz="2000" dirty="0"/>
              <a:t> </a:t>
            </a:r>
            <a:r>
              <a:rPr lang="en-US" sz="2000" dirty="0" err="1"/>
              <a:t>hüquqi</a:t>
            </a:r>
            <a:r>
              <a:rPr lang="en-US" sz="2000" dirty="0"/>
              <a:t> </a:t>
            </a:r>
            <a:r>
              <a:rPr lang="en-US" sz="2000" dirty="0" err="1"/>
              <a:t>mexanizmlər</a:t>
            </a:r>
            <a:r>
              <a:rPr lang="en-US" sz="2000" dirty="0"/>
              <a:t> </a:t>
            </a:r>
            <a:r>
              <a:rPr lang="en-US" sz="2000" dirty="0" err="1"/>
              <a:t>mövcuddur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7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D72C-07C9-4115-F839-CF458D0B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15"/>
            <a:ext cx="8229600" cy="1143000"/>
          </a:xfrm>
        </p:spPr>
        <p:txBody>
          <a:bodyPr/>
          <a:lstStyle/>
          <a:p>
            <a:r>
              <a:rPr lang="az-Latn-AZ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Patent müddətinin hesablanması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09D0E-8D1D-9501-9E29-14B0F15E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937952"/>
            <a:ext cx="9144000" cy="61550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900" i="1" dirty="0" err="1"/>
              <a:t>Patentlərin</a:t>
            </a:r>
            <a:r>
              <a:rPr lang="en-US" sz="4900" i="1" dirty="0"/>
              <a:t> </a:t>
            </a:r>
            <a:r>
              <a:rPr lang="en-US" sz="4900" i="1" dirty="0" err="1"/>
              <a:t>fəaliyyət</a:t>
            </a:r>
            <a:r>
              <a:rPr lang="en-US" sz="4900" i="1" dirty="0"/>
              <a:t> </a:t>
            </a:r>
            <a:r>
              <a:rPr lang="en-US" sz="4900" i="1" dirty="0" err="1"/>
              <a:t>müddəti</a:t>
            </a:r>
            <a:r>
              <a:rPr lang="en-US" sz="4900" i="1" dirty="0"/>
              <a:t> </a:t>
            </a:r>
            <a:r>
              <a:rPr lang="en-US" sz="4900" i="1" dirty="0" err="1"/>
              <a:t>patentin</a:t>
            </a:r>
            <a:r>
              <a:rPr lang="en-US" sz="4900" i="1" dirty="0"/>
              <a:t> </a:t>
            </a:r>
            <a:r>
              <a:rPr lang="en-US" sz="4900" b="1" i="1" dirty="0" err="1"/>
              <a:t>növünə</a:t>
            </a:r>
            <a:r>
              <a:rPr lang="en-US" sz="4900" i="1" dirty="0"/>
              <a:t> </a:t>
            </a:r>
            <a:r>
              <a:rPr lang="en-US" sz="4900" i="1" dirty="0" err="1"/>
              <a:t>və</a:t>
            </a:r>
            <a:r>
              <a:rPr lang="en-US" sz="4900" i="1" dirty="0"/>
              <a:t> </a:t>
            </a:r>
            <a:r>
              <a:rPr lang="en-US" sz="4900" b="1" i="1" dirty="0" err="1"/>
              <a:t>ərizə</a:t>
            </a:r>
            <a:r>
              <a:rPr lang="en-US" sz="4900" b="1" i="1" dirty="0"/>
              <a:t> </a:t>
            </a:r>
            <a:r>
              <a:rPr lang="en-US" sz="4900" b="1" i="1" dirty="0" err="1"/>
              <a:t>verilmə</a:t>
            </a:r>
            <a:r>
              <a:rPr lang="en-US" sz="4900" b="1" i="1" dirty="0"/>
              <a:t> </a:t>
            </a:r>
            <a:r>
              <a:rPr lang="en-US" sz="4900" b="1" i="1" dirty="0" err="1"/>
              <a:t>tarixinə</a:t>
            </a:r>
            <a:r>
              <a:rPr lang="en-US" sz="4900" i="1" dirty="0"/>
              <a:t> </a:t>
            </a:r>
            <a:r>
              <a:rPr lang="en-US" sz="4900" i="1" dirty="0" err="1"/>
              <a:t>əsasən</a:t>
            </a:r>
            <a:r>
              <a:rPr lang="en-US" sz="4900" i="1" dirty="0"/>
              <a:t> </a:t>
            </a:r>
            <a:r>
              <a:rPr lang="en-US" sz="4900" i="1" dirty="0" err="1"/>
              <a:t>hesablanır</a:t>
            </a:r>
            <a:r>
              <a:rPr lang="en-US" sz="4900" i="1" dirty="0"/>
              <a:t>. </a:t>
            </a:r>
            <a:r>
              <a:rPr lang="en-US" sz="4900" i="1" dirty="0" err="1"/>
              <a:t>Hesablamanı</a:t>
            </a:r>
            <a:r>
              <a:rPr lang="en-US" sz="4900" i="1" dirty="0"/>
              <a:t> </a:t>
            </a:r>
            <a:r>
              <a:rPr lang="en-US" sz="4900" i="1" dirty="0" err="1"/>
              <a:t>müəyyən</a:t>
            </a:r>
            <a:r>
              <a:rPr lang="en-US" sz="4900" i="1" dirty="0"/>
              <a:t> </a:t>
            </a:r>
            <a:r>
              <a:rPr lang="en-US" sz="4900" i="1" dirty="0" err="1"/>
              <a:t>edən</a:t>
            </a:r>
            <a:r>
              <a:rPr lang="en-US" sz="4900" i="1" dirty="0"/>
              <a:t> </a:t>
            </a:r>
            <a:r>
              <a:rPr lang="en-US" sz="4900" i="1" dirty="0" err="1"/>
              <a:t>əsas</a:t>
            </a:r>
            <a:r>
              <a:rPr lang="en-US" sz="4900" i="1" dirty="0"/>
              <a:t> </a:t>
            </a:r>
            <a:r>
              <a:rPr lang="en-US" sz="4900" i="1" dirty="0" err="1"/>
              <a:t>prinsiplər</a:t>
            </a:r>
            <a:r>
              <a:rPr lang="en-US" sz="4900" i="1" dirty="0"/>
              <a:t> </a:t>
            </a:r>
            <a:r>
              <a:rPr lang="en-US" sz="4900" i="1" dirty="0" err="1"/>
              <a:t>bunlardır</a:t>
            </a:r>
            <a:r>
              <a:rPr lang="en-US" sz="4900" i="1" dirty="0"/>
              <a:t>:</a:t>
            </a:r>
            <a:br>
              <a:rPr lang="en-US" sz="4300" dirty="0"/>
            </a:br>
            <a:endParaRPr lang="en-US" sz="4300" dirty="0"/>
          </a:p>
          <a:p>
            <a:r>
              <a:rPr lang="en-US" sz="4300" b="1" dirty="0"/>
              <a:t>🔹 1. </a:t>
            </a:r>
            <a:r>
              <a:rPr lang="en-US" sz="4300" b="1" dirty="0" err="1"/>
              <a:t>Müddət</a:t>
            </a:r>
            <a:r>
              <a:rPr lang="en-US" sz="4300" b="1" dirty="0"/>
              <a:t> </a:t>
            </a:r>
            <a:r>
              <a:rPr lang="en-US" sz="4300" b="1" dirty="0" err="1"/>
              <a:t>ərizə</a:t>
            </a:r>
            <a:r>
              <a:rPr lang="en-US" sz="4300" b="1" dirty="0"/>
              <a:t> </a:t>
            </a:r>
            <a:r>
              <a:rPr lang="en-US" sz="4300" b="1" dirty="0" err="1"/>
              <a:t>verildiyi</a:t>
            </a:r>
            <a:r>
              <a:rPr lang="en-US" sz="4300" b="1" dirty="0"/>
              <a:t> </a:t>
            </a:r>
            <a:r>
              <a:rPr lang="en-US" sz="4300" b="1" dirty="0" err="1"/>
              <a:t>tarixdən</a:t>
            </a:r>
            <a:r>
              <a:rPr lang="en-US" sz="4300" b="1" dirty="0"/>
              <a:t> </a:t>
            </a:r>
            <a:r>
              <a:rPr lang="en-US" sz="4300" b="1" dirty="0" err="1"/>
              <a:t>başlayır</a:t>
            </a:r>
            <a:endParaRPr lang="en-US" sz="4300" b="1" dirty="0"/>
          </a:p>
          <a:p>
            <a:r>
              <a:rPr lang="en-US" sz="4300" dirty="0"/>
              <a:t>Patent </a:t>
            </a:r>
            <a:r>
              <a:rPr lang="en-US" sz="4300" dirty="0" err="1"/>
              <a:t>qorunmasının</a:t>
            </a:r>
            <a:r>
              <a:rPr lang="en-US" sz="4300" dirty="0"/>
              <a:t> </a:t>
            </a:r>
            <a:r>
              <a:rPr lang="en-US" sz="4300" dirty="0" err="1"/>
              <a:t>hesablanması</a:t>
            </a:r>
            <a:r>
              <a:rPr lang="en-US" sz="4300" dirty="0"/>
              <a:t> </a:t>
            </a:r>
            <a:r>
              <a:rPr lang="en-US" sz="4300" b="1" dirty="0"/>
              <a:t>patent </a:t>
            </a:r>
            <a:r>
              <a:rPr lang="en-US" sz="4300" b="1" dirty="0" err="1"/>
              <a:t>üçün</a:t>
            </a:r>
            <a:r>
              <a:rPr lang="en-US" sz="4300" b="1" dirty="0"/>
              <a:t> </a:t>
            </a:r>
            <a:r>
              <a:rPr lang="en-US" sz="4300" b="1" dirty="0" err="1"/>
              <a:t>ilkin</a:t>
            </a:r>
            <a:r>
              <a:rPr lang="en-US" sz="4300" b="1" dirty="0"/>
              <a:t> </a:t>
            </a:r>
            <a:r>
              <a:rPr lang="en-US" sz="4300" b="1" dirty="0" err="1"/>
              <a:t>ərizənin</a:t>
            </a:r>
            <a:r>
              <a:rPr lang="en-US" sz="4300" b="1" dirty="0"/>
              <a:t> </a:t>
            </a:r>
            <a:r>
              <a:rPr lang="en-US" sz="4300" b="1" dirty="0" err="1"/>
              <a:t>verildiyi</a:t>
            </a:r>
            <a:r>
              <a:rPr lang="en-US" sz="4300" b="1" dirty="0"/>
              <a:t> </a:t>
            </a:r>
            <a:r>
              <a:rPr lang="en-US" sz="4300" b="1" dirty="0" err="1"/>
              <a:t>gündən</a:t>
            </a:r>
            <a:r>
              <a:rPr lang="en-US" sz="4300" dirty="0"/>
              <a:t> </a:t>
            </a:r>
            <a:r>
              <a:rPr lang="en-US" sz="4300" dirty="0" err="1"/>
              <a:t>etibarən</a:t>
            </a:r>
            <a:r>
              <a:rPr lang="en-US" sz="4300" dirty="0"/>
              <a:t> </a:t>
            </a:r>
            <a:r>
              <a:rPr lang="en-US" sz="4300" dirty="0" err="1"/>
              <a:t>aparılır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/>
              <a:t>🔹 2. Patent </a:t>
            </a:r>
            <a:r>
              <a:rPr lang="en-US" sz="4300" b="1" dirty="0" err="1"/>
              <a:t>növü</a:t>
            </a:r>
            <a:r>
              <a:rPr lang="en-US" sz="4300" b="1" dirty="0"/>
              <a:t> </a:t>
            </a:r>
            <a:r>
              <a:rPr lang="en-US" sz="4300" b="1" dirty="0" err="1"/>
              <a:t>müddəti</a:t>
            </a:r>
            <a:r>
              <a:rPr lang="en-US" sz="4300" b="1" dirty="0"/>
              <a:t> </a:t>
            </a:r>
            <a:r>
              <a:rPr lang="en-US" sz="4300" b="1" dirty="0" err="1"/>
              <a:t>müəyyənləşdirir</a:t>
            </a:r>
            <a:endParaRPr lang="en-US" sz="4300" b="1" dirty="0"/>
          </a:p>
          <a:p>
            <a:r>
              <a:rPr lang="en-US" sz="4300" b="1" dirty="0" err="1"/>
              <a:t>İxtira</a:t>
            </a:r>
            <a:r>
              <a:rPr lang="en-US" sz="4300" b="1" dirty="0"/>
              <a:t> </a:t>
            </a:r>
            <a:r>
              <a:rPr lang="en-US" sz="4300" b="1" dirty="0" err="1"/>
              <a:t>patenti</a:t>
            </a:r>
            <a:r>
              <a:rPr lang="en-US" sz="4300" b="1" dirty="0"/>
              <a:t>:</a:t>
            </a:r>
            <a:r>
              <a:rPr lang="en-US" sz="4300" dirty="0"/>
              <a:t> 20 il</a:t>
            </a:r>
          </a:p>
          <a:p>
            <a:r>
              <a:rPr lang="en-US" sz="4300" b="1" dirty="0" err="1"/>
              <a:t>Faydalı</a:t>
            </a:r>
            <a:r>
              <a:rPr lang="en-US" sz="4300" b="1" dirty="0"/>
              <a:t> model:</a:t>
            </a:r>
            <a:r>
              <a:rPr lang="en-US" sz="4300" dirty="0"/>
              <a:t> 10 il</a:t>
            </a:r>
          </a:p>
          <a:p>
            <a:r>
              <a:rPr lang="en-US" sz="4300" b="1" dirty="0" err="1"/>
              <a:t>Sənaye</a:t>
            </a:r>
            <a:r>
              <a:rPr lang="en-US" sz="4300" b="1" dirty="0"/>
              <a:t> </a:t>
            </a:r>
            <a:r>
              <a:rPr lang="en-US" sz="4300" b="1" dirty="0" err="1"/>
              <a:t>nümunəsi</a:t>
            </a:r>
            <a:r>
              <a:rPr lang="en-US" sz="4300" b="1" dirty="0"/>
              <a:t>:</a:t>
            </a:r>
            <a:r>
              <a:rPr lang="en-US" sz="4300" dirty="0"/>
              <a:t> 10–15 il (</a:t>
            </a:r>
            <a:r>
              <a:rPr lang="en-US" sz="4300" dirty="0" err="1"/>
              <a:t>ölkədən</a:t>
            </a:r>
            <a:r>
              <a:rPr lang="en-US" sz="4300" dirty="0"/>
              <a:t> </a:t>
            </a:r>
            <a:r>
              <a:rPr lang="en-US" sz="4300" dirty="0" err="1"/>
              <a:t>asılı</a:t>
            </a:r>
            <a:r>
              <a:rPr lang="en-US" sz="4300" dirty="0"/>
              <a:t> </a:t>
            </a:r>
            <a:r>
              <a:rPr lang="en-US" sz="4300" dirty="0" err="1"/>
              <a:t>olaraq</a:t>
            </a:r>
            <a:r>
              <a:rPr lang="en-US" sz="4300" dirty="0"/>
              <a:t>)</a:t>
            </a:r>
          </a:p>
          <a:p>
            <a:r>
              <a:rPr lang="en-US" sz="4300" dirty="0" err="1"/>
              <a:t>Müddətləri</a:t>
            </a:r>
            <a:r>
              <a:rPr lang="en-US" sz="4300" dirty="0"/>
              <a:t> </a:t>
            </a:r>
            <a:r>
              <a:rPr lang="en-US" sz="4300" dirty="0" err="1"/>
              <a:t>uzadan</a:t>
            </a:r>
            <a:r>
              <a:rPr lang="en-US" sz="4300" dirty="0"/>
              <a:t> </a:t>
            </a:r>
            <a:r>
              <a:rPr lang="en-US" sz="4300" dirty="0" err="1"/>
              <a:t>və</a:t>
            </a:r>
            <a:r>
              <a:rPr lang="en-US" sz="4300" dirty="0"/>
              <a:t> </a:t>
            </a:r>
            <a:r>
              <a:rPr lang="en-US" sz="4300" dirty="0" err="1"/>
              <a:t>ya</a:t>
            </a:r>
            <a:r>
              <a:rPr lang="en-US" sz="4300" dirty="0"/>
              <a:t> </a:t>
            </a:r>
            <a:r>
              <a:rPr lang="en-US" sz="4300" dirty="0" err="1"/>
              <a:t>məhdudlaşdıran</a:t>
            </a:r>
            <a:r>
              <a:rPr lang="en-US" sz="4300" dirty="0"/>
              <a:t> </a:t>
            </a:r>
            <a:r>
              <a:rPr lang="en-US" sz="4300" dirty="0" err="1"/>
              <a:t>hüquqi</a:t>
            </a:r>
            <a:r>
              <a:rPr lang="en-US" sz="4300" dirty="0"/>
              <a:t> </a:t>
            </a:r>
            <a:r>
              <a:rPr lang="en-US" sz="4300" dirty="0" err="1"/>
              <a:t>normalar</a:t>
            </a:r>
            <a:r>
              <a:rPr lang="en-US" sz="4300" dirty="0"/>
              <a:t> </a:t>
            </a:r>
            <a:r>
              <a:rPr lang="en-US" sz="4300" dirty="0" err="1"/>
              <a:t>ölkələrə</a:t>
            </a:r>
            <a:r>
              <a:rPr lang="en-US" sz="4300" dirty="0"/>
              <a:t> </a:t>
            </a:r>
            <a:r>
              <a:rPr lang="en-US" sz="4300" dirty="0" err="1"/>
              <a:t>görə</a:t>
            </a:r>
            <a:r>
              <a:rPr lang="en-US" sz="4300" dirty="0"/>
              <a:t> </a:t>
            </a:r>
            <a:r>
              <a:rPr lang="en-US" sz="4300" dirty="0" err="1"/>
              <a:t>dəyişə</a:t>
            </a:r>
            <a:r>
              <a:rPr lang="en-US" sz="4300" dirty="0"/>
              <a:t> </a:t>
            </a:r>
            <a:r>
              <a:rPr lang="en-US" sz="4300" dirty="0" err="1"/>
              <a:t>bilər</a:t>
            </a:r>
            <a:r>
              <a:rPr lang="en-US" sz="4300" dirty="0"/>
              <a:t>.</a:t>
            </a:r>
            <a:br>
              <a:rPr lang="en-US" sz="4300" dirty="0"/>
            </a:br>
            <a:endParaRPr lang="en-US" sz="4300" dirty="0"/>
          </a:p>
          <a:p>
            <a:pPr marL="0" indent="0">
              <a:buNone/>
            </a:pPr>
            <a:r>
              <a:rPr lang="en-US" sz="4300" b="1" dirty="0"/>
              <a:t>🔹 3. </a:t>
            </a:r>
            <a:r>
              <a:rPr lang="en-US" sz="4300" b="1" dirty="0" err="1"/>
              <a:t>İllik</a:t>
            </a:r>
            <a:r>
              <a:rPr lang="en-US" sz="4300" b="1" dirty="0"/>
              <a:t> </a:t>
            </a:r>
            <a:r>
              <a:rPr lang="en-US" sz="4300" b="1" dirty="0" err="1"/>
              <a:t>rüsumların</a:t>
            </a:r>
            <a:r>
              <a:rPr lang="en-US" sz="4300" b="1" dirty="0"/>
              <a:t> </a:t>
            </a:r>
            <a:r>
              <a:rPr lang="en-US" sz="4300" b="1" dirty="0" err="1"/>
              <a:t>ödənilməsi</a:t>
            </a:r>
            <a:r>
              <a:rPr lang="en-US" sz="4300" b="1" dirty="0"/>
              <a:t> </a:t>
            </a:r>
            <a:r>
              <a:rPr lang="en-US" sz="4300" b="1" dirty="0" err="1"/>
              <a:t>şərtdir</a:t>
            </a:r>
            <a:endParaRPr lang="en-US" sz="4300" b="1" dirty="0"/>
          </a:p>
          <a:p>
            <a:r>
              <a:rPr lang="en-US" sz="4300" dirty="0"/>
              <a:t>Patent </a:t>
            </a:r>
            <a:r>
              <a:rPr lang="en-US" sz="4300" dirty="0" err="1"/>
              <a:t>yalnız</a:t>
            </a:r>
            <a:r>
              <a:rPr lang="en-US" sz="4300" dirty="0"/>
              <a:t> nominal </a:t>
            </a:r>
            <a:r>
              <a:rPr lang="en-US" sz="4300" dirty="0" err="1"/>
              <a:t>müddətə</a:t>
            </a:r>
            <a:r>
              <a:rPr lang="en-US" sz="4300" dirty="0"/>
              <a:t> malik </a:t>
            </a:r>
            <a:r>
              <a:rPr lang="en-US" sz="4300" dirty="0" err="1"/>
              <a:t>deyil</a:t>
            </a:r>
            <a:r>
              <a:rPr lang="en-US" sz="4300" dirty="0"/>
              <a:t> — </a:t>
            </a:r>
            <a:r>
              <a:rPr lang="en-US" sz="4300" dirty="0" err="1"/>
              <a:t>fəaliyyətinin</a:t>
            </a:r>
            <a:r>
              <a:rPr lang="en-US" sz="4300" dirty="0"/>
              <a:t> </a:t>
            </a:r>
            <a:r>
              <a:rPr lang="en-US" sz="4300" dirty="0" err="1"/>
              <a:t>davam</a:t>
            </a:r>
            <a:r>
              <a:rPr lang="en-US" sz="4300" dirty="0"/>
              <a:t> </a:t>
            </a:r>
            <a:r>
              <a:rPr lang="en-US" sz="4300" dirty="0" err="1"/>
              <a:t>etməsi</a:t>
            </a:r>
            <a:r>
              <a:rPr lang="en-US" sz="4300" dirty="0"/>
              <a:t> </a:t>
            </a:r>
            <a:r>
              <a:rPr lang="en-US" sz="4300" dirty="0" err="1"/>
              <a:t>üçün</a:t>
            </a:r>
            <a:r>
              <a:rPr lang="en-US" sz="4300" dirty="0"/>
              <a:t> </a:t>
            </a:r>
            <a:r>
              <a:rPr lang="en-US" sz="4300" dirty="0" err="1"/>
              <a:t>hər</a:t>
            </a:r>
            <a:r>
              <a:rPr lang="en-US" sz="4300" dirty="0"/>
              <a:t> il </a:t>
            </a:r>
            <a:r>
              <a:rPr lang="en-US" sz="4300" b="1" dirty="0" err="1"/>
              <a:t>illik</a:t>
            </a:r>
            <a:r>
              <a:rPr lang="en-US" sz="4300" b="1" dirty="0"/>
              <a:t> patent </a:t>
            </a:r>
            <a:r>
              <a:rPr lang="en-US" sz="4300" b="1" dirty="0" err="1"/>
              <a:t>rüsumu</a:t>
            </a:r>
            <a:r>
              <a:rPr lang="en-US" sz="4300" dirty="0"/>
              <a:t> </a:t>
            </a:r>
            <a:r>
              <a:rPr lang="en-US" sz="4300" dirty="0" err="1"/>
              <a:t>ödənilməlidir</a:t>
            </a:r>
            <a:r>
              <a:rPr lang="en-US" sz="4300" dirty="0"/>
              <a:t>.</a:t>
            </a:r>
            <a:br>
              <a:rPr lang="en-US" sz="4300" dirty="0"/>
            </a:br>
            <a:r>
              <a:rPr lang="en-US" sz="4300" dirty="0" err="1"/>
              <a:t>Əks</a:t>
            </a:r>
            <a:r>
              <a:rPr lang="en-US" sz="4300" dirty="0"/>
              <a:t> </a:t>
            </a:r>
            <a:r>
              <a:rPr lang="en-US" sz="4300" dirty="0" err="1"/>
              <a:t>halda</a:t>
            </a:r>
            <a:r>
              <a:rPr lang="en-US" sz="4300" dirty="0"/>
              <a:t> patent </a:t>
            </a:r>
            <a:r>
              <a:rPr lang="en-US" sz="4300" b="1" dirty="0" err="1"/>
              <a:t>müddətindən</a:t>
            </a:r>
            <a:r>
              <a:rPr lang="en-US" sz="4300" b="1" dirty="0"/>
              <a:t> </a:t>
            </a:r>
            <a:r>
              <a:rPr lang="en-US" sz="4300" b="1" dirty="0" err="1"/>
              <a:t>əvvəl</a:t>
            </a:r>
            <a:r>
              <a:rPr lang="en-US" sz="4300" dirty="0"/>
              <a:t> </a:t>
            </a:r>
            <a:r>
              <a:rPr lang="en-US" sz="4300" dirty="0" err="1"/>
              <a:t>qüvvədən</a:t>
            </a:r>
            <a:r>
              <a:rPr lang="en-US" sz="4300" dirty="0"/>
              <a:t> </a:t>
            </a:r>
            <a:r>
              <a:rPr lang="en-US" sz="4300" dirty="0" err="1"/>
              <a:t>düşə</a:t>
            </a:r>
            <a:r>
              <a:rPr lang="en-US" sz="4300" dirty="0"/>
              <a:t> </a:t>
            </a:r>
            <a:r>
              <a:rPr lang="en-US" sz="4300" dirty="0" err="1"/>
              <a:t>bilər</a:t>
            </a:r>
            <a:r>
              <a:rPr lang="en-US" sz="4300" dirty="0"/>
              <a:t>.</a:t>
            </a:r>
            <a:br>
              <a:rPr lang="en-US" sz="4300" dirty="0"/>
            </a:br>
            <a:endParaRPr lang="en-US" sz="4300" dirty="0"/>
          </a:p>
          <a:p>
            <a:pPr marL="0" indent="0">
              <a:buNone/>
            </a:pPr>
            <a:r>
              <a:rPr lang="en-US" sz="4300" b="1" dirty="0"/>
              <a:t>🔹 4. </a:t>
            </a:r>
            <a:r>
              <a:rPr lang="en-US" sz="4300" b="1" dirty="0" err="1"/>
              <a:t>Beynəlxalq</a:t>
            </a:r>
            <a:r>
              <a:rPr lang="en-US" sz="4300" b="1" dirty="0"/>
              <a:t> </a:t>
            </a:r>
            <a:r>
              <a:rPr lang="en-US" sz="4300" b="1" dirty="0" err="1"/>
              <a:t>prioritet</a:t>
            </a:r>
            <a:r>
              <a:rPr lang="en-US" sz="4300" b="1" dirty="0"/>
              <a:t> </a:t>
            </a:r>
            <a:r>
              <a:rPr lang="en-US" sz="4300" b="1" dirty="0" err="1"/>
              <a:t>tarixi</a:t>
            </a:r>
            <a:r>
              <a:rPr lang="en-US" sz="4300" b="1" dirty="0"/>
              <a:t> </a:t>
            </a:r>
            <a:r>
              <a:rPr lang="en-US" sz="4300" b="1" dirty="0" err="1"/>
              <a:t>nəzərə</a:t>
            </a:r>
            <a:r>
              <a:rPr lang="en-US" sz="4300" b="1" dirty="0"/>
              <a:t> </a:t>
            </a:r>
            <a:r>
              <a:rPr lang="en-US" sz="4300" b="1" dirty="0" err="1"/>
              <a:t>alınır</a:t>
            </a:r>
            <a:endParaRPr lang="en-US" sz="4300" b="1" dirty="0"/>
          </a:p>
          <a:p>
            <a:r>
              <a:rPr lang="en-US" sz="4300" dirty="0" err="1"/>
              <a:t>Əgər</a:t>
            </a:r>
            <a:r>
              <a:rPr lang="en-US" sz="4300" dirty="0"/>
              <a:t> patent </a:t>
            </a:r>
            <a:r>
              <a:rPr lang="en-US" sz="4300" dirty="0" err="1"/>
              <a:t>ərizəsi</a:t>
            </a:r>
            <a:r>
              <a:rPr lang="en-US" sz="4300" dirty="0"/>
              <a:t> </a:t>
            </a:r>
            <a:r>
              <a:rPr lang="en-US" sz="4300" dirty="0" err="1"/>
              <a:t>beynəlxalq</a:t>
            </a:r>
            <a:r>
              <a:rPr lang="en-US" sz="4300" dirty="0"/>
              <a:t> </a:t>
            </a:r>
            <a:r>
              <a:rPr lang="en-US" sz="4300" dirty="0" err="1"/>
              <a:t>konvensiyalara</a:t>
            </a:r>
            <a:r>
              <a:rPr lang="en-US" sz="4300" dirty="0"/>
              <a:t> </a:t>
            </a:r>
            <a:r>
              <a:rPr lang="en-US" sz="4300" dirty="0" err="1"/>
              <a:t>əsasən</a:t>
            </a:r>
            <a:r>
              <a:rPr lang="en-US" sz="4300" dirty="0"/>
              <a:t> </a:t>
            </a:r>
            <a:r>
              <a:rPr lang="en-US" sz="4300" dirty="0" err="1"/>
              <a:t>başqa</a:t>
            </a:r>
            <a:r>
              <a:rPr lang="en-US" sz="4300" dirty="0"/>
              <a:t> </a:t>
            </a:r>
            <a:r>
              <a:rPr lang="en-US" sz="4300" dirty="0" err="1"/>
              <a:t>ölkələrə</a:t>
            </a:r>
            <a:r>
              <a:rPr lang="en-US" sz="4300" dirty="0"/>
              <a:t> </a:t>
            </a:r>
            <a:r>
              <a:rPr lang="en-US" sz="4300" dirty="0" err="1"/>
              <a:t>təqdim</a:t>
            </a:r>
            <a:r>
              <a:rPr lang="en-US" sz="4300" dirty="0"/>
              <a:t> </a:t>
            </a:r>
            <a:r>
              <a:rPr lang="en-US" sz="4300" dirty="0" err="1"/>
              <a:t>edilirsə</a:t>
            </a:r>
            <a:r>
              <a:rPr lang="en-US" sz="4300" dirty="0"/>
              <a:t>, </a:t>
            </a:r>
            <a:r>
              <a:rPr lang="en-US" sz="4300" b="1" dirty="0" err="1"/>
              <a:t>prioritet</a:t>
            </a:r>
            <a:r>
              <a:rPr lang="en-US" sz="4300" b="1" dirty="0"/>
              <a:t> </a:t>
            </a:r>
            <a:r>
              <a:rPr lang="en-US" sz="4300" b="1" dirty="0" err="1"/>
              <a:t>tarixi</a:t>
            </a:r>
            <a:r>
              <a:rPr lang="en-US" sz="4300" dirty="0"/>
              <a:t> </a:t>
            </a:r>
            <a:r>
              <a:rPr lang="en-US" sz="4300" dirty="0" err="1"/>
              <a:t>də</a:t>
            </a:r>
            <a:r>
              <a:rPr lang="en-US" sz="4300" dirty="0"/>
              <a:t> </a:t>
            </a:r>
            <a:r>
              <a:rPr lang="en-US" sz="4300" dirty="0" err="1"/>
              <a:t>əsas</a:t>
            </a:r>
            <a:r>
              <a:rPr lang="en-US" sz="4300" dirty="0"/>
              <a:t> </a:t>
            </a:r>
            <a:r>
              <a:rPr lang="en-US" sz="4300" dirty="0" err="1"/>
              <a:t>hesablanma</a:t>
            </a:r>
            <a:r>
              <a:rPr lang="en-US" sz="4300" dirty="0"/>
              <a:t> </a:t>
            </a:r>
            <a:r>
              <a:rPr lang="en-US" sz="4300" dirty="0" err="1"/>
              <a:t>nöqtəsi</a:t>
            </a:r>
            <a:r>
              <a:rPr lang="en-US" sz="4300" dirty="0"/>
              <a:t> ola </a:t>
            </a:r>
            <a:r>
              <a:rPr lang="en-US" sz="4300" dirty="0" err="1"/>
              <a:t>bilər</a:t>
            </a:r>
            <a:r>
              <a:rPr lang="en-US" sz="4300" dirty="0"/>
              <a:t> (</a:t>
            </a:r>
            <a:r>
              <a:rPr lang="en-US" sz="4300" dirty="0" err="1"/>
              <a:t>məsələn</a:t>
            </a:r>
            <a:r>
              <a:rPr lang="en-US" sz="4300" dirty="0"/>
              <a:t>, Paris </a:t>
            </a:r>
            <a:r>
              <a:rPr lang="en-US" sz="4300" dirty="0" err="1"/>
              <a:t>Konvensiyası</a:t>
            </a:r>
            <a:r>
              <a:rPr lang="en-US" sz="4300" dirty="0"/>
              <a:t>).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b="1" dirty="0"/>
              <a:t>🔹 5. </a:t>
            </a:r>
            <a:r>
              <a:rPr lang="en-US" sz="4300" b="1" dirty="0" err="1"/>
              <a:t>Uzadılma</a:t>
            </a:r>
            <a:r>
              <a:rPr lang="en-US" sz="4300" b="1" dirty="0"/>
              <a:t> </a:t>
            </a:r>
            <a:r>
              <a:rPr lang="en-US" sz="4300" b="1" dirty="0" err="1"/>
              <a:t>halları</a:t>
            </a:r>
            <a:r>
              <a:rPr lang="en-US" sz="4300" b="1" dirty="0"/>
              <a:t> </a:t>
            </a:r>
            <a:r>
              <a:rPr lang="en-US" sz="4300" b="1" dirty="0" err="1"/>
              <a:t>mümkündür</a:t>
            </a:r>
            <a:r>
              <a:rPr lang="en-US" sz="4300" b="1" dirty="0"/>
              <a:t> (</a:t>
            </a:r>
            <a:r>
              <a:rPr lang="en-US" sz="4300" b="1" dirty="0" err="1"/>
              <a:t>xüsusi</a:t>
            </a:r>
            <a:r>
              <a:rPr lang="en-US" sz="4300" b="1" dirty="0"/>
              <a:t> </a:t>
            </a:r>
            <a:r>
              <a:rPr lang="en-US" sz="4300" b="1" dirty="0" err="1"/>
              <a:t>sahələr</a:t>
            </a:r>
            <a:r>
              <a:rPr lang="en-US" sz="4300" b="1" dirty="0"/>
              <a:t>)</a:t>
            </a:r>
          </a:p>
          <a:p>
            <a:r>
              <a:rPr lang="en-US" sz="4300" dirty="0" err="1"/>
              <a:t>Bəzi</a:t>
            </a:r>
            <a:r>
              <a:rPr lang="en-US" sz="4300" dirty="0"/>
              <a:t> </a:t>
            </a:r>
            <a:r>
              <a:rPr lang="en-US" sz="4300" dirty="0" err="1"/>
              <a:t>texnoloji</a:t>
            </a:r>
            <a:r>
              <a:rPr lang="en-US" sz="4300" dirty="0"/>
              <a:t> </a:t>
            </a:r>
            <a:r>
              <a:rPr lang="en-US" sz="4300" dirty="0" err="1"/>
              <a:t>sahələrdə</a:t>
            </a:r>
            <a:r>
              <a:rPr lang="en-US" sz="4300" dirty="0"/>
              <a:t> — </a:t>
            </a:r>
            <a:r>
              <a:rPr lang="en-US" sz="4300" dirty="0" err="1"/>
              <a:t>əsasən</a:t>
            </a:r>
            <a:r>
              <a:rPr lang="en-US" sz="4300" dirty="0"/>
              <a:t> </a:t>
            </a:r>
            <a:r>
              <a:rPr lang="en-US" sz="4300" b="1" dirty="0" err="1"/>
              <a:t>dərman</a:t>
            </a:r>
            <a:r>
              <a:rPr lang="en-US" sz="4300" b="1" dirty="0"/>
              <a:t> </a:t>
            </a:r>
            <a:r>
              <a:rPr lang="en-US" sz="4300" b="1" dirty="0" err="1"/>
              <a:t>və</a:t>
            </a:r>
            <a:r>
              <a:rPr lang="en-US" sz="4300" b="1" dirty="0"/>
              <a:t> </a:t>
            </a:r>
            <a:r>
              <a:rPr lang="en-US" sz="4300" b="1" dirty="0" err="1"/>
              <a:t>biotexnologiya</a:t>
            </a:r>
            <a:r>
              <a:rPr lang="en-US" sz="4300" dirty="0"/>
              <a:t> — </a:t>
            </a:r>
            <a:r>
              <a:rPr lang="en-US" sz="4300" dirty="0" err="1"/>
              <a:t>əlavə</a:t>
            </a:r>
            <a:r>
              <a:rPr lang="en-US" sz="4300" dirty="0"/>
              <a:t> </a:t>
            </a:r>
            <a:r>
              <a:rPr lang="en-US" sz="4300" dirty="0" err="1"/>
              <a:t>qoruma</a:t>
            </a:r>
            <a:r>
              <a:rPr lang="en-US" sz="4300" dirty="0"/>
              <a:t> </a:t>
            </a:r>
            <a:r>
              <a:rPr lang="en-US" sz="4300" dirty="0" err="1"/>
              <a:t>müddəti</a:t>
            </a:r>
            <a:r>
              <a:rPr lang="en-US" sz="4300" dirty="0"/>
              <a:t> (SPC) </a:t>
            </a:r>
            <a:r>
              <a:rPr lang="en-US" sz="4300" dirty="0" err="1"/>
              <a:t>verilə</a:t>
            </a:r>
            <a:r>
              <a:rPr lang="en-US" sz="4300" dirty="0"/>
              <a:t> </a:t>
            </a:r>
            <a:r>
              <a:rPr lang="en-US" sz="4300" dirty="0" err="1"/>
              <a:t>bilər</a:t>
            </a:r>
            <a:r>
              <a:rPr lang="en-US" sz="4300" dirty="0"/>
              <a:t>.</a:t>
            </a:r>
            <a:br>
              <a:rPr lang="en-US" sz="4300" dirty="0"/>
            </a:br>
            <a:r>
              <a:rPr lang="en-US" sz="4300" dirty="0"/>
              <a:t>Bu, </a:t>
            </a:r>
            <a:r>
              <a:rPr lang="en-US" sz="4300" dirty="0" err="1"/>
              <a:t>adətən</a:t>
            </a:r>
            <a:r>
              <a:rPr lang="en-US" sz="4300" dirty="0"/>
              <a:t> </a:t>
            </a:r>
            <a:r>
              <a:rPr lang="en-US" sz="4300" dirty="0" err="1"/>
              <a:t>əsas</a:t>
            </a:r>
            <a:r>
              <a:rPr lang="en-US" sz="4300" dirty="0"/>
              <a:t> patent </a:t>
            </a:r>
            <a:r>
              <a:rPr lang="en-US" sz="4300" dirty="0" err="1"/>
              <a:t>müddətinin</a:t>
            </a:r>
            <a:r>
              <a:rPr lang="en-US" sz="4300" dirty="0"/>
              <a:t> 20 </a:t>
            </a:r>
            <a:r>
              <a:rPr lang="en-US" sz="4300" dirty="0" err="1"/>
              <a:t>ildən</a:t>
            </a:r>
            <a:r>
              <a:rPr lang="en-US" sz="4300" dirty="0"/>
              <a:t> </a:t>
            </a:r>
            <a:r>
              <a:rPr lang="en-US" sz="4300" dirty="0" err="1"/>
              <a:t>sonra</a:t>
            </a:r>
            <a:r>
              <a:rPr lang="en-US" sz="4300" dirty="0"/>
              <a:t> </a:t>
            </a:r>
            <a:r>
              <a:rPr lang="en-US" sz="4300" dirty="0" err="1"/>
              <a:t>bir</a:t>
            </a:r>
            <a:r>
              <a:rPr lang="en-US" sz="4300" dirty="0"/>
              <a:t> </a:t>
            </a:r>
            <a:r>
              <a:rPr lang="en-US" sz="4300" dirty="0" err="1"/>
              <a:t>neçə</a:t>
            </a:r>
            <a:r>
              <a:rPr lang="en-US" sz="4300" dirty="0"/>
              <a:t> il </a:t>
            </a:r>
            <a:r>
              <a:rPr lang="en-US" sz="4300" dirty="0" err="1"/>
              <a:t>artırılması</a:t>
            </a:r>
            <a:r>
              <a:rPr lang="en-US" sz="4300" dirty="0"/>
              <a:t> </a:t>
            </a:r>
            <a:r>
              <a:rPr lang="en-US" sz="4300" dirty="0" err="1"/>
              <a:t>deməkdir</a:t>
            </a:r>
            <a:r>
              <a:rPr lang="en-US" sz="43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75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B262-2697-619D-BE5F-4E3B9CE9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/>
              <a:t>Patent sahibini hüquqları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7962A-6065-592E-4676-4B0D3D73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32351"/>
          </a:xfrm>
        </p:spPr>
        <p:txBody>
          <a:bodyPr>
            <a:normAutofit/>
          </a:bodyPr>
          <a:lstStyle/>
          <a:p>
            <a:r>
              <a:rPr lang="en-US" sz="1600" dirty="0"/>
              <a:t>Patent </a:t>
            </a:r>
            <a:r>
              <a:rPr lang="en-US" sz="1600" dirty="0" err="1"/>
              <a:t>sahibi</a:t>
            </a:r>
            <a:r>
              <a:rPr lang="en-US" sz="1600" dirty="0"/>
              <a:t> </a:t>
            </a:r>
            <a:r>
              <a:rPr lang="en-US" sz="1600" dirty="0" err="1"/>
              <a:t>patentlə</a:t>
            </a:r>
            <a:r>
              <a:rPr lang="en-US" sz="1600" dirty="0"/>
              <a:t> </a:t>
            </a:r>
            <a:r>
              <a:rPr lang="en-US" sz="1600" dirty="0" err="1"/>
              <a:t>qorunan</a:t>
            </a:r>
            <a:r>
              <a:rPr lang="en-US" sz="1600" dirty="0"/>
              <a:t> </a:t>
            </a:r>
            <a:r>
              <a:rPr lang="en-US" sz="1600" dirty="0" err="1"/>
              <a:t>ixtiradan</a:t>
            </a:r>
            <a:r>
              <a:rPr lang="en-US" sz="1600" dirty="0"/>
              <a:t> </a:t>
            </a:r>
            <a:r>
              <a:rPr lang="en-US" sz="1600" b="1" dirty="0" err="1"/>
              <a:t>müstəsna</a:t>
            </a:r>
            <a:r>
              <a:rPr lang="en-US" sz="1600" b="1" dirty="0"/>
              <a:t> </a:t>
            </a:r>
            <a:r>
              <a:rPr lang="en-US" sz="1600" b="1" dirty="0" err="1"/>
              <a:t>şəkildə</a:t>
            </a:r>
            <a:r>
              <a:rPr lang="en-US" sz="1600" b="1" dirty="0"/>
              <a:t> </a:t>
            </a:r>
            <a:r>
              <a:rPr lang="en-US" sz="1600" b="1" dirty="0" err="1"/>
              <a:t>istifadə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r>
              <a:rPr lang="en-US" sz="1600" b="1" dirty="0"/>
              <a:t> </a:t>
            </a:r>
            <a:r>
              <a:rPr lang="en-US" sz="1600" b="1" dirty="0" err="1"/>
              <a:t>və</a:t>
            </a:r>
            <a:r>
              <a:rPr lang="en-US" sz="1600" b="1" dirty="0"/>
              <a:t> </a:t>
            </a:r>
            <a:r>
              <a:rPr lang="en-US" sz="1600" b="1" dirty="0" err="1"/>
              <a:t>onun</a:t>
            </a:r>
            <a:r>
              <a:rPr lang="en-US" sz="1600" b="1" dirty="0"/>
              <a:t> </a:t>
            </a:r>
            <a:r>
              <a:rPr lang="en-US" sz="1600" b="1" dirty="0" err="1"/>
              <a:t>istifadəsini</a:t>
            </a:r>
            <a:r>
              <a:rPr lang="en-US" sz="1600" b="1" dirty="0"/>
              <a:t> </a:t>
            </a:r>
            <a:r>
              <a:rPr lang="en-US" sz="1600" b="1" dirty="0" err="1"/>
              <a:t>başqalarına</a:t>
            </a:r>
            <a:r>
              <a:rPr lang="en-US" sz="1600" b="1" dirty="0"/>
              <a:t> </a:t>
            </a:r>
            <a:r>
              <a:rPr lang="en-US" sz="1600" b="1" dirty="0" err="1"/>
              <a:t>qadağan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r>
              <a:rPr lang="en-US" sz="1600" b="1" dirty="0"/>
              <a:t> </a:t>
            </a:r>
            <a:r>
              <a:rPr lang="en-US" sz="1600" b="1" dirty="0" err="1"/>
              <a:t>hüququna</a:t>
            </a:r>
            <a:r>
              <a:rPr lang="en-US" sz="1600" b="1" dirty="0"/>
              <a:t> </a:t>
            </a:r>
            <a:r>
              <a:rPr lang="en-US" sz="1600" b="1" dirty="0" err="1"/>
              <a:t>malikdir</a:t>
            </a:r>
            <a:r>
              <a:rPr lang="en-US" sz="1600" b="1" dirty="0"/>
              <a:t>.</a:t>
            </a:r>
            <a:r>
              <a:rPr lang="en-US" sz="1600" dirty="0"/>
              <a:t> Bu </a:t>
            </a:r>
            <a:r>
              <a:rPr lang="en-US" sz="1600" dirty="0" err="1"/>
              <a:t>hüquqlara</a:t>
            </a:r>
            <a:r>
              <a:rPr lang="en-US" sz="1600" dirty="0"/>
              <a:t> </a:t>
            </a:r>
            <a:r>
              <a:rPr lang="en-US" sz="1600" dirty="0" err="1"/>
              <a:t>daxildir</a:t>
            </a:r>
            <a:r>
              <a:rPr lang="en-US" sz="1600" dirty="0"/>
              <a:t>:</a:t>
            </a:r>
          </a:p>
          <a:p>
            <a:r>
              <a:rPr lang="en-US" sz="1600" dirty="0" err="1"/>
              <a:t>İxtiranı</a:t>
            </a:r>
            <a:r>
              <a:rPr lang="en-US" sz="1600" dirty="0"/>
              <a:t> </a:t>
            </a:r>
            <a:r>
              <a:rPr lang="en-US" sz="1600" b="1" dirty="0" err="1"/>
              <a:t>istehsal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r>
              <a:rPr lang="en-US" sz="1600" b="1" dirty="0"/>
              <a:t>, </a:t>
            </a:r>
            <a:r>
              <a:rPr lang="en-US" sz="1600" b="1" dirty="0" err="1"/>
              <a:t>tətbiq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r>
              <a:rPr lang="en-US" sz="1600" b="1" dirty="0"/>
              <a:t>, </a:t>
            </a:r>
            <a:r>
              <a:rPr lang="en-US" sz="1600" b="1" dirty="0" err="1"/>
              <a:t>satmaq</a:t>
            </a:r>
            <a:r>
              <a:rPr lang="en-US" sz="1600" b="1" dirty="0"/>
              <a:t> </a:t>
            </a:r>
            <a:r>
              <a:rPr lang="en-US" sz="1600" b="1" dirty="0" err="1"/>
              <a:t>və</a:t>
            </a:r>
            <a:r>
              <a:rPr lang="en-US" sz="1600" b="1" dirty="0"/>
              <a:t> </a:t>
            </a:r>
            <a:r>
              <a:rPr lang="en-US" sz="1600" b="1" dirty="0" err="1"/>
              <a:t>yaymaq</a:t>
            </a:r>
            <a:r>
              <a:rPr lang="en-US" sz="1600" dirty="0"/>
              <a:t> </a:t>
            </a:r>
            <a:r>
              <a:rPr lang="en-US" sz="1600" dirty="0" err="1"/>
              <a:t>hüququ</a:t>
            </a:r>
            <a:endParaRPr lang="en-US" sz="1600" dirty="0"/>
          </a:p>
          <a:p>
            <a:r>
              <a:rPr lang="en-US" sz="1600" dirty="0" err="1"/>
              <a:t>Üçüncü</a:t>
            </a:r>
            <a:r>
              <a:rPr lang="en-US" sz="1600" dirty="0"/>
              <a:t> </a:t>
            </a:r>
            <a:r>
              <a:rPr lang="en-US" sz="1600" dirty="0" err="1"/>
              <a:t>şəxslərə</a:t>
            </a:r>
            <a:r>
              <a:rPr lang="en-US" sz="1600" dirty="0"/>
              <a:t> </a:t>
            </a:r>
            <a:r>
              <a:rPr lang="en-US" sz="1600" dirty="0" err="1"/>
              <a:t>icazəsiz</a:t>
            </a:r>
            <a:r>
              <a:rPr lang="en-US" sz="1600" dirty="0"/>
              <a:t> </a:t>
            </a:r>
            <a:r>
              <a:rPr lang="en-US" sz="1600" dirty="0" err="1"/>
              <a:t>istifadəni</a:t>
            </a:r>
            <a:r>
              <a:rPr lang="en-US" sz="1600" dirty="0"/>
              <a:t> </a:t>
            </a:r>
            <a:r>
              <a:rPr lang="en-US" sz="1600" b="1" dirty="0" err="1"/>
              <a:t>qadağan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endParaRPr lang="en-US" sz="1600" dirty="0"/>
          </a:p>
          <a:p>
            <a:r>
              <a:rPr lang="en-US" sz="1600" dirty="0" err="1"/>
              <a:t>Patentdən</a:t>
            </a:r>
            <a:r>
              <a:rPr lang="en-US" sz="1600" dirty="0"/>
              <a:t> </a:t>
            </a:r>
            <a:r>
              <a:rPr lang="en-US" sz="1600" b="1" dirty="0" err="1"/>
              <a:t>lisensiya</a:t>
            </a:r>
            <a:r>
              <a:rPr lang="en-US" sz="1600" b="1" dirty="0"/>
              <a:t> </a:t>
            </a:r>
            <a:r>
              <a:rPr lang="en-US" sz="1600" b="1" dirty="0" err="1"/>
              <a:t>vermək</a:t>
            </a:r>
            <a:r>
              <a:rPr lang="en-US" sz="1600" dirty="0"/>
              <a:t> </a:t>
            </a:r>
            <a:r>
              <a:rPr lang="en-US" sz="1600" dirty="0" err="1"/>
              <a:t>və</a:t>
            </a:r>
            <a:r>
              <a:rPr lang="en-US" sz="1600" dirty="0"/>
              <a:t>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b="1" dirty="0"/>
              <a:t>tam </a:t>
            </a:r>
            <a:r>
              <a:rPr lang="en-US" sz="1600" b="1" dirty="0" err="1"/>
              <a:t>satmaq</a:t>
            </a:r>
            <a:r>
              <a:rPr lang="en-US" sz="1600" dirty="0"/>
              <a:t> </a:t>
            </a:r>
            <a:r>
              <a:rPr lang="en-US" sz="1600" dirty="0" err="1"/>
              <a:t>imkanı</a:t>
            </a:r>
            <a:endParaRPr lang="en-US" sz="1600" dirty="0"/>
          </a:p>
          <a:p>
            <a:r>
              <a:rPr lang="en-US" sz="1600" dirty="0"/>
              <a:t>Patent </a:t>
            </a:r>
            <a:r>
              <a:rPr lang="en-US" sz="1600" dirty="0" err="1"/>
              <a:t>hüquqlarının</a:t>
            </a:r>
            <a:r>
              <a:rPr lang="en-US" sz="1600" dirty="0"/>
              <a:t> </a:t>
            </a:r>
            <a:r>
              <a:rPr lang="en-US" sz="1600" b="1" dirty="0" err="1"/>
              <a:t>müdafiəsi</a:t>
            </a:r>
            <a:r>
              <a:rPr lang="en-US" sz="1600" b="1" dirty="0"/>
              <a:t> </a:t>
            </a:r>
            <a:r>
              <a:rPr lang="en-US" sz="1600" b="1" dirty="0" err="1"/>
              <a:t>üçün</a:t>
            </a:r>
            <a:r>
              <a:rPr lang="en-US" sz="1600" b="1" dirty="0"/>
              <a:t> </a:t>
            </a:r>
            <a:r>
              <a:rPr lang="en-US" sz="1600" b="1" dirty="0" err="1"/>
              <a:t>məhkəməyə</a:t>
            </a:r>
            <a:r>
              <a:rPr lang="en-US" sz="1600" b="1" dirty="0"/>
              <a:t> </a:t>
            </a:r>
            <a:r>
              <a:rPr lang="en-US" sz="1600" b="1" dirty="0" err="1"/>
              <a:t>müraciət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endParaRPr lang="en-US" sz="1600" dirty="0"/>
          </a:p>
          <a:p>
            <a:r>
              <a:rPr lang="en-US" sz="1600" dirty="0" err="1"/>
              <a:t>Patentdən</a:t>
            </a:r>
            <a:r>
              <a:rPr lang="en-US" sz="1600" dirty="0"/>
              <a:t> </a:t>
            </a:r>
            <a:r>
              <a:rPr lang="en-US" sz="1600" dirty="0" err="1"/>
              <a:t>əldə</a:t>
            </a:r>
            <a:r>
              <a:rPr lang="en-US" sz="1600" dirty="0"/>
              <a:t> </a:t>
            </a:r>
            <a:r>
              <a:rPr lang="en-US" sz="1600" dirty="0" err="1"/>
              <a:t>olunan</a:t>
            </a:r>
            <a:r>
              <a:rPr lang="en-US" sz="1600" dirty="0"/>
              <a:t> </a:t>
            </a:r>
            <a:r>
              <a:rPr lang="en-US" sz="1600" dirty="0" err="1"/>
              <a:t>gəliri</a:t>
            </a:r>
            <a:r>
              <a:rPr lang="en-US" sz="1600" dirty="0"/>
              <a:t> tam </a:t>
            </a:r>
            <a:r>
              <a:rPr lang="en-US" sz="1600" dirty="0" err="1"/>
              <a:t>şəkildə</a:t>
            </a:r>
            <a:r>
              <a:rPr lang="en-US" sz="1600" dirty="0"/>
              <a:t> </a:t>
            </a:r>
            <a:r>
              <a:rPr lang="en-US" sz="1600" b="1" dirty="0" err="1"/>
              <a:t>idarə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r>
              <a:rPr lang="en-US" sz="1600" b="1" dirty="0"/>
              <a:t> </a:t>
            </a:r>
            <a:r>
              <a:rPr lang="en-US" sz="1600" b="1" dirty="0" err="1"/>
              <a:t>və</a:t>
            </a:r>
            <a:r>
              <a:rPr lang="en-US" sz="1600" b="1" dirty="0"/>
              <a:t> </a:t>
            </a:r>
            <a:r>
              <a:rPr lang="en-US" sz="1600" b="1" dirty="0" err="1"/>
              <a:t>istifadə</a:t>
            </a:r>
            <a:r>
              <a:rPr lang="en-US" sz="1600" b="1" dirty="0"/>
              <a:t> </a:t>
            </a:r>
            <a:r>
              <a:rPr lang="en-US" sz="1600" b="1" dirty="0" err="1"/>
              <a:t>etmək</a:t>
            </a:r>
            <a:endParaRPr lang="en-US" sz="1600" dirty="0"/>
          </a:p>
          <a:p>
            <a:endParaRPr lang="en-US" dirty="0"/>
          </a:p>
        </p:txBody>
      </p:sp>
      <p:pic>
        <p:nvPicPr>
          <p:cNvPr id="2050" name="Picture 2" descr="Hüquq - Best Finance Solution">
            <a:extLst>
              <a:ext uri="{FF2B5EF4-FFF2-40B4-BE49-F238E27FC236}">
                <a16:creationId xmlns:a16="http://schemas.microsoft.com/office/drawing/2014/main" id="{BA598673-5785-ED7C-A82F-C36A503D5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144" y="3777521"/>
            <a:ext cx="6580682" cy="292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03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3982-7876-BE0C-D059-195F036A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z-Latn-AZ" b="1" dirty="0">
                <a:latin typeface="Footlight MT Light" panose="0204060206030A020304" pitchFamily="18" charset="0"/>
              </a:rPr>
              <a:t>Patent hüququna təsir edən amillər</a:t>
            </a:r>
            <a:endParaRPr lang="en-US" b="1" dirty="0">
              <a:latin typeface="Footlight MT Light" panose="0204060206030A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3B46E-DDE6-54FE-946D-AC5CE9DA0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/>
              <a:t>Patent </a:t>
            </a:r>
            <a:r>
              <a:rPr lang="en-US" sz="3600" b="1" dirty="0" err="1"/>
              <a:t>hüququnun</a:t>
            </a:r>
            <a:r>
              <a:rPr lang="en-US" sz="3600" b="1" dirty="0"/>
              <a:t> </a:t>
            </a:r>
            <a:r>
              <a:rPr lang="en-US" sz="3600" b="1" dirty="0" err="1"/>
              <a:t>effektiv</a:t>
            </a:r>
            <a:r>
              <a:rPr lang="en-US" sz="3600" b="1" dirty="0"/>
              <a:t> </a:t>
            </a:r>
            <a:r>
              <a:rPr lang="en-US" sz="3600" b="1" dirty="0" err="1"/>
              <a:t>fəaliyyəti</a:t>
            </a:r>
            <a:r>
              <a:rPr lang="en-US" sz="3600" b="1" dirty="0"/>
              <a:t> </a:t>
            </a:r>
            <a:r>
              <a:rPr lang="en-US" sz="3600" b="1" dirty="0" err="1"/>
              <a:t>bir</a:t>
            </a:r>
            <a:r>
              <a:rPr lang="en-US" sz="3600" b="1" dirty="0"/>
              <a:t> </a:t>
            </a:r>
            <a:r>
              <a:rPr lang="en-US" sz="3600" b="1" dirty="0" err="1"/>
              <a:t>sıra</a:t>
            </a:r>
            <a:r>
              <a:rPr lang="en-US" sz="3600" b="1" dirty="0"/>
              <a:t> </a:t>
            </a:r>
            <a:r>
              <a:rPr lang="en-US" sz="3600" b="1" dirty="0" err="1"/>
              <a:t>amillərdən</a:t>
            </a:r>
            <a:r>
              <a:rPr lang="en-US" sz="3600" b="1" dirty="0"/>
              <a:t> </a:t>
            </a:r>
            <a:r>
              <a:rPr lang="en-US" sz="3600" b="1" dirty="0" err="1"/>
              <a:t>asılıdır</a:t>
            </a:r>
            <a:r>
              <a:rPr lang="en-US" sz="3600" b="1" dirty="0"/>
              <a:t>:</a:t>
            </a:r>
          </a:p>
          <a:p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İllik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rüsumların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ödənilməsi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Rüsumlar</a:t>
            </a:r>
            <a:r>
              <a:rPr lang="en-US" dirty="0"/>
              <a:t> </a:t>
            </a:r>
            <a:r>
              <a:rPr lang="en-US" dirty="0" err="1"/>
              <a:t>vaxtında</a:t>
            </a:r>
            <a:r>
              <a:rPr lang="en-US" dirty="0"/>
              <a:t> </a:t>
            </a:r>
            <a:r>
              <a:rPr lang="en-US" dirty="0" err="1"/>
              <a:t>ödənmədikdə</a:t>
            </a:r>
            <a:r>
              <a:rPr lang="en-US" dirty="0"/>
              <a:t> patent </a:t>
            </a:r>
            <a:r>
              <a:rPr lang="en-US" dirty="0" err="1"/>
              <a:t>qüvvədən</a:t>
            </a:r>
            <a:r>
              <a:rPr lang="en-US" dirty="0"/>
              <a:t> </a:t>
            </a:r>
            <a:r>
              <a:rPr lang="en-US" dirty="0" err="1"/>
              <a:t>düşür</a:t>
            </a:r>
            <a:r>
              <a:rPr lang="en-US" dirty="0"/>
              <a:t>.</a:t>
            </a:r>
          </a:p>
          <a:p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Qanunvericilik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tələbləri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ölkənin</a:t>
            </a:r>
            <a:r>
              <a:rPr lang="en-US" dirty="0"/>
              <a:t> patent </a:t>
            </a:r>
            <a:r>
              <a:rPr lang="en-US" dirty="0" err="1"/>
              <a:t>qanunları</a:t>
            </a:r>
            <a:r>
              <a:rPr lang="en-US" dirty="0"/>
              <a:t> </a:t>
            </a:r>
            <a:r>
              <a:rPr lang="en-US" dirty="0" err="1"/>
              <a:t>fərqlidir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müddətə</a:t>
            </a:r>
            <a:r>
              <a:rPr lang="en-US" dirty="0"/>
              <a:t>, </a:t>
            </a:r>
            <a:r>
              <a:rPr lang="en-US" dirty="0" err="1"/>
              <a:t>müdafiə</a:t>
            </a:r>
            <a:r>
              <a:rPr lang="en-US" dirty="0"/>
              <a:t> </a:t>
            </a:r>
            <a:r>
              <a:rPr lang="en-US" dirty="0" err="1"/>
              <a:t>səviyyəsinə</a:t>
            </a:r>
            <a:r>
              <a:rPr lang="en-US" dirty="0"/>
              <a:t> </a:t>
            </a:r>
            <a:r>
              <a:rPr lang="en-US" dirty="0" err="1"/>
              <a:t>təsir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Patent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sahibinin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müdafiə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fəaliyyəti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err="1"/>
              <a:t>İcazəsiz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aşkarlandıqda</a:t>
            </a:r>
            <a:r>
              <a:rPr lang="en-US" dirty="0"/>
              <a:t> </a:t>
            </a:r>
            <a:r>
              <a:rPr lang="en-US" dirty="0" err="1"/>
              <a:t>hüquqi</a:t>
            </a:r>
            <a:r>
              <a:rPr lang="en-US" dirty="0"/>
              <a:t> </a:t>
            </a:r>
            <a:r>
              <a:rPr lang="en-US" dirty="0" err="1"/>
              <a:t>tədbirlərin</a:t>
            </a:r>
            <a:r>
              <a:rPr lang="en-US" dirty="0"/>
              <a:t> </a:t>
            </a:r>
            <a:r>
              <a:rPr lang="en-US" dirty="0" err="1"/>
              <a:t>görülməsi</a:t>
            </a:r>
            <a:r>
              <a:rPr lang="en-US" dirty="0"/>
              <a:t> </a:t>
            </a:r>
            <a:r>
              <a:rPr lang="en-US" dirty="0" err="1"/>
              <a:t>vacibdir</a:t>
            </a:r>
            <a:r>
              <a:rPr lang="en-US" dirty="0"/>
              <a:t>.</a:t>
            </a:r>
          </a:p>
          <a:p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Texnologiyanın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yeniliyi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və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aktuallığı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 err="1"/>
              <a:t>Sürətlə</a:t>
            </a:r>
            <a:r>
              <a:rPr lang="en-US" dirty="0"/>
              <a:t> </a:t>
            </a:r>
            <a:r>
              <a:rPr lang="en-US" dirty="0" err="1"/>
              <a:t>dəyişən</a:t>
            </a:r>
            <a:r>
              <a:rPr lang="en-US" dirty="0"/>
              <a:t> </a:t>
            </a:r>
            <a:r>
              <a:rPr lang="en-US" dirty="0" err="1"/>
              <a:t>sahələrdə</a:t>
            </a:r>
            <a:r>
              <a:rPr lang="en-US" dirty="0"/>
              <a:t> </a:t>
            </a:r>
            <a:r>
              <a:rPr lang="en-US" dirty="0" err="1"/>
              <a:t>patentin</a:t>
            </a:r>
            <a:r>
              <a:rPr lang="en-US" dirty="0"/>
              <a:t> </a:t>
            </a:r>
            <a:r>
              <a:rPr lang="en-US" dirty="0" err="1"/>
              <a:t>iqtisadi</a:t>
            </a:r>
            <a:r>
              <a:rPr lang="en-US" dirty="0"/>
              <a:t> </a:t>
            </a:r>
            <a:r>
              <a:rPr lang="en-US" dirty="0" err="1"/>
              <a:t>dəyəri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azala</a:t>
            </a:r>
            <a:r>
              <a:rPr lang="en-US" dirty="0"/>
              <a:t> </a:t>
            </a:r>
            <a:r>
              <a:rPr lang="en-US" dirty="0" err="1"/>
              <a:t>bilər</a:t>
            </a:r>
            <a:r>
              <a:rPr lang="en-US" dirty="0"/>
              <a:t>.</a:t>
            </a:r>
          </a:p>
          <a:p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Beynəlxalq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qorunma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strategiyası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dirty="0"/>
              <a:t>Patent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müraciət</a:t>
            </a:r>
            <a:r>
              <a:rPr lang="en-US" dirty="0"/>
              <a:t> </a:t>
            </a:r>
            <a:r>
              <a:rPr lang="en-US" dirty="0" err="1"/>
              <a:t>edilən</a:t>
            </a:r>
            <a:r>
              <a:rPr lang="en-US" dirty="0"/>
              <a:t> </a:t>
            </a:r>
            <a:r>
              <a:rPr lang="en-US" dirty="0" err="1"/>
              <a:t>ölkələrdə</a:t>
            </a:r>
            <a:r>
              <a:rPr lang="en-US" dirty="0"/>
              <a:t> </a:t>
            </a:r>
            <a:r>
              <a:rPr lang="en-US" dirty="0" err="1"/>
              <a:t>qorunur</a:t>
            </a:r>
            <a:r>
              <a:rPr lang="en-US" dirty="0"/>
              <a:t>; </a:t>
            </a:r>
            <a:r>
              <a:rPr lang="en-US" dirty="0" err="1"/>
              <a:t>düzgün</a:t>
            </a:r>
            <a:r>
              <a:rPr lang="en-US" dirty="0"/>
              <a:t> </a:t>
            </a:r>
            <a:r>
              <a:rPr lang="en-US" dirty="0" err="1"/>
              <a:t>strategiya</a:t>
            </a:r>
            <a:r>
              <a:rPr lang="en-US" dirty="0"/>
              <a:t> </a:t>
            </a:r>
            <a:r>
              <a:rPr lang="en-US" dirty="0" err="1"/>
              <a:t>fəaliyyət</a:t>
            </a:r>
            <a:r>
              <a:rPr lang="en-US" dirty="0"/>
              <a:t> </a:t>
            </a:r>
            <a:r>
              <a:rPr lang="en-US" dirty="0" err="1"/>
              <a:t>dairəsini</a:t>
            </a:r>
            <a:r>
              <a:rPr lang="en-US" dirty="0"/>
              <a:t> </a:t>
            </a:r>
            <a:r>
              <a:rPr lang="en-US" dirty="0" err="1"/>
              <a:t>genişləndirir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0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76A0-1955-E31B-8B2C-B3B9BC490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b="1" dirty="0">
                <a:latin typeface="Viner Hand ITC" panose="03070502030502020203" pitchFamily="66" charset="0"/>
              </a:rPr>
              <a:t>NƏTİCƏ</a:t>
            </a:r>
            <a:endParaRPr lang="en-US" b="1" dirty="0">
              <a:latin typeface="Viner Hand ITC" panose="03070502030502020203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2A1C5-5BDD-6363-7677-AC0A9390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Patent </a:t>
            </a:r>
            <a:r>
              <a:rPr lang="en-US" sz="2800" dirty="0" err="1"/>
              <a:t>sistemi</a:t>
            </a:r>
            <a:r>
              <a:rPr lang="en-US" sz="2800" dirty="0"/>
              <a:t> </a:t>
            </a:r>
            <a:r>
              <a:rPr lang="en-US" sz="2800" dirty="0" err="1"/>
              <a:t>innovasiyanın</a:t>
            </a:r>
            <a:r>
              <a:rPr lang="en-US" sz="2800" dirty="0"/>
              <a:t> </a:t>
            </a:r>
            <a:r>
              <a:rPr lang="en-US" sz="2800" dirty="0" err="1"/>
              <a:t>inkişafı</a:t>
            </a:r>
            <a:r>
              <a:rPr lang="en-US" sz="2800" dirty="0"/>
              <a:t>, </a:t>
            </a:r>
            <a:r>
              <a:rPr lang="en-US" sz="2800" dirty="0" err="1"/>
              <a:t>ixtiraçıların</a:t>
            </a:r>
            <a:r>
              <a:rPr lang="en-US" sz="2800" dirty="0"/>
              <a:t> </a:t>
            </a:r>
            <a:r>
              <a:rPr lang="en-US" sz="2800" dirty="0" err="1"/>
              <a:t>hüquqlarının</a:t>
            </a:r>
            <a:r>
              <a:rPr lang="en-US" sz="2800" dirty="0"/>
              <a:t> </a:t>
            </a:r>
            <a:r>
              <a:rPr lang="en-US" sz="2800" dirty="0" err="1"/>
              <a:t>qorunması</a:t>
            </a:r>
            <a:r>
              <a:rPr lang="en-US" sz="2800" dirty="0"/>
              <a:t> </a:t>
            </a:r>
            <a:r>
              <a:rPr lang="en-US" sz="2800" dirty="0" err="1"/>
              <a:t>və</a:t>
            </a:r>
            <a:r>
              <a:rPr lang="en-US" sz="2800" dirty="0"/>
              <a:t> </a:t>
            </a:r>
            <a:r>
              <a:rPr lang="en-US" sz="2800" dirty="0" err="1"/>
              <a:t>texnoloji</a:t>
            </a:r>
            <a:r>
              <a:rPr lang="en-US" sz="2800" dirty="0"/>
              <a:t> </a:t>
            </a:r>
            <a:r>
              <a:rPr lang="en-US" sz="2800" dirty="0" err="1"/>
              <a:t>tərəqqinin</a:t>
            </a:r>
            <a:r>
              <a:rPr lang="en-US" sz="2800" dirty="0"/>
              <a:t> </a:t>
            </a:r>
            <a:r>
              <a:rPr lang="en-US" sz="2800" dirty="0" err="1"/>
              <a:t>sürətlənməsi</a:t>
            </a:r>
            <a:r>
              <a:rPr lang="en-US" sz="2800" dirty="0"/>
              <a:t> </a:t>
            </a:r>
            <a:r>
              <a:rPr lang="en-US" sz="2800" dirty="0" err="1"/>
              <a:t>üçün</a:t>
            </a:r>
            <a:r>
              <a:rPr lang="en-US" sz="2800" dirty="0"/>
              <a:t> </a:t>
            </a:r>
            <a:r>
              <a:rPr lang="en-US" sz="2800" dirty="0" err="1"/>
              <a:t>əsas</a:t>
            </a:r>
            <a:r>
              <a:rPr lang="en-US" sz="2800" dirty="0"/>
              <a:t> </a:t>
            </a:r>
            <a:r>
              <a:rPr lang="en-US" sz="2800" dirty="0" err="1"/>
              <a:t>hüquqi</a:t>
            </a:r>
            <a:r>
              <a:rPr lang="en-US" sz="2800" dirty="0"/>
              <a:t> </a:t>
            </a:r>
            <a:r>
              <a:rPr lang="en-US" sz="2800" dirty="0" err="1"/>
              <a:t>mexanizmdir</a:t>
            </a:r>
            <a:r>
              <a:rPr lang="en-US" sz="2800" dirty="0"/>
              <a:t>. </a:t>
            </a:r>
            <a:r>
              <a:rPr lang="en-US" sz="2800" dirty="0" err="1"/>
              <a:t>Patentlər</a:t>
            </a:r>
            <a:r>
              <a:rPr lang="en-US" sz="2800" dirty="0"/>
              <a:t> yeni </a:t>
            </a:r>
            <a:r>
              <a:rPr lang="en-US" sz="2800" dirty="0" err="1"/>
              <a:t>texniki</a:t>
            </a:r>
            <a:r>
              <a:rPr lang="en-US" sz="2800" dirty="0"/>
              <a:t> </a:t>
            </a:r>
            <a:r>
              <a:rPr lang="en-US" sz="2800" dirty="0" err="1"/>
              <a:t>həllərin</a:t>
            </a:r>
            <a:r>
              <a:rPr lang="en-US" sz="2800" dirty="0"/>
              <a:t> </a:t>
            </a:r>
            <a:r>
              <a:rPr lang="en-US" sz="2800" dirty="0" err="1"/>
              <a:t>cəmiyyətdə</a:t>
            </a:r>
            <a:r>
              <a:rPr lang="en-US" sz="2800" dirty="0"/>
              <a:t> </a:t>
            </a:r>
            <a:r>
              <a:rPr lang="en-US" sz="2800" dirty="0" err="1"/>
              <a:t>tanınmasını</a:t>
            </a:r>
            <a:r>
              <a:rPr lang="en-US" sz="2800" dirty="0"/>
              <a:t> </a:t>
            </a:r>
            <a:r>
              <a:rPr lang="en-US" sz="2800" dirty="0" err="1"/>
              <a:t>təmin</a:t>
            </a:r>
            <a:r>
              <a:rPr lang="en-US" sz="2800" dirty="0"/>
              <a:t> </a:t>
            </a:r>
            <a:r>
              <a:rPr lang="en-US" sz="2800" dirty="0" err="1"/>
              <a:t>edir</a:t>
            </a:r>
            <a:r>
              <a:rPr lang="en-US" sz="2800" dirty="0"/>
              <a:t>, </a:t>
            </a:r>
            <a:r>
              <a:rPr lang="en-US" sz="2800" dirty="0" err="1"/>
              <a:t>eyni</a:t>
            </a:r>
            <a:r>
              <a:rPr lang="en-US" sz="2800" dirty="0"/>
              <a:t> </a:t>
            </a:r>
            <a:r>
              <a:rPr lang="en-US" sz="2800" dirty="0" err="1"/>
              <a:t>zamanda</a:t>
            </a:r>
            <a:r>
              <a:rPr lang="en-US" sz="2800" dirty="0"/>
              <a:t> </a:t>
            </a:r>
            <a:r>
              <a:rPr lang="en-US" sz="2800" dirty="0" err="1"/>
              <a:t>ixtiraçıya</a:t>
            </a:r>
            <a:r>
              <a:rPr lang="en-US" sz="2800" dirty="0"/>
              <a:t> </a:t>
            </a:r>
            <a:r>
              <a:rPr lang="en-US" sz="2800" dirty="0" err="1"/>
              <a:t>müəyyən</a:t>
            </a:r>
            <a:r>
              <a:rPr lang="en-US" sz="2800" dirty="0"/>
              <a:t> </a:t>
            </a:r>
            <a:r>
              <a:rPr lang="en-US" sz="2800" dirty="0" err="1"/>
              <a:t>müddət</a:t>
            </a:r>
            <a:r>
              <a:rPr lang="en-US" sz="2800" dirty="0"/>
              <a:t> </a:t>
            </a:r>
            <a:r>
              <a:rPr lang="en-US" sz="2800" dirty="0" err="1"/>
              <a:t>ərzində</a:t>
            </a:r>
            <a:r>
              <a:rPr lang="en-US" sz="2800" dirty="0"/>
              <a:t> </a:t>
            </a:r>
            <a:r>
              <a:rPr lang="en-US" sz="2800" dirty="0" err="1"/>
              <a:t>müstəsna</a:t>
            </a:r>
            <a:r>
              <a:rPr lang="en-US" sz="2800" dirty="0"/>
              <a:t> </a:t>
            </a:r>
            <a:r>
              <a:rPr lang="en-US" sz="2800" dirty="0" err="1"/>
              <a:t>istifadə</a:t>
            </a:r>
            <a:r>
              <a:rPr lang="en-US" sz="2800" dirty="0"/>
              <a:t> </a:t>
            </a:r>
            <a:r>
              <a:rPr lang="en-US" sz="2800" dirty="0" err="1"/>
              <a:t>hüququ</a:t>
            </a:r>
            <a:r>
              <a:rPr lang="en-US" sz="2800" dirty="0"/>
              <a:t> </a:t>
            </a:r>
            <a:r>
              <a:rPr lang="en-US" sz="2800" dirty="0" err="1"/>
              <a:t>verir</a:t>
            </a:r>
            <a:r>
              <a:rPr lang="en-US" sz="2800" dirty="0"/>
              <a:t>. </a:t>
            </a:r>
            <a:r>
              <a:rPr lang="en-US" sz="2800" dirty="0" err="1"/>
              <a:t>Müddət</a:t>
            </a:r>
            <a:r>
              <a:rPr lang="en-US" sz="2800" dirty="0"/>
              <a:t> </a:t>
            </a:r>
            <a:r>
              <a:rPr lang="en-US" sz="2800" dirty="0" err="1"/>
              <a:t>bitdikdən</a:t>
            </a:r>
            <a:r>
              <a:rPr lang="en-US" sz="2800" dirty="0"/>
              <a:t> </a:t>
            </a:r>
            <a:r>
              <a:rPr lang="en-US" sz="2800" dirty="0" err="1"/>
              <a:t>sonra</a:t>
            </a:r>
            <a:r>
              <a:rPr lang="en-US" sz="2800" dirty="0"/>
              <a:t> </a:t>
            </a:r>
            <a:r>
              <a:rPr lang="en-US" sz="2800" dirty="0" err="1"/>
              <a:t>isə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bilik</a:t>
            </a:r>
            <a:r>
              <a:rPr lang="en-US" sz="2800" dirty="0"/>
              <a:t> </a:t>
            </a:r>
            <a:r>
              <a:rPr lang="en-US" sz="2800" dirty="0" err="1"/>
              <a:t>və</a:t>
            </a:r>
            <a:r>
              <a:rPr lang="en-US" sz="2800" dirty="0"/>
              <a:t> </a:t>
            </a:r>
            <a:r>
              <a:rPr lang="en-US" sz="2800" dirty="0" err="1"/>
              <a:t>texnologiya</a:t>
            </a:r>
            <a:r>
              <a:rPr lang="en-US" sz="2800" dirty="0"/>
              <a:t> </a:t>
            </a:r>
            <a:r>
              <a:rPr lang="en-US" sz="2800" dirty="0" err="1"/>
              <a:t>ictimai</a:t>
            </a:r>
            <a:r>
              <a:rPr lang="en-US" sz="2800" dirty="0"/>
              <a:t> </a:t>
            </a:r>
            <a:r>
              <a:rPr lang="en-US" sz="2800" dirty="0" err="1"/>
              <a:t>istifadəyə</a:t>
            </a:r>
            <a:r>
              <a:rPr lang="en-US" sz="2800" dirty="0"/>
              <a:t> </a:t>
            </a:r>
            <a:r>
              <a:rPr lang="en-US" sz="2800" dirty="0" err="1"/>
              <a:t>açılaraq</a:t>
            </a:r>
            <a:r>
              <a:rPr lang="en-US" sz="2800" dirty="0"/>
              <a:t> </a:t>
            </a:r>
            <a:r>
              <a:rPr lang="en-US" sz="2800" dirty="0" err="1"/>
              <a:t>ümumi</a:t>
            </a:r>
            <a:r>
              <a:rPr lang="en-US" sz="2800" dirty="0"/>
              <a:t> </a:t>
            </a:r>
            <a:r>
              <a:rPr lang="en-US" sz="2800" dirty="0" err="1"/>
              <a:t>inkişafı</a:t>
            </a:r>
            <a:r>
              <a:rPr lang="en-US" sz="2800" dirty="0"/>
              <a:t> </a:t>
            </a:r>
            <a:r>
              <a:rPr lang="en-US" sz="2800" dirty="0" err="1"/>
              <a:t>dəstəkləyir</a:t>
            </a:r>
            <a:r>
              <a:rPr lang="en-US" sz="2800" dirty="0"/>
              <a:t>. </a:t>
            </a:r>
            <a:r>
              <a:rPr lang="en-US" sz="2800" dirty="0" err="1"/>
              <a:t>Beləliklə</a:t>
            </a:r>
            <a:r>
              <a:rPr lang="en-US" sz="2800" dirty="0"/>
              <a:t>, patent </a:t>
            </a:r>
            <a:r>
              <a:rPr lang="en-US" sz="2800" dirty="0" err="1"/>
              <a:t>hüququ</a:t>
            </a:r>
            <a:r>
              <a:rPr lang="en-US" sz="2800" dirty="0"/>
              <a:t> </a:t>
            </a:r>
            <a:r>
              <a:rPr lang="en-US" sz="2800" dirty="0" err="1"/>
              <a:t>həm</a:t>
            </a:r>
            <a:r>
              <a:rPr lang="en-US" sz="2800" dirty="0"/>
              <a:t> </a:t>
            </a:r>
            <a:r>
              <a:rPr lang="en-US" sz="2800" dirty="0" err="1"/>
              <a:t>iqtisadi</a:t>
            </a:r>
            <a:r>
              <a:rPr lang="en-US" sz="2800" dirty="0"/>
              <a:t>, </a:t>
            </a:r>
            <a:r>
              <a:rPr lang="en-US" sz="2800" dirty="0" err="1"/>
              <a:t>həm</a:t>
            </a:r>
            <a:r>
              <a:rPr lang="en-US" sz="2800" dirty="0"/>
              <a:t> </a:t>
            </a:r>
            <a:r>
              <a:rPr lang="en-US" sz="2800" dirty="0" err="1"/>
              <a:t>elmi</a:t>
            </a:r>
            <a:r>
              <a:rPr lang="en-US" sz="2800" dirty="0"/>
              <a:t>, </a:t>
            </a:r>
            <a:r>
              <a:rPr lang="en-US" sz="2800" dirty="0" err="1"/>
              <a:t>həm</a:t>
            </a:r>
            <a:r>
              <a:rPr lang="en-US" sz="2800" dirty="0"/>
              <a:t> </a:t>
            </a:r>
            <a:r>
              <a:rPr lang="en-US" sz="2800" dirty="0" err="1"/>
              <a:t>də</a:t>
            </a:r>
            <a:r>
              <a:rPr lang="en-US" sz="2800" dirty="0"/>
              <a:t> </a:t>
            </a:r>
            <a:r>
              <a:rPr lang="en-US" sz="2800" dirty="0" err="1"/>
              <a:t>sosial</a:t>
            </a:r>
            <a:r>
              <a:rPr lang="en-US" sz="2800" dirty="0"/>
              <a:t> </a:t>
            </a:r>
            <a:r>
              <a:rPr lang="en-US" sz="2800" dirty="0" err="1"/>
              <a:t>tərəqqiyə</a:t>
            </a:r>
            <a:r>
              <a:rPr lang="en-US" sz="2800" dirty="0"/>
              <a:t> </a:t>
            </a:r>
            <a:r>
              <a:rPr lang="en-US" sz="2800" dirty="0" err="1"/>
              <a:t>xidmət</a:t>
            </a:r>
            <a:r>
              <a:rPr lang="en-US" sz="2800" dirty="0"/>
              <a:t> </a:t>
            </a:r>
            <a:r>
              <a:rPr lang="en-US" sz="2800" dirty="0" err="1"/>
              <a:t>edən</a:t>
            </a:r>
            <a:r>
              <a:rPr lang="en-US" sz="2800" dirty="0"/>
              <a:t> </a:t>
            </a:r>
            <a:r>
              <a:rPr lang="en-US" sz="2800" dirty="0" err="1"/>
              <a:t>vacib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sistemdir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2199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C1D9-075A-7ED2-5B19-C48D6994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08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az-Latn-AZ" b="1" dirty="0"/>
              <a:t>İstifadə olunan saytlar və ədəbiyyatlar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EFCB-C1A5-9173-84A5-C2AAF684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Milli </a:t>
            </a:r>
            <a:r>
              <a:rPr lang="en-US" sz="2000" b="1" dirty="0" err="1"/>
              <a:t>qanunvericilik</a:t>
            </a:r>
            <a:r>
              <a:rPr lang="en-US" sz="2000" b="1" dirty="0"/>
              <a:t> </a:t>
            </a:r>
            <a:r>
              <a:rPr lang="en-US" sz="2000" b="1" dirty="0" err="1"/>
              <a:t>və</a:t>
            </a:r>
            <a:r>
              <a:rPr lang="en-US" sz="2000" b="1" dirty="0"/>
              <a:t> patent </a:t>
            </a:r>
            <a:r>
              <a:rPr lang="en-US" sz="2000" b="1" dirty="0" err="1"/>
              <a:t>qanunları</a:t>
            </a:r>
            <a:r>
              <a:rPr lang="az-Latn-AZ" sz="2000" b="1" dirty="0"/>
              <a:t> </a:t>
            </a:r>
            <a:r>
              <a:rPr lang="en-US" sz="2000" dirty="0"/>
              <a:t>(</a:t>
            </a:r>
            <a:r>
              <a:rPr lang="en-US" altLang="en-US" sz="2000" dirty="0" err="1">
                <a:latin typeface="Arial" panose="020B0604020202020204" pitchFamily="34" charset="0"/>
              </a:rPr>
              <a:t>Azərbaycan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Respublikası</a:t>
            </a:r>
            <a:r>
              <a:rPr lang="en-US" altLang="en-US" sz="2000" dirty="0">
                <a:latin typeface="Arial" panose="020B0604020202020204" pitchFamily="34" charset="0"/>
              </a:rPr>
              <a:t> “Patent </a:t>
            </a:r>
            <a:r>
              <a:rPr lang="en-US" altLang="en-US" sz="2000" dirty="0" err="1">
                <a:latin typeface="Arial" panose="020B0604020202020204" pitchFamily="34" charset="0"/>
              </a:rPr>
              <a:t>haqqında</a:t>
            </a:r>
            <a:r>
              <a:rPr lang="en-US" altLang="en-US" sz="2000" dirty="0">
                <a:latin typeface="Arial" panose="020B0604020202020204" pitchFamily="34" charset="0"/>
              </a:rPr>
              <a:t>” </a:t>
            </a:r>
            <a:r>
              <a:rPr lang="en-US" altLang="en-US" sz="2000" dirty="0" err="1">
                <a:latin typeface="Arial" panose="020B0604020202020204" pitchFamily="34" charset="0"/>
              </a:rPr>
              <a:t>Qanunu</a:t>
            </a:r>
            <a:r>
              <a:rPr lang="az-Latn-AZ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; </a:t>
            </a:r>
            <a:r>
              <a:rPr lang="az-Latn-AZ" altLang="en-US" sz="2000" dirty="0">
                <a:latin typeface="Arial" panose="020B0604020202020204" pitchFamily="34" charset="0"/>
              </a:rPr>
              <a:t>İ</a:t>
            </a:r>
            <a:r>
              <a:rPr lang="en-US" altLang="en-US" sz="2000" dirty="0" err="1">
                <a:latin typeface="Arial" panose="020B0604020202020204" pitchFamily="34" charset="0"/>
              </a:rPr>
              <a:t>xtira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faydalı</a:t>
            </a:r>
            <a:r>
              <a:rPr lang="en-US" altLang="en-US" sz="2000" dirty="0">
                <a:latin typeface="Arial" panose="020B0604020202020204" pitchFamily="34" charset="0"/>
              </a:rPr>
              <a:t> model </a:t>
            </a:r>
            <a:r>
              <a:rPr lang="en-US" altLang="en-US" sz="2000" dirty="0" err="1">
                <a:latin typeface="Arial" panose="020B0604020202020204" pitchFamily="34" charset="0"/>
              </a:rPr>
              <a:t>və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sənaye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nümunələrinin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hüquqi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qorunması</a:t>
            </a:r>
            <a:r>
              <a:rPr lang="en-US" altLang="en-US" sz="2000" dirty="0">
                <a:latin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sz="2100" dirty="0" err="1"/>
              <a:t>Beynəlxalq</a:t>
            </a:r>
            <a:r>
              <a:rPr lang="en-US" sz="2100" dirty="0"/>
              <a:t> </a:t>
            </a:r>
            <a:r>
              <a:rPr lang="en-US" sz="2100" dirty="0" err="1"/>
              <a:t>hüquq</a:t>
            </a:r>
            <a:r>
              <a:rPr lang="en-US" sz="2100" dirty="0"/>
              <a:t> / </a:t>
            </a:r>
            <a:r>
              <a:rPr lang="en-US" sz="2100" dirty="0" err="1"/>
              <a:t>Ümumdünya</a:t>
            </a:r>
            <a:r>
              <a:rPr lang="en-US" sz="2100" dirty="0"/>
              <a:t> </a:t>
            </a:r>
            <a:r>
              <a:rPr lang="en-US" sz="2100" dirty="0" err="1"/>
              <a:t>Əqli</a:t>
            </a:r>
            <a:r>
              <a:rPr lang="en-US" sz="2100" dirty="0"/>
              <a:t> </a:t>
            </a:r>
            <a:r>
              <a:rPr lang="en-US" sz="2100" dirty="0" err="1"/>
              <a:t>Mülkiyyət</a:t>
            </a:r>
            <a:r>
              <a:rPr lang="en-US" sz="2100" dirty="0"/>
              <a:t> Təşkilatı (WIPO)</a:t>
            </a:r>
          </a:p>
          <a:p>
            <a:pPr marL="0" indent="0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59467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4141</TotalTime>
  <Words>995</Words>
  <Application>Microsoft Office PowerPoint</Application>
  <PresentationFormat>On-screen Show (4:3)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Bell MT</vt:lpstr>
      <vt:lpstr>Calibri</vt:lpstr>
      <vt:lpstr>Footlight MT Light</vt:lpstr>
      <vt:lpstr>Lucida Calligraphy</vt:lpstr>
      <vt:lpstr>Viner Hand ITC</vt:lpstr>
      <vt:lpstr>Vladimir Script</vt:lpstr>
      <vt:lpstr>Office Theme</vt:lpstr>
      <vt:lpstr>Title: Patent hüququnun fəaliyyət müddəti</vt:lpstr>
      <vt:lpstr>Patent Nədir?</vt:lpstr>
      <vt:lpstr>Patent Hüququnun Fəaliyyət Müddətləri</vt:lpstr>
      <vt:lpstr>Patent Hüququnun Əsas Məqsədləri</vt:lpstr>
      <vt:lpstr>Patentlərin Növləri</vt:lpstr>
      <vt:lpstr>🟠 4. Bitki Sortları və Heyvan Cinsləri Üzrə Patentlər Yeni yaradılmış və ya kəşf edilmiş bitki sortları və heyvan cinslərinin qorunması. Xüsusiyyətləri: Yalnız xüsusi texniki və bioloji tələblərə cavab verən növlər qorunur Seçmə (seleksiya) yolu ilə əldə olunan yeniliklər üçün nəzərdə tutulur Müddəti: Adətən 20–25 il   🟡 5. Əczaçılıq və Biotexnologiya üzrə Patentlər Dərman maddələri, biotexnoloji proseslər və tibbi icadlar üçün tətbiq edilir. Xüsusiyyətləri: Ən sərt patent tələbləri bu sahədədir Bəzən əlavə qorunma müddəti (SPC – Supplementary Protection Certificate) tətbiq edilə bilər Klinik sınaqların uzunluğu səbəbindən xüsusi hüquqi mexanizmlər mövcuddur </vt:lpstr>
      <vt:lpstr>Patent müddətinin hesablanması</vt:lpstr>
      <vt:lpstr>Patent sahibini hüquqları</vt:lpstr>
      <vt:lpstr>Patent hüququna təsir edən amillər</vt:lpstr>
      <vt:lpstr>NƏTİCƏ</vt:lpstr>
      <vt:lpstr>İstifadə olunan saytlar və ədəbiyyatlar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zahra</dc:creator>
  <cp:keywords/>
  <dc:description>generated using python-pptx</dc:description>
  <cp:lastModifiedBy>zahra</cp:lastModifiedBy>
  <cp:revision>6</cp:revision>
  <dcterms:created xsi:type="dcterms:W3CDTF">2013-01-27T09:14:16Z</dcterms:created>
  <dcterms:modified xsi:type="dcterms:W3CDTF">2025-11-25T06:02:18Z</dcterms:modified>
  <cp:category/>
</cp:coreProperties>
</file>